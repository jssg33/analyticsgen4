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69" r:id="rId3"/>
    <p:sldId id="256" r:id="rId4"/>
    <p:sldId id="257" r:id="rId5"/>
    <p:sldId id="258" r:id="rId6"/>
    <p:sldId id="259" r:id="rId7"/>
    <p:sldId id="260" r:id="rId8"/>
    <p:sldId id="261" r:id="rId9"/>
    <p:sldId id="262" r:id="rId10"/>
    <p:sldId id="264" r:id="rId11"/>
    <p:sldId id="263" r:id="rId12"/>
    <p:sldId id="265" r:id="rId13"/>
    <p:sldId id="268" r:id="rId14"/>
    <p:sldId id="266" r:id="rId15"/>
    <p:sldId id="267" r:id="rId16"/>
    <p:sldId id="281" r:id="rId17"/>
    <p:sldId id="270" r:id="rId18"/>
    <p:sldId id="272" r:id="rId19"/>
    <p:sldId id="282" r:id="rId20"/>
    <p:sldId id="271" r:id="rId21"/>
    <p:sldId id="278" r:id="rId22"/>
    <p:sldId id="275" r:id="rId23"/>
    <p:sldId id="276" r:id="rId24"/>
    <p:sldId id="274" r:id="rId25"/>
    <p:sldId id="277" r:id="rId26"/>
    <p:sldId id="279" r:id="rId27"/>
    <p:sldId id="28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BD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4" d="100"/>
          <a:sy n="104" d="100"/>
        </p:scale>
        <p:origin x="14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98064-9A28-C344-56A6-F3FE4ADF3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4B76DD-FD11-06AF-7261-706ECCBFA5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96DFFD-07B6-9480-4A93-FFD3151F31F0}"/>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5" name="Footer Placeholder 4">
            <a:extLst>
              <a:ext uri="{FF2B5EF4-FFF2-40B4-BE49-F238E27FC236}">
                <a16:creationId xmlns:a16="http://schemas.microsoft.com/office/drawing/2014/main" id="{67B2882C-962C-D2BF-C399-DC4989EA6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FCA7F-7E26-CBCB-322D-58BD42F2DB0F}"/>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50217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658BE-488F-AF87-23E2-A456C2123A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C77747-491C-4193-E852-AEF50BFBE2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4E5ABE-A730-AC59-5519-B54997331CB3}"/>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5" name="Footer Placeholder 4">
            <a:extLst>
              <a:ext uri="{FF2B5EF4-FFF2-40B4-BE49-F238E27FC236}">
                <a16:creationId xmlns:a16="http://schemas.microsoft.com/office/drawing/2014/main" id="{32D4078C-C761-0B95-82BF-2516FF33F3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506AA-A2BA-2D26-AA04-C07F1A248CE5}"/>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601105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D0744-A8E8-4F18-EE92-5AA9E133DB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0C6C96-C9D6-9ABA-578B-4A026E9E87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DAEAAC-D30A-4F62-98B9-8709DD7B8FFE}"/>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5" name="Footer Placeholder 4">
            <a:extLst>
              <a:ext uri="{FF2B5EF4-FFF2-40B4-BE49-F238E27FC236}">
                <a16:creationId xmlns:a16="http://schemas.microsoft.com/office/drawing/2014/main" id="{B9A2C38E-8986-1DA3-7235-CFAD26EAF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0B42C-5891-58A6-1DD7-3F96E4D472E9}"/>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3152648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3D964-7EC5-9C2B-541D-0D740CF2BB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D7ABC2-5DF6-6E15-3632-FEDC147FAC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9BE5D7-0C35-9512-A530-4A25D2D7C1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BFE6B5-9E81-0E3E-1D7F-02045FF7F131}"/>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6" name="Footer Placeholder 5">
            <a:extLst>
              <a:ext uri="{FF2B5EF4-FFF2-40B4-BE49-F238E27FC236}">
                <a16:creationId xmlns:a16="http://schemas.microsoft.com/office/drawing/2014/main" id="{2069F0DF-3AC5-B25C-AA84-6154D4267F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DC6698-9F54-9635-7CE8-5CAF40BB49C2}"/>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2438237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66666-399F-55BD-1136-8E0D62BE3C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EDC19C-5935-4A2E-CE69-837FA64646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E44674-F63B-B668-EA5F-DAC38D230B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485FED-FC4E-9594-C7EE-EC4372FBD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14690F-265A-7C82-0BE6-2C78C65CAB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3072B2-0764-BA83-560B-A1A244C720F1}"/>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8" name="Footer Placeholder 7">
            <a:extLst>
              <a:ext uri="{FF2B5EF4-FFF2-40B4-BE49-F238E27FC236}">
                <a16:creationId xmlns:a16="http://schemas.microsoft.com/office/drawing/2014/main" id="{6E1840F4-E491-DADF-2803-9866FE5FC7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C025D-743D-A672-2C32-70F50C7F06A2}"/>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194740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A3A40-235D-FFB1-3080-5E6DA672D1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C51BEA-3109-0698-4CA5-738257999E22}"/>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4" name="Footer Placeholder 3">
            <a:extLst>
              <a:ext uri="{FF2B5EF4-FFF2-40B4-BE49-F238E27FC236}">
                <a16:creationId xmlns:a16="http://schemas.microsoft.com/office/drawing/2014/main" id="{9C40D0E7-AE8F-56EF-D581-2B2FA61471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1579A9-E374-ABD0-3A86-A10C732A721B}"/>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298829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B8C31-D175-158C-859C-9E9DCDA10816}"/>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3" name="Footer Placeholder 2">
            <a:extLst>
              <a:ext uri="{FF2B5EF4-FFF2-40B4-BE49-F238E27FC236}">
                <a16:creationId xmlns:a16="http://schemas.microsoft.com/office/drawing/2014/main" id="{2F8AB7C3-2EA2-E499-9978-264234FFED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2EA3BE-834F-2BF7-9409-ACD11547E606}"/>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1119358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A55CA-7885-AA60-33FB-A1BB4CDE6D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F1C456-D61F-49C9-F3B6-69EA439358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76AE51-B003-85C1-A9FE-2C9F0D2378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1A9333-C539-473D-53D1-5E1377F8D82D}"/>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6" name="Footer Placeholder 5">
            <a:extLst>
              <a:ext uri="{FF2B5EF4-FFF2-40B4-BE49-F238E27FC236}">
                <a16:creationId xmlns:a16="http://schemas.microsoft.com/office/drawing/2014/main" id="{78C85171-35B9-32DD-BBC2-EE44E3A0A8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472911-156F-08E7-C7A6-7FED8AB8461C}"/>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3440581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A6146-8985-5028-64F5-9964022115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2106DB-6A27-7B47-BAC9-CC8328E32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DE6347-E818-55EC-69E6-0C3A2558F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8A9A15-B04D-350F-7B06-ED85F781E03D}"/>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6" name="Footer Placeholder 5">
            <a:extLst>
              <a:ext uri="{FF2B5EF4-FFF2-40B4-BE49-F238E27FC236}">
                <a16:creationId xmlns:a16="http://schemas.microsoft.com/office/drawing/2014/main" id="{7BD94496-34D7-851D-2C4E-1ABE8FAC00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C162ED-D595-D184-20D2-51CA76A5C6A9}"/>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115265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571A5-A19C-E227-8C3A-21A5C33AD1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516416-55FA-EA07-46DE-F5D99571EE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42F185-4C3E-8526-6B18-6321CDAB6520}"/>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5" name="Footer Placeholder 4">
            <a:extLst>
              <a:ext uri="{FF2B5EF4-FFF2-40B4-BE49-F238E27FC236}">
                <a16:creationId xmlns:a16="http://schemas.microsoft.com/office/drawing/2014/main" id="{05CAE2B6-A6D5-1E65-6BC3-CADC1702F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D0BB13-15DD-6A77-6CA7-083096280B5F}"/>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1023642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E356DA-BFBE-A2C1-2AB3-9A7304A736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8DE1BD-6731-0863-0A78-39A075FA82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E7E929-F593-4111-B392-A7E995BF6BE8}"/>
              </a:ext>
            </a:extLst>
          </p:cNvPr>
          <p:cNvSpPr>
            <a:spLocks noGrp="1"/>
          </p:cNvSpPr>
          <p:nvPr>
            <p:ph type="dt" sz="half" idx="10"/>
          </p:nvPr>
        </p:nvSpPr>
        <p:spPr/>
        <p:txBody>
          <a:bodyPr/>
          <a:lstStyle/>
          <a:p>
            <a:fld id="{23E2E9C1-F6EF-4CDF-862A-C7D7900EFC22}" type="datetimeFigureOut">
              <a:rPr lang="en-US" smtClean="0"/>
              <a:t>9/30/2026</a:t>
            </a:fld>
            <a:endParaRPr lang="en-US"/>
          </a:p>
        </p:txBody>
      </p:sp>
      <p:sp>
        <p:nvSpPr>
          <p:cNvPr id="5" name="Footer Placeholder 4">
            <a:extLst>
              <a:ext uri="{FF2B5EF4-FFF2-40B4-BE49-F238E27FC236}">
                <a16:creationId xmlns:a16="http://schemas.microsoft.com/office/drawing/2014/main" id="{7512BCD5-9F43-7730-2DD7-5CD82F6E6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CBD13-EDF1-4155-4A19-51C40C3D92D7}"/>
              </a:ext>
            </a:extLst>
          </p:cNvPr>
          <p:cNvSpPr>
            <a:spLocks noGrp="1"/>
          </p:cNvSpPr>
          <p:nvPr>
            <p:ph type="sldNum" sz="quarter" idx="12"/>
          </p:nvPr>
        </p:nvSpPr>
        <p:spPr/>
        <p:txBody>
          <a:bodyPr/>
          <a:lstStyle/>
          <a:p>
            <a:fld id="{C99EA985-7DC8-4609-82D8-FF37B108545B}" type="slidenum">
              <a:rPr lang="en-US" smtClean="0"/>
              <a:t>‹#›</a:t>
            </a:fld>
            <a:endParaRPr lang="en-US"/>
          </a:p>
        </p:txBody>
      </p:sp>
    </p:spTree>
    <p:extLst>
      <p:ext uri="{BB962C8B-B14F-4D97-AF65-F5344CB8AC3E}">
        <p14:creationId xmlns:p14="http://schemas.microsoft.com/office/powerpoint/2010/main" val="1538238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E5DE1C-B889-0DD6-3B68-1CC1FAAF73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2BDC04-2761-3DE6-5D46-90CBDB8D6F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CE83C4-45DA-F82F-405C-DDFC7C37A7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E2E9C1-F6EF-4CDF-862A-C7D7900EFC22}" type="datetimeFigureOut">
              <a:rPr lang="en-US" smtClean="0"/>
              <a:t>9/30/2026</a:t>
            </a:fld>
            <a:endParaRPr lang="en-US"/>
          </a:p>
        </p:txBody>
      </p:sp>
      <p:sp>
        <p:nvSpPr>
          <p:cNvPr id="5" name="Footer Placeholder 4">
            <a:extLst>
              <a:ext uri="{FF2B5EF4-FFF2-40B4-BE49-F238E27FC236}">
                <a16:creationId xmlns:a16="http://schemas.microsoft.com/office/drawing/2014/main" id="{BB4BE9DB-F6D1-E067-C554-BE8A719FF4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A7F27F-F179-1DFE-1B2D-B3A2BBF713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9EA985-7DC8-4609-82D8-FF37B108545B}" type="slidenum">
              <a:rPr lang="en-US" smtClean="0"/>
              <a:t>‹#›</a:t>
            </a:fld>
            <a:endParaRPr lang="en-US"/>
          </a:p>
        </p:txBody>
      </p:sp>
    </p:spTree>
    <p:extLst>
      <p:ext uri="{BB962C8B-B14F-4D97-AF65-F5344CB8AC3E}">
        <p14:creationId xmlns:p14="http://schemas.microsoft.com/office/powerpoint/2010/main" val="844273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C198-DBFF-A2E4-4FBB-825A3F6DBFC4}"/>
              </a:ext>
            </a:extLst>
          </p:cNvPr>
          <p:cNvSpPr>
            <a:spLocks noGrp="1"/>
          </p:cNvSpPr>
          <p:nvPr>
            <p:ph type="ctrTitle"/>
          </p:nvPr>
        </p:nvSpPr>
        <p:spPr/>
        <p:txBody>
          <a:bodyPr/>
          <a:lstStyle/>
          <a:p>
            <a:r>
              <a:rPr lang="en-US" dirty="0"/>
              <a:t>Sprint2</a:t>
            </a:r>
          </a:p>
        </p:txBody>
      </p:sp>
      <p:sp>
        <p:nvSpPr>
          <p:cNvPr id="3" name="Subtitle 2">
            <a:extLst>
              <a:ext uri="{FF2B5EF4-FFF2-40B4-BE49-F238E27FC236}">
                <a16:creationId xmlns:a16="http://schemas.microsoft.com/office/drawing/2014/main" id="{3BD9C648-CA16-1D9A-6E9A-369ABE32D343}"/>
              </a:ext>
            </a:extLst>
          </p:cNvPr>
          <p:cNvSpPr>
            <a:spLocks noGrp="1"/>
          </p:cNvSpPr>
          <p:nvPr>
            <p:ph type="subTitle" idx="1"/>
          </p:nvPr>
        </p:nvSpPr>
        <p:spPr/>
        <p:txBody>
          <a:bodyPr/>
          <a:lstStyle/>
          <a:p>
            <a:r>
              <a:rPr lang="en-US" dirty="0"/>
              <a:t>CSCE799 – Midterm Review</a:t>
            </a:r>
          </a:p>
        </p:txBody>
      </p:sp>
    </p:spTree>
    <p:extLst>
      <p:ext uri="{BB962C8B-B14F-4D97-AF65-F5344CB8AC3E}">
        <p14:creationId xmlns:p14="http://schemas.microsoft.com/office/powerpoint/2010/main" val="2818853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B2D41-57B4-393B-A58F-7934A0F90220}"/>
              </a:ext>
            </a:extLst>
          </p:cNvPr>
          <p:cNvSpPr>
            <a:spLocks noGrp="1"/>
          </p:cNvSpPr>
          <p:nvPr>
            <p:ph type="title"/>
          </p:nvPr>
        </p:nvSpPr>
        <p:spPr/>
        <p:txBody>
          <a:bodyPr/>
          <a:lstStyle/>
          <a:p>
            <a:r>
              <a:rPr lang="en-US" dirty="0"/>
              <a:t>Cocky Cipher Suite</a:t>
            </a:r>
          </a:p>
        </p:txBody>
      </p:sp>
      <p:sp>
        <p:nvSpPr>
          <p:cNvPr id="3" name="TextBox 2">
            <a:extLst>
              <a:ext uri="{FF2B5EF4-FFF2-40B4-BE49-F238E27FC236}">
                <a16:creationId xmlns:a16="http://schemas.microsoft.com/office/drawing/2014/main" id="{C0D8636D-6155-62AD-114C-307D0134F9E4}"/>
              </a:ext>
            </a:extLst>
          </p:cNvPr>
          <p:cNvSpPr txBox="1"/>
          <p:nvPr/>
        </p:nvSpPr>
        <p:spPr>
          <a:xfrm>
            <a:off x="838200" y="1800139"/>
            <a:ext cx="6033655" cy="4801314"/>
          </a:xfrm>
          <a:prstGeom prst="rect">
            <a:avLst/>
          </a:prstGeom>
          <a:noFill/>
        </p:spPr>
        <p:txBody>
          <a:bodyPr wrap="square" rtlCol="0">
            <a:spAutoFit/>
          </a:bodyPr>
          <a:lstStyle/>
          <a:p>
            <a:r>
              <a:rPr lang="en-US" dirty="0"/>
              <a:t>Any Cipher we can code that can provide PCI, and HIPAA Compliance.</a:t>
            </a:r>
          </a:p>
          <a:p>
            <a:r>
              <a:rPr lang="en-US" dirty="0"/>
              <a:t>This is essentially a requirement to eliminate all observable customer information for payments or otherwise on disk and in transit. That’s more than a discussion of SSL technology.</a:t>
            </a:r>
          </a:p>
          <a:p>
            <a:endParaRPr lang="en-US" dirty="0"/>
          </a:p>
          <a:p>
            <a:r>
              <a:rPr lang="en-US" dirty="0"/>
              <a:t>Caesar-3, Caesar-7, AES, 3DES, </a:t>
            </a:r>
            <a:r>
              <a:rPr lang="en-US" dirty="0" err="1"/>
              <a:t>CockyDefault</a:t>
            </a:r>
            <a:r>
              <a:rPr lang="en-US" dirty="0"/>
              <a:t>(</a:t>
            </a:r>
            <a:r>
              <a:rPr lang="en-US" dirty="0" err="1"/>
              <a:t>OverNTP</a:t>
            </a:r>
            <a:r>
              <a:rPr lang="en-US" dirty="0"/>
              <a:t>), CockyDef2(Over Network Scrambled), and </a:t>
            </a:r>
            <a:r>
              <a:rPr lang="en-US" dirty="0" err="1"/>
              <a:t>CockyExtreme</a:t>
            </a:r>
            <a:r>
              <a:rPr lang="en-US" dirty="0"/>
              <a:t>(Stream) which goes to 16bit codes are what I am planning to support client to server.</a:t>
            </a:r>
          </a:p>
          <a:p>
            <a:endParaRPr lang="en-US" dirty="0"/>
          </a:p>
          <a:p>
            <a:r>
              <a:rPr lang="en-US" dirty="0"/>
              <a:t>To support a suite of Ciphers from client to server:</a:t>
            </a:r>
          </a:p>
          <a:p>
            <a:pPr marL="342900" indent="-342900">
              <a:buAutoNum type="alphaLcParenR"/>
            </a:pPr>
            <a:r>
              <a:rPr lang="en-US" dirty="0"/>
              <a:t>Must have a Bootstrap API</a:t>
            </a:r>
          </a:p>
          <a:p>
            <a:pPr marL="342900" indent="-342900">
              <a:buAutoNum type="alphaLcParenR"/>
            </a:pPr>
            <a:r>
              <a:rPr lang="en-US" dirty="0"/>
              <a:t>Must have an Auth API</a:t>
            </a:r>
          </a:p>
          <a:p>
            <a:pPr marL="342900" indent="-342900">
              <a:buAutoNum type="alphaLcParenR"/>
            </a:pPr>
            <a:r>
              <a:rPr lang="en-US" dirty="0"/>
              <a:t>Must have a Time API to verify for thick clients and servers they have </a:t>
            </a:r>
            <a:r>
              <a:rPr lang="en-US" dirty="0" err="1"/>
              <a:t>ntp</a:t>
            </a:r>
            <a:r>
              <a:rPr lang="en-US" dirty="0"/>
              <a:t> enabled and working.</a:t>
            </a:r>
          </a:p>
        </p:txBody>
      </p:sp>
      <p:sp>
        <p:nvSpPr>
          <p:cNvPr id="4" name="Rectangle 3">
            <a:extLst>
              <a:ext uri="{FF2B5EF4-FFF2-40B4-BE49-F238E27FC236}">
                <a16:creationId xmlns:a16="http://schemas.microsoft.com/office/drawing/2014/main" id="{57B78E87-617A-D410-17E6-FF1116C5153D}"/>
              </a:ext>
            </a:extLst>
          </p:cNvPr>
          <p:cNvSpPr/>
          <p:nvPr/>
        </p:nvSpPr>
        <p:spPr>
          <a:xfrm>
            <a:off x="7232073" y="1690688"/>
            <a:ext cx="1717963" cy="1070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a:extLst>
              <a:ext uri="{FF2B5EF4-FFF2-40B4-BE49-F238E27FC236}">
                <a16:creationId xmlns:a16="http://schemas.microsoft.com/office/drawing/2014/main" id="{71D2962B-5BB5-6562-AB8A-A0BB019BD06B}"/>
              </a:ext>
            </a:extLst>
          </p:cNvPr>
          <p:cNvSpPr/>
          <p:nvPr/>
        </p:nvSpPr>
        <p:spPr>
          <a:xfrm>
            <a:off x="7232073" y="4562764"/>
            <a:ext cx="1717963" cy="1070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a:t>
            </a:r>
          </a:p>
        </p:txBody>
      </p:sp>
      <p:sp>
        <p:nvSpPr>
          <p:cNvPr id="6" name="Rectangle 5">
            <a:extLst>
              <a:ext uri="{FF2B5EF4-FFF2-40B4-BE49-F238E27FC236}">
                <a16:creationId xmlns:a16="http://schemas.microsoft.com/office/drawing/2014/main" id="{85934BB1-695D-80D8-0524-B8C54710BB69}"/>
              </a:ext>
            </a:extLst>
          </p:cNvPr>
          <p:cNvSpPr/>
          <p:nvPr/>
        </p:nvSpPr>
        <p:spPr>
          <a:xfrm>
            <a:off x="9901382" y="3020291"/>
            <a:ext cx="1967345" cy="1117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Api Bootstrapper</a:t>
            </a:r>
          </a:p>
        </p:txBody>
      </p:sp>
      <p:cxnSp>
        <p:nvCxnSpPr>
          <p:cNvPr id="8" name="Straight Arrow Connector 7">
            <a:extLst>
              <a:ext uri="{FF2B5EF4-FFF2-40B4-BE49-F238E27FC236}">
                <a16:creationId xmlns:a16="http://schemas.microsoft.com/office/drawing/2014/main" id="{5D817205-8CB1-8BD2-4B80-FF6A32065E0E}"/>
              </a:ext>
            </a:extLst>
          </p:cNvPr>
          <p:cNvCxnSpPr/>
          <p:nvPr/>
        </p:nvCxnSpPr>
        <p:spPr>
          <a:xfrm flipH="1">
            <a:off x="9107055" y="4137891"/>
            <a:ext cx="1524000" cy="9421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567A36C-B718-225F-0E46-C96EB983EDDB}"/>
              </a:ext>
            </a:extLst>
          </p:cNvPr>
          <p:cNvCxnSpPr/>
          <p:nvPr/>
        </p:nvCxnSpPr>
        <p:spPr>
          <a:xfrm flipH="1" flipV="1">
            <a:off x="9107055" y="2225964"/>
            <a:ext cx="1450109" cy="637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151B7AF-5339-501F-C8EE-C9BDE60F5273}"/>
              </a:ext>
            </a:extLst>
          </p:cNvPr>
          <p:cNvCxnSpPr/>
          <p:nvPr/>
        </p:nvCxnSpPr>
        <p:spPr>
          <a:xfrm>
            <a:off x="9107055" y="2466109"/>
            <a:ext cx="868218" cy="397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164E22E-8994-13A1-BB44-896AD1B4FC16}"/>
              </a:ext>
            </a:extLst>
          </p:cNvPr>
          <p:cNvSpPr txBox="1"/>
          <p:nvPr/>
        </p:nvSpPr>
        <p:spPr>
          <a:xfrm>
            <a:off x="9762835" y="1644227"/>
            <a:ext cx="2438400" cy="923330"/>
          </a:xfrm>
          <a:prstGeom prst="rect">
            <a:avLst/>
          </a:prstGeom>
          <a:noFill/>
        </p:spPr>
        <p:txBody>
          <a:bodyPr wrap="square" rtlCol="0">
            <a:spAutoFit/>
          </a:bodyPr>
          <a:lstStyle/>
          <a:p>
            <a:r>
              <a:rPr lang="en-US" dirty="0"/>
              <a:t>User SSO, Client Configuration, Cipher Negotiation</a:t>
            </a:r>
          </a:p>
        </p:txBody>
      </p:sp>
    </p:spTree>
    <p:extLst>
      <p:ext uri="{BB962C8B-B14F-4D97-AF65-F5344CB8AC3E}">
        <p14:creationId xmlns:p14="http://schemas.microsoft.com/office/powerpoint/2010/main" val="1237666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835B93FC-CF12-C431-39D4-54174FFA8C9F}"/>
              </a:ext>
            </a:extLst>
          </p:cNvPr>
          <p:cNvSpPr/>
          <p:nvPr/>
        </p:nvSpPr>
        <p:spPr>
          <a:xfrm>
            <a:off x="546755" y="886120"/>
            <a:ext cx="6042396" cy="402524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79517B9-6DF6-323F-208B-73A0B38485EE}"/>
              </a:ext>
            </a:extLst>
          </p:cNvPr>
          <p:cNvSpPr>
            <a:spLocks noGrp="1"/>
          </p:cNvSpPr>
          <p:nvPr>
            <p:ph type="title"/>
          </p:nvPr>
        </p:nvSpPr>
        <p:spPr>
          <a:xfrm>
            <a:off x="753358" y="174049"/>
            <a:ext cx="10515600" cy="388145"/>
          </a:xfrm>
        </p:spPr>
        <p:txBody>
          <a:bodyPr>
            <a:normAutofit fontScale="90000"/>
          </a:bodyPr>
          <a:lstStyle/>
          <a:p>
            <a:r>
              <a:rPr lang="en-US" dirty="0"/>
              <a:t>Cocky Cipher Suite Overview w/o Proxy</a:t>
            </a:r>
          </a:p>
        </p:txBody>
      </p:sp>
      <p:sp>
        <p:nvSpPr>
          <p:cNvPr id="5" name="Rectangle 4">
            <a:extLst>
              <a:ext uri="{FF2B5EF4-FFF2-40B4-BE49-F238E27FC236}">
                <a16:creationId xmlns:a16="http://schemas.microsoft.com/office/drawing/2014/main" id="{C9454927-DCE8-C93E-43B0-000583965237}"/>
              </a:ext>
            </a:extLst>
          </p:cNvPr>
          <p:cNvSpPr/>
          <p:nvPr/>
        </p:nvSpPr>
        <p:spPr>
          <a:xfrm>
            <a:off x="8932266" y="1521573"/>
            <a:ext cx="1846730" cy="38611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a:t>
            </a:r>
          </a:p>
          <a:p>
            <a:pPr algn="ctr"/>
            <a:r>
              <a:rPr lang="en-US" dirty="0"/>
              <a:t>OS</a:t>
            </a:r>
          </a:p>
        </p:txBody>
      </p:sp>
      <p:sp>
        <p:nvSpPr>
          <p:cNvPr id="6" name="Rectangle: Rounded Corners 5">
            <a:extLst>
              <a:ext uri="{FF2B5EF4-FFF2-40B4-BE49-F238E27FC236}">
                <a16:creationId xmlns:a16="http://schemas.microsoft.com/office/drawing/2014/main" id="{49D1F3DE-D6AB-CC68-7D8D-24F5FA14346A}"/>
              </a:ext>
            </a:extLst>
          </p:cNvPr>
          <p:cNvSpPr/>
          <p:nvPr/>
        </p:nvSpPr>
        <p:spPr>
          <a:xfrm>
            <a:off x="1084729" y="1954306"/>
            <a:ext cx="1201271" cy="3496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 Memory Other</a:t>
            </a:r>
          </a:p>
        </p:txBody>
      </p:sp>
      <p:sp>
        <p:nvSpPr>
          <p:cNvPr id="7" name="Rectangle: Rounded Corners 6">
            <a:extLst>
              <a:ext uri="{FF2B5EF4-FFF2-40B4-BE49-F238E27FC236}">
                <a16:creationId xmlns:a16="http://schemas.microsoft.com/office/drawing/2014/main" id="{B38385BA-9373-8F42-D858-40C2752FBDEB}"/>
              </a:ext>
            </a:extLst>
          </p:cNvPr>
          <p:cNvSpPr/>
          <p:nvPr/>
        </p:nvSpPr>
        <p:spPr>
          <a:xfrm>
            <a:off x="1084729" y="2407630"/>
            <a:ext cx="1201271" cy="3854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SQLite Cookies</a:t>
            </a:r>
          </a:p>
        </p:txBody>
      </p:sp>
      <p:sp>
        <p:nvSpPr>
          <p:cNvPr id="8" name="Rectangle: Rounded Corners 7">
            <a:extLst>
              <a:ext uri="{FF2B5EF4-FFF2-40B4-BE49-F238E27FC236}">
                <a16:creationId xmlns:a16="http://schemas.microsoft.com/office/drawing/2014/main" id="{DD051F7C-EE95-9D7A-BBDE-ACC3D8CDD707}"/>
              </a:ext>
            </a:extLst>
          </p:cNvPr>
          <p:cNvSpPr/>
          <p:nvPr/>
        </p:nvSpPr>
        <p:spPr>
          <a:xfrm>
            <a:off x="1084729" y="2868706"/>
            <a:ext cx="1201271" cy="3944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a:t>
            </a:r>
          </a:p>
          <a:p>
            <a:pPr algn="ctr"/>
            <a:r>
              <a:rPr lang="en-US" sz="1200" dirty="0"/>
              <a:t>Session</a:t>
            </a:r>
          </a:p>
        </p:txBody>
      </p:sp>
      <p:sp>
        <p:nvSpPr>
          <p:cNvPr id="9" name="Rectangle: Rounded Corners 8">
            <a:extLst>
              <a:ext uri="{FF2B5EF4-FFF2-40B4-BE49-F238E27FC236}">
                <a16:creationId xmlns:a16="http://schemas.microsoft.com/office/drawing/2014/main" id="{FED0978F-172A-7256-82B0-C9A39510165E}"/>
              </a:ext>
            </a:extLst>
          </p:cNvPr>
          <p:cNvSpPr/>
          <p:nvPr/>
        </p:nvSpPr>
        <p:spPr>
          <a:xfrm>
            <a:off x="1084729" y="3338747"/>
            <a:ext cx="1201271" cy="3944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a:t>
            </a:r>
          </a:p>
          <a:p>
            <a:pPr algn="ctr"/>
            <a:r>
              <a:rPr lang="en-US" sz="1200" dirty="0"/>
              <a:t>Local Storage</a:t>
            </a:r>
          </a:p>
        </p:txBody>
      </p:sp>
      <p:sp>
        <p:nvSpPr>
          <p:cNvPr id="10" name="Rectangle: Rounded Corners 9">
            <a:extLst>
              <a:ext uri="{FF2B5EF4-FFF2-40B4-BE49-F238E27FC236}">
                <a16:creationId xmlns:a16="http://schemas.microsoft.com/office/drawing/2014/main" id="{D60F9934-F51D-CB61-B6EE-84E1B37EAF83}"/>
              </a:ext>
            </a:extLst>
          </p:cNvPr>
          <p:cNvSpPr/>
          <p:nvPr/>
        </p:nvSpPr>
        <p:spPr>
          <a:xfrm>
            <a:off x="1084729" y="1521574"/>
            <a:ext cx="1201271" cy="3496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 </a:t>
            </a:r>
          </a:p>
          <a:p>
            <a:pPr algn="ctr"/>
            <a:r>
              <a:rPr lang="en-US" sz="1200" dirty="0"/>
              <a:t>RAM Disk</a:t>
            </a:r>
          </a:p>
        </p:txBody>
      </p:sp>
      <p:sp>
        <p:nvSpPr>
          <p:cNvPr id="11" name="Rectangle 10">
            <a:extLst>
              <a:ext uri="{FF2B5EF4-FFF2-40B4-BE49-F238E27FC236}">
                <a16:creationId xmlns:a16="http://schemas.microsoft.com/office/drawing/2014/main" id="{0608DDD0-3746-3353-0537-AD18F786B1FE}"/>
              </a:ext>
            </a:extLst>
          </p:cNvPr>
          <p:cNvSpPr/>
          <p:nvPr/>
        </p:nvSpPr>
        <p:spPr>
          <a:xfrm>
            <a:off x="8932266" y="1499500"/>
            <a:ext cx="1846730" cy="583925"/>
          </a:xfrm>
          <a:prstGeom prst="rect">
            <a:avLst/>
          </a:prstGeom>
          <a:solidFill>
            <a:schemeClr val="accent5">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Web Service</a:t>
            </a:r>
          </a:p>
        </p:txBody>
      </p:sp>
      <p:sp>
        <p:nvSpPr>
          <p:cNvPr id="12" name="Rectangle: Rounded Corners 11">
            <a:extLst>
              <a:ext uri="{FF2B5EF4-FFF2-40B4-BE49-F238E27FC236}">
                <a16:creationId xmlns:a16="http://schemas.microsoft.com/office/drawing/2014/main" id="{DF84DF22-8BD3-5840-CC7F-66D6119F0B4D}"/>
              </a:ext>
            </a:extLst>
          </p:cNvPr>
          <p:cNvSpPr/>
          <p:nvPr/>
        </p:nvSpPr>
        <p:spPr>
          <a:xfrm>
            <a:off x="1084729" y="3863788"/>
            <a:ext cx="1201271" cy="32273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OS Mem</a:t>
            </a:r>
          </a:p>
        </p:txBody>
      </p:sp>
      <p:sp>
        <p:nvSpPr>
          <p:cNvPr id="13" name="Rectangle: Rounded Corners 12">
            <a:extLst>
              <a:ext uri="{FF2B5EF4-FFF2-40B4-BE49-F238E27FC236}">
                <a16:creationId xmlns:a16="http://schemas.microsoft.com/office/drawing/2014/main" id="{20E1C5BC-AD89-0BDA-77AC-6DFD17560E31}"/>
              </a:ext>
            </a:extLst>
          </p:cNvPr>
          <p:cNvSpPr/>
          <p:nvPr/>
        </p:nvSpPr>
        <p:spPr>
          <a:xfrm>
            <a:off x="1084729" y="4276165"/>
            <a:ext cx="1201271" cy="32273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Gen Disk</a:t>
            </a:r>
          </a:p>
        </p:txBody>
      </p:sp>
      <p:sp>
        <p:nvSpPr>
          <p:cNvPr id="14" name="Rectangle: Rounded Corners 13">
            <a:extLst>
              <a:ext uri="{FF2B5EF4-FFF2-40B4-BE49-F238E27FC236}">
                <a16:creationId xmlns:a16="http://schemas.microsoft.com/office/drawing/2014/main" id="{37DE2362-AB02-882F-1A2B-2F66C8D96DDA}"/>
              </a:ext>
            </a:extLst>
          </p:cNvPr>
          <p:cNvSpPr/>
          <p:nvPr/>
        </p:nvSpPr>
        <p:spPr>
          <a:xfrm>
            <a:off x="1084729" y="1048871"/>
            <a:ext cx="1201271" cy="42400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Cloud Disk</a:t>
            </a:r>
          </a:p>
        </p:txBody>
      </p:sp>
      <p:sp>
        <p:nvSpPr>
          <p:cNvPr id="15" name="Rectangle 14">
            <a:extLst>
              <a:ext uri="{FF2B5EF4-FFF2-40B4-BE49-F238E27FC236}">
                <a16:creationId xmlns:a16="http://schemas.microsoft.com/office/drawing/2014/main" id="{32AA7DD2-B28C-1DCD-36BA-9D4363162136}"/>
              </a:ext>
            </a:extLst>
          </p:cNvPr>
          <p:cNvSpPr/>
          <p:nvPr/>
        </p:nvSpPr>
        <p:spPr>
          <a:xfrm>
            <a:off x="8932266" y="443061"/>
            <a:ext cx="1846730" cy="107851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Cloud Extension</a:t>
            </a:r>
          </a:p>
        </p:txBody>
      </p:sp>
      <p:sp>
        <p:nvSpPr>
          <p:cNvPr id="17" name="TextBox 16">
            <a:extLst>
              <a:ext uri="{FF2B5EF4-FFF2-40B4-BE49-F238E27FC236}">
                <a16:creationId xmlns:a16="http://schemas.microsoft.com/office/drawing/2014/main" id="{A2E4B28E-FD78-576B-926D-E0B83CAAA760}"/>
              </a:ext>
            </a:extLst>
          </p:cNvPr>
          <p:cNvSpPr txBox="1"/>
          <p:nvPr/>
        </p:nvSpPr>
        <p:spPr>
          <a:xfrm>
            <a:off x="2286000" y="2351493"/>
            <a:ext cx="2008920" cy="646331"/>
          </a:xfrm>
          <a:prstGeom prst="rect">
            <a:avLst/>
          </a:prstGeom>
          <a:noFill/>
        </p:spPr>
        <p:txBody>
          <a:bodyPr wrap="square" rtlCol="0">
            <a:spAutoFit/>
          </a:bodyPr>
          <a:lstStyle/>
          <a:p>
            <a:r>
              <a:rPr lang="en-US" dirty="0">
                <a:solidFill>
                  <a:schemeClr val="bg1"/>
                </a:solidFill>
              </a:rPr>
              <a:t>Use of Cocky Cipher Technology</a:t>
            </a:r>
          </a:p>
        </p:txBody>
      </p:sp>
      <p:sp>
        <p:nvSpPr>
          <p:cNvPr id="18" name="Rectangle 17">
            <a:extLst>
              <a:ext uri="{FF2B5EF4-FFF2-40B4-BE49-F238E27FC236}">
                <a16:creationId xmlns:a16="http://schemas.microsoft.com/office/drawing/2014/main" id="{E34AB024-42B3-7CDB-A9E9-E9A259ED9EEF}"/>
              </a:ext>
            </a:extLst>
          </p:cNvPr>
          <p:cNvSpPr/>
          <p:nvPr/>
        </p:nvSpPr>
        <p:spPr>
          <a:xfrm>
            <a:off x="2647175" y="5891478"/>
            <a:ext cx="1620764" cy="8675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Router</a:t>
            </a:r>
          </a:p>
        </p:txBody>
      </p:sp>
      <p:pic>
        <p:nvPicPr>
          <p:cNvPr id="19" name="Picture 18">
            <a:extLst>
              <a:ext uri="{FF2B5EF4-FFF2-40B4-BE49-F238E27FC236}">
                <a16:creationId xmlns:a16="http://schemas.microsoft.com/office/drawing/2014/main" id="{820A9083-8B55-0CFD-A21D-62B836378544}"/>
              </a:ext>
            </a:extLst>
          </p:cNvPr>
          <p:cNvPicPr>
            <a:picLocks noChangeAspect="1"/>
          </p:cNvPicPr>
          <p:nvPr/>
        </p:nvPicPr>
        <p:blipFill>
          <a:blip r:embed="rId2"/>
          <a:stretch>
            <a:fillRect/>
          </a:stretch>
        </p:blipFill>
        <p:spPr>
          <a:xfrm>
            <a:off x="8932267" y="5935988"/>
            <a:ext cx="1846730" cy="823031"/>
          </a:xfrm>
          <a:prstGeom prst="rect">
            <a:avLst/>
          </a:prstGeom>
        </p:spPr>
      </p:pic>
      <p:pic>
        <p:nvPicPr>
          <p:cNvPr id="20" name="Picture 19">
            <a:extLst>
              <a:ext uri="{FF2B5EF4-FFF2-40B4-BE49-F238E27FC236}">
                <a16:creationId xmlns:a16="http://schemas.microsoft.com/office/drawing/2014/main" id="{98B46A7C-4491-09DB-3F6B-E73EED0EEEFC}"/>
              </a:ext>
            </a:extLst>
          </p:cNvPr>
          <p:cNvPicPr>
            <a:picLocks noChangeAspect="1"/>
          </p:cNvPicPr>
          <p:nvPr/>
        </p:nvPicPr>
        <p:blipFill>
          <a:blip r:embed="rId3"/>
          <a:stretch>
            <a:fillRect/>
          </a:stretch>
        </p:blipFill>
        <p:spPr>
          <a:xfrm>
            <a:off x="4230142" y="1048871"/>
            <a:ext cx="1908213" cy="3517697"/>
          </a:xfrm>
          <a:prstGeom prst="rect">
            <a:avLst/>
          </a:prstGeom>
        </p:spPr>
      </p:pic>
      <p:sp>
        <p:nvSpPr>
          <p:cNvPr id="21" name="Rectangle: Rounded Corners 20">
            <a:extLst>
              <a:ext uri="{FF2B5EF4-FFF2-40B4-BE49-F238E27FC236}">
                <a16:creationId xmlns:a16="http://schemas.microsoft.com/office/drawing/2014/main" id="{36981E86-959B-F635-E63C-D35DBB384AB5}"/>
              </a:ext>
            </a:extLst>
          </p:cNvPr>
          <p:cNvSpPr/>
          <p:nvPr/>
        </p:nvSpPr>
        <p:spPr>
          <a:xfrm>
            <a:off x="8932266" y="2083425"/>
            <a:ext cx="1846730" cy="914399"/>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Rest Service</a:t>
            </a:r>
          </a:p>
        </p:txBody>
      </p:sp>
      <p:cxnSp>
        <p:nvCxnSpPr>
          <p:cNvPr id="23" name="Straight Connector 22">
            <a:extLst>
              <a:ext uri="{FF2B5EF4-FFF2-40B4-BE49-F238E27FC236}">
                <a16:creationId xmlns:a16="http://schemas.microsoft.com/office/drawing/2014/main" id="{1A7E3577-D0A4-3B48-9B2F-B752F41056D7}"/>
              </a:ext>
            </a:extLst>
          </p:cNvPr>
          <p:cNvCxnSpPr>
            <a:cxnSpLocks/>
            <a:stCxn id="18" idx="3"/>
            <a:endCxn id="19" idx="1"/>
          </p:cNvCxnSpPr>
          <p:nvPr/>
        </p:nvCxnSpPr>
        <p:spPr>
          <a:xfrm>
            <a:off x="4267939" y="6325249"/>
            <a:ext cx="4664328" cy="22255"/>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15BE6D0-CDA6-7E7E-A371-4CDF6BB776C7}"/>
              </a:ext>
            </a:extLst>
          </p:cNvPr>
          <p:cNvSpPr txBox="1"/>
          <p:nvPr/>
        </p:nvSpPr>
        <p:spPr>
          <a:xfrm>
            <a:off x="4580231" y="5673480"/>
            <a:ext cx="3824722" cy="646331"/>
          </a:xfrm>
          <a:prstGeom prst="rect">
            <a:avLst/>
          </a:prstGeom>
          <a:noFill/>
        </p:spPr>
        <p:txBody>
          <a:bodyPr wrap="square" rtlCol="0">
            <a:spAutoFit/>
          </a:bodyPr>
          <a:lstStyle/>
          <a:p>
            <a:pPr algn="ctr"/>
            <a:r>
              <a:rPr lang="en-US" sz="1200" dirty="0"/>
              <a:t>Internet Or Enterprise</a:t>
            </a:r>
          </a:p>
          <a:p>
            <a:pPr algn="ctr"/>
            <a:r>
              <a:rPr lang="en-US" sz="1200" dirty="0"/>
              <a:t>IP Connectivity Over X</a:t>
            </a:r>
          </a:p>
          <a:p>
            <a:pPr algn="ctr"/>
            <a:r>
              <a:rPr lang="en-US" sz="1200" dirty="0"/>
              <a:t>Std Ports 80,443, 8443, 8080 Web</a:t>
            </a:r>
          </a:p>
        </p:txBody>
      </p:sp>
      <p:cxnSp>
        <p:nvCxnSpPr>
          <p:cNvPr id="28" name="Straight Arrow Connector 27">
            <a:extLst>
              <a:ext uri="{FF2B5EF4-FFF2-40B4-BE49-F238E27FC236}">
                <a16:creationId xmlns:a16="http://schemas.microsoft.com/office/drawing/2014/main" id="{576B3B14-C562-8A36-8157-B14FA46D0F60}"/>
              </a:ext>
            </a:extLst>
          </p:cNvPr>
          <p:cNvCxnSpPr>
            <a:cxnSpLocks/>
            <a:endCxn id="11" idx="1"/>
          </p:cNvCxnSpPr>
          <p:nvPr/>
        </p:nvCxnSpPr>
        <p:spPr>
          <a:xfrm flipV="1">
            <a:off x="6138355" y="1791463"/>
            <a:ext cx="2793911" cy="951300"/>
          </a:xfrm>
          <a:prstGeom prst="straightConnector1">
            <a:avLst/>
          </a:prstGeom>
          <a:ln>
            <a:solidFill>
              <a:schemeClr val="tx1">
                <a:lumMod val="85000"/>
                <a:lumOff val="1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BA7DFE8-D5BE-C58A-68DC-265EC1D91418}"/>
              </a:ext>
            </a:extLst>
          </p:cNvPr>
          <p:cNvSpPr txBox="1"/>
          <p:nvPr/>
        </p:nvSpPr>
        <p:spPr>
          <a:xfrm>
            <a:off x="7038739" y="1153910"/>
            <a:ext cx="1701987" cy="830997"/>
          </a:xfrm>
          <a:prstGeom prst="rect">
            <a:avLst/>
          </a:prstGeom>
          <a:noFill/>
        </p:spPr>
        <p:txBody>
          <a:bodyPr wrap="square" rtlCol="0">
            <a:spAutoFit/>
          </a:bodyPr>
          <a:lstStyle/>
          <a:p>
            <a:r>
              <a:rPr lang="en-US" sz="1200" dirty="0"/>
              <a:t>Under Steady State Clients Access Web Pages Over HTTP/HTPPS</a:t>
            </a:r>
          </a:p>
        </p:txBody>
      </p:sp>
      <p:cxnSp>
        <p:nvCxnSpPr>
          <p:cNvPr id="35" name="Straight Arrow Connector 34">
            <a:extLst>
              <a:ext uri="{FF2B5EF4-FFF2-40B4-BE49-F238E27FC236}">
                <a16:creationId xmlns:a16="http://schemas.microsoft.com/office/drawing/2014/main" id="{B3E3D37D-CA0E-F72A-58B8-F2E50A1BA444}"/>
              </a:ext>
            </a:extLst>
          </p:cNvPr>
          <p:cNvCxnSpPr>
            <a:endCxn id="19" idx="0"/>
          </p:cNvCxnSpPr>
          <p:nvPr/>
        </p:nvCxnSpPr>
        <p:spPr>
          <a:xfrm>
            <a:off x="9855631" y="5382704"/>
            <a:ext cx="1" cy="5532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60B5F250-B719-D493-6F47-DF0544777146}"/>
              </a:ext>
            </a:extLst>
          </p:cNvPr>
          <p:cNvCxnSpPr/>
          <p:nvPr/>
        </p:nvCxnSpPr>
        <p:spPr>
          <a:xfrm flipV="1">
            <a:off x="3457557" y="5052767"/>
            <a:ext cx="0" cy="75414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4DCCA86-DD27-68A0-BBCE-0D547609DD35}"/>
              </a:ext>
            </a:extLst>
          </p:cNvPr>
          <p:cNvCxnSpPr/>
          <p:nvPr/>
        </p:nvCxnSpPr>
        <p:spPr>
          <a:xfrm flipV="1">
            <a:off x="2931736" y="1187041"/>
            <a:ext cx="0" cy="10800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D5E2F1FF-B346-6A4F-6A94-828E44E2D715}"/>
              </a:ext>
            </a:extLst>
          </p:cNvPr>
          <p:cNvCxnSpPr/>
          <p:nvPr/>
        </p:nvCxnSpPr>
        <p:spPr>
          <a:xfrm>
            <a:off x="2931736" y="3065929"/>
            <a:ext cx="0" cy="15753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724BADB7-0643-00D8-C309-2303788768AC}"/>
              </a:ext>
            </a:extLst>
          </p:cNvPr>
          <p:cNvCxnSpPr/>
          <p:nvPr/>
        </p:nvCxnSpPr>
        <p:spPr>
          <a:xfrm flipV="1">
            <a:off x="6096000" y="2674658"/>
            <a:ext cx="2836266" cy="391271"/>
          </a:xfrm>
          <a:prstGeom prst="straightConnector1">
            <a:avLst/>
          </a:prstGeom>
          <a:ln>
            <a:solidFill>
              <a:schemeClr val="tx1">
                <a:lumMod val="65000"/>
                <a:lumOff val="3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6CCF9E07-4D73-08AF-C551-B30989E3CBBD}"/>
              </a:ext>
            </a:extLst>
          </p:cNvPr>
          <p:cNvSpPr txBox="1"/>
          <p:nvPr/>
        </p:nvSpPr>
        <p:spPr>
          <a:xfrm>
            <a:off x="6831306" y="2930410"/>
            <a:ext cx="1701987" cy="600164"/>
          </a:xfrm>
          <a:prstGeom prst="rect">
            <a:avLst/>
          </a:prstGeom>
          <a:noFill/>
        </p:spPr>
        <p:txBody>
          <a:bodyPr wrap="square" rtlCol="0">
            <a:spAutoFit/>
          </a:bodyPr>
          <a:lstStyle/>
          <a:p>
            <a:r>
              <a:rPr lang="en-US" sz="1100" dirty="0"/>
              <a:t>REST Ports Usually run on 50000-60000 ports default by MS Compilers</a:t>
            </a:r>
          </a:p>
        </p:txBody>
      </p:sp>
      <p:sp>
        <p:nvSpPr>
          <p:cNvPr id="48" name="TextBox 47">
            <a:extLst>
              <a:ext uri="{FF2B5EF4-FFF2-40B4-BE49-F238E27FC236}">
                <a16:creationId xmlns:a16="http://schemas.microsoft.com/office/drawing/2014/main" id="{55685F2D-C895-2B56-448D-D56E1FE96177}"/>
              </a:ext>
            </a:extLst>
          </p:cNvPr>
          <p:cNvSpPr txBox="1"/>
          <p:nvPr/>
        </p:nvSpPr>
        <p:spPr>
          <a:xfrm>
            <a:off x="5184248" y="6341003"/>
            <a:ext cx="2909003" cy="461665"/>
          </a:xfrm>
          <a:prstGeom prst="rect">
            <a:avLst/>
          </a:prstGeom>
          <a:noFill/>
        </p:spPr>
        <p:txBody>
          <a:bodyPr wrap="square" rtlCol="0">
            <a:spAutoFit/>
          </a:bodyPr>
          <a:lstStyle/>
          <a:p>
            <a:r>
              <a:rPr lang="en-US" sz="1200" dirty="0"/>
              <a:t>Ports 50000-60000 Dynamic Rest UDP-QUIC/TCP Traffic with HTTPS/HTTP</a:t>
            </a:r>
          </a:p>
        </p:txBody>
      </p:sp>
    </p:spTree>
    <p:extLst>
      <p:ext uri="{BB962C8B-B14F-4D97-AF65-F5344CB8AC3E}">
        <p14:creationId xmlns:p14="http://schemas.microsoft.com/office/powerpoint/2010/main" val="3430227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8892B-306A-0A27-F1AC-A149D167D0AD}"/>
              </a:ext>
            </a:extLst>
          </p:cNvPr>
          <p:cNvSpPr>
            <a:spLocks noGrp="1"/>
          </p:cNvSpPr>
          <p:nvPr>
            <p:ph type="title"/>
          </p:nvPr>
        </p:nvSpPr>
        <p:spPr/>
        <p:txBody>
          <a:bodyPr/>
          <a:lstStyle/>
          <a:p>
            <a:r>
              <a:rPr lang="en-US" dirty="0"/>
              <a:t>Application Basics</a:t>
            </a:r>
          </a:p>
        </p:txBody>
      </p:sp>
      <p:sp>
        <p:nvSpPr>
          <p:cNvPr id="3" name="Content Placeholder 2">
            <a:extLst>
              <a:ext uri="{FF2B5EF4-FFF2-40B4-BE49-F238E27FC236}">
                <a16:creationId xmlns:a16="http://schemas.microsoft.com/office/drawing/2014/main" id="{8BC4E3D6-57AA-22FB-8F42-CCB80B2D6620}"/>
              </a:ext>
            </a:extLst>
          </p:cNvPr>
          <p:cNvSpPr>
            <a:spLocks noGrp="1"/>
          </p:cNvSpPr>
          <p:nvPr>
            <p:ph idx="1"/>
          </p:nvPr>
        </p:nvSpPr>
        <p:spPr>
          <a:xfrm>
            <a:off x="838199" y="1825625"/>
            <a:ext cx="11228109" cy="4351338"/>
          </a:xfrm>
        </p:spPr>
        <p:txBody>
          <a:bodyPr>
            <a:normAutofit fontScale="77500" lnSpcReduction="20000"/>
          </a:bodyPr>
          <a:lstStyle/>
          <a:p>
            <a:r>
              <a:rPr lang="en-US" dirty="0"/>
              <a:t>Web Pages and Web Data Run out of band from each other in a REST model.</a:t>
            </a:r>
          </a:p>
          <a:p>
            <a:r>
              <a:rPr lang="en-US" dirty="0"/>
              <a:t>This means there are 4 options – (16 Combinations)</a:t>
            </a:r>
          </a:p>
          <a:p>
            <a:pPr lvl="1"/>
            <a:r>
              <a:rPr lang="en-US" dirty="0"/>
              <a:t>With or Without Application Encryption (Clients-Server Other)</a:t>
            </a:r>
          </a:p>
          <a:p>
            <a:pPr lvl="1"/>
            <a:r>
              <a:rPr lang="en-US" dirty="0"/>
              <a:t>With or Without Network Encryption for Web. (Web Service)</a:t>
            </a:r>
          </a:p>
          <a:p>
            <a:pPr lvl="1"/>
            <a:r>
              <a:rPr lang="en-US" dirty="0"/>
              <a:t>With or Without Network Encryption for Data (REST Service)</a:t>
            </a:r>
          </a:p>
          <a:p>
            <a:pPr lvl="1"/>
            <a:r>
              <a:rPr lang="en-US" dirty="0"/>
              <a:t>With or Without Other Network Encryptors/Hardware, etc.</a:t>
            </a:r>
          </a:p>
          <a:p>
            <a:r>
              <a:rPr lang="en-US" dirty="0"/>
              <a:t>With a Proxy there are 5 variables (32 Combinations)</a:t>
            </a:r>
          </a:p>
          <a:p>
            <a:pPr lvl="1"/>
            <a:r>
              <a:rPr lang="en-US" dirty="0"/>
              <a:t>With Or Without Network Encryption to the Web Server TO URL1 TO WWW</a:t>
            </a:r>
          </a:p>
          <a:p>
            <a:pPr lvl="1"/>
            <a:r>
              <a:rPr lang="en-US" dirty="0"/>
              <a:t>With Or Without Network Encryption to the Web Proxy TO URL2 TO REST</a:t>
            </a:r>
          </a:p>
          <a:p>
            <a:pPr lvl="1"/>
            <a:r>
              <a:rPr lang="en-US" dirty="0"/>
              <a:t>With Or Without Application Encryption</a:t>
            </a:r>
          </a:p>
          <a:p>
            <a:pPr lvl="1"/>
            <a:r>
              <a:rPr lang="en-US" dirty="0"/>
              <a:t>With Or With Other Network Encryptors/Hardware.</a:t>
            </a:r>
          </a:p>
          <a:p>
            <a:pPr lvl="1"/>
            <a:r>
              <a:rPr lang="en-US" dirty="0"/>
              <a:t>AND New With or Without SSL From Web Proxy to REST Service.</a:t>
            </a:r>
          </a:p>
          <a:p>
            <a:pPr lvl="1"/>
            <a:endParaRPr lang="en-US" dirty="0"/>
          </a:p>
          <a:p>
            <a:r>
              <a:rPr lang="en-US" dirty="0"/>
              <a:t>If all 4 types of security are enabled using modern tools it would require a state/gov actor and a court order to decrypt client-server traffic in transit or in stored form.</a:t>
            </a:r>
          </a:p>
        </p:txBody>
      </p:sp>
    </p:spTree>
    <p:extLst>
      <p:ext uri="{BB962C8B-B14F-4D97-AF65-F5344CB8AC3E}">
        <p14:creationId xmlns:p14="http://schemas.microsoft.com/office/powerpoint/2010/main" val="1692737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7C1EE7-B538-A5B6-28C0-50BAECB09491}"/>
              </a:ext>
            </a:extLst>
          </p:cNvPr>
          <p:cNvSpPr>
            <a:spLocks noGrp="1"/>
          </p:cNvSpPr>
          <p:nvPr>
            <p:ph type="title"/>
          </p:nvPr>
        </p:nvSpPr>
        <p:spPr/>
        <p:txBody>
          <a:bodyPr/>
          <a:lstStyle/>
          <a:p>
            <a:r>
              <a:rPr lang="en-US" dirty="0"/>
              <a:t>Laws and Compliance</a:t>
            </a:r>
          </a:p>
        </p:txBody>
      </p:sp>
      <p:sp>
        <p:nvSpPr>
          <p:cNvPr id="4" name="Content Placeholder 3">
            <a:extLst>
              <a:ext uri="{FF2B5EF4-FFF2-40B4-BE49-F238E27FC236}">
                <a16:creationId xmlns:a16="http://schemas.microsoft.com/office/drawing/2014/main" id="{7CF92060-249B-3B8D-0945-C1AE87E66833}"/>
              </a:ext>
            </a:extLst>
          </p:cNvPr>
          <p:cNvSpPr>
            <a:spLocks noGrp="1"/>
          </p:cNvSpPr>
          <p:nvPr>
            <p:ph idx="1"/>
          </p:nvPr>
        </p:nvSpPr>
        <p:spPr>
          <a:xfrm>
            <a:off x="838199" y="1825624"/>
            <a:ext cx="10728489" cy="4528041"/>
          </a:xfrm>
        </p:spPr>
        <p:txBody>
          <a:bodyPr>
            <a:normAutofit fontScale="70000" lnSpcReduction="20000"/>
          </a:bodyPr>
          <a:lstStyle/>
          <a:p>
            <a:r>
              <a:rPr lang="en-US" dirty="0"/>
              <a:t>Most Countries Differentiate Laws For</a:t>
            </a:r>
          </a:p>
          <a:p>
            <a:pPr lvl="1"/>
            <a:r>
              <a:rPr lang="en-US" dirty="0"/>
              <a:t>Stored Communications (Already on Disk or in Databases)</a:t>
            </a:r>
          </a:p>
          <a:p>
            <a:pPr lvl="1"/>
            <a:r>
              <a:rPr lang="en-US" dirty="0"/>
              <a:t>Network Communications (Real Time Distribution of Streams)</a:t>
            </a:r>
          </a:p>
          <a:p>
            <a:r>
              <a:rPr lang="en-US" dirty="0"/>
              <a:t>In the United States</a:t>
            </a:r>
          </a:p>
          <a:p>
            <a:pPr lvl="1"/>
            <a:r>
              <a:rPr lang="en-US" b="0" i="0" dirty="0">
                <a:solidFill>
                  <a:srgbClr val="101A2D"/>
                </a:solidFill>
                <a:effectLst/>
                <a:latin typeface="Georgia" panose="02040502050405020303" pitchFamily="18" charset="0"/>
              </a:rPr>
              <a:t>Stored Communications Act Governs Requirements for reviewing data on Disk.</a:t>
            </a:r>
          </a:p>
          <a:p>
            <a:pPr lvl="1"/>
            <a:r>
              <a:rPr lang="en-US" b="0" i="0" dirty="0">
                <a:solidFill>
                  <a:srgbClr val="101A2D"/>
                </a:solidFill>
                <a:effectLst/>
                <a:latin typeface="Georgia" panose="02040502050405020303" pitchFamily="18" charset="0"/>
              </a:rPr>
              <a:t>Real Time Surveillance Seen to be a 4</a:t>
            </a:r>
            <a:r>
              <a:rPr lang="en-US" b="0" i="0" baseline="30000" dirty="0">
                <a:solidFill>
                  <a:srgbClr val="101A2D"/>
                </a:solidFill>
                <a:effectLst/>
                <a:latin typeface="Georgia" panose="02040502050405020303" pitchFamily="18" charset="0"/>
              </a:rPr>
              <a:t>th</a:t>
            </a:r>
            <a:r>
              <a:rPr lang="en-US" b="0" i="0" dirty="0">
                <a:solidFill>
                  <a:srgbClr val="101A2D"/>
                </a:solidFill>
                <a:effectLst/>
                <a:latin typeface="Georgia" panose="02040502050405020303" pitchFamily="18" charset="0"/>
              </a:rPr>
              <a:t> Amendment violation (See Katz v US) by Supreme Court of US. Prosecuted under Color of Law Statutes.</a:t>
            </a:r>
          </a:p>
          <a:p>
            <a:pPr lvl="1"/>
            <a:r>
              <a:rPr lang="en-US" b="0" i="0" dirty="0">
                <a:solidFill>
                  <a:srgbClr val="101A2D"/>
                </a:solidFill>
                <a:effectLst/>
                <a:latin typeface="Georgia" panose="02040502050405020303" pitchFamily="18" charset="0"/>
              </a:rPr>
              <a:t>Other State Laws and Provisions.</a:t>
            </a:r>
          </a:p>
          <a:p>
            <a:pPr lvl="1"/>
            <a:endParaRPr lang="en-US" dirty="0">
              <a:solidFill>
                <a:srgbClr val="101A2D"/>
              </a:solidFill>
              <a:latin typeface="Georgia" panose="02040502050405020303" pitchFamily="18" charset="0"/>
            </a:endParaRPr>
          </a:p>
          <a:p>
            <a:r>
              <a:rPr lang="en-US" b="0" i="0" dirty="0">
                <a:solidFill>
                  <a:srgbClr val="101A2D"/>
                </a:solidFill>
                <a:effectLst/>
                <a:latin typeface="Georgia" panose="02040502050405020303" pitchFamily="18" charset="0"/>
              </a:rPr>
              <a:t>Crimes Have To Be Proven Based on Criminal Intent</a:t>
            </a:r>
          </a:p>
          <a:p>
            <a:pPr lvl="1"/>
            <a:r>
              <a:rPr lang="en-US" dirty="0">
                <a:solidFill>
                  <a:srgbClr val="101A2D"/>
                </a:solidFill>
                <a:latin typeface="Georgia" panose="02040502050405020303" pitchFamily="18" charset="0"/>
              </a:rPr>
              <a:t>An Encrypted Block of Text even a Caesar Encoded one… establishes intent for a criminal process.</a:t>
            </a:r>
          </a:p>
          <a:p>
            <a:pPr lvl="1"/>
            <a:r>
              <a:rPr lang="en-US" b="0" i="0" dirty="0">
                <a:solidFill>
                  <a:srgbClr val="101A2D"/>
                </a:solidFill>
                <a:effectLst/>
                <a:latin typeface="Georgia" panose="02040502050405020303" pitchFamily="18" charset="0"/>
              </a:rPr>
              <a:t>Without Application Encryption No Basis for Criminal Prosecution exists. </a:t>
            </a:r>
            <a:r>
              <a:rPr lang="en-US" dirty="0">
                <a:solidFill>
                  <a:srgbClr val="101A2D"/>
                </a:solidFill>
                <a:latin typeface="Georgia" panose="02040502050405020303" pitchFamily="18" charset="0"/>
              </a:rPr>
              <a:t>Users can argue they happened on the materials in question by accident.</a:t>
            </a:r>
          </a:p>
          <a:p>
            <a:endParaRPr lang="en-US" b="0" i="0" dirty="0">
              <a:solidFill>
                <a:srgbClr val="101A2D"/>
              </a:solidFill>
              <a:effectLst/>
              <a:latin typeface="Georgia" panose="02040502050405020303" pitchFamily="18" charset="0"/>
            </a:endParaRPr>
          </a:p>
          <a:p>
            <a:r>
              <a:rPr lang="en-US" b="0" i="0" dirty="0">
                <a:solidFill>
                  <a:srgbClr val="FF0000"/>
                </a:solidFill>
                <a:effectLst/>
                <a:latin typeface="Georgia" panose="02040502050405020303" pitchFamily="18" charset="0"/>
              </a:rPr>
              <a:t>Most Large Companies Have a Different Shared Service IT Leader From Business Unit CIOs who set Risk &amp; Compliance policies for their division. That means network and BU’s have different constraints.</a:t>
            </a:r>
          </a:p>
          <a:p>
            <a:pPr marL="457200" lvl="1" indent="0">
              <a:buNone/>
            </a:pPr>
            <a:endParaRPr lang="en-US" dirty="0"/>
          </a:p>
        </p:txBody>
      </p:sp>
    </p:spTree>
    <p:extLst>
      <p:ext uri="{BB962C8B-B14F-4D97-AF65-F5344CB8AC3E}">
        <p14:creationId xmlns:p14="http://schemas.microsoft.com/office/powerpoint/2010/main" val="241207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835B93FC-CF12-C431-39D4-54174FFA8C9F}"/>
              </a:ext>
            </a:extLst>
          </p:cNvPr>
          <p:cNvSpPr/>
          <p:nvPr/>
        </p:nvSpPr>
        <p:spPr>
          <a:xfrm>
            <a:off x="546755" y="886120"/>
            <a:ext cx="6042396" cy="402524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79517B9-6DF6-323F-208B-73A0B38485EE}"/>
              </a:ext>
            </a:extLst>
          </p:cNvPr>
          <p:cNvSpPr>
            <a:spLocks noGrp="1"/>
          </p:cNvSpPr>
          <p:nvPr>
            <p:ph type="title"/>
          </p:nvPr>
        </p:nvSpPr>
        <p:spPr>
          <a:xfrm>
            <a:off x="838200" y="365125"/>
            <a:ext cx="11194168" cy="388145"/>
          </a:xfrm>
        </p:spPr>
        <p:txBody>
          <a:bodyPr>
            <a:normAutofit fontScale="90000"/>
          </a:bodyPr>
          <a:lstStyle/>
          <a:p>
            <a:r>
              <a:rPr lang="en-US" dirty="0"/>
              <a:t>Cocky Cipher Suite w Proxy – Simple Transport  Model</a:t>
            </a:r>
          </a:p>
        </p:txBody>
      </p:sp>
      <p:sp>
        <p:nvSpPr>
          <p:cNvPr id="5" name="Rectangle 4">
            <a:extLst>
              <a:ext uri="{FF2B5EF4-FFF2-40B4-BE49-F238E27FC236}">
                <a16:creationId xmlns:a16="http://schemas.microsoft.com/office/drawing/2014/main" id="{C9454927-DCE8-C93E-43B0-000583965237}"/>
              </a:ext>
            </a:extLst>
          </p:cNvPr>
          <p:cNvSpPr/>
          <p:nvPr/>
        </p:nvSpPr>
        <p:spPr>
          <a:xfrm>
            <a:off x="8058548" y="2235998"/>
            <a:ext cx="1846730" cy="2264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a:t>
            </a:r>
          </a:p>
          <a:p>
            <a:pPr algn="ctr"/>
            <a:r>
              <a:rPr lang="en-US" dirty="0"/>
              <a:t>OS</a:t>
            </a:r>
          </a:p>
        </p:txBody>
      </p:sp>
      <p:sp>
        <p:nvSpPr>
          <p:cNvPr id="6" name="Rectangle: Rounded Corners 5">
            <a:extLst>
              <a:ext uri="{FF2B5EF4-FFF2-40B4-BE49-F238E27FC236}">
                <a16:creationId xmlns:a16="http://schemas.microsoft.com/office/drawing/2014/main" id="{49D1F3DE-D6AB-CC68-7D8D-24F5FA14346A}"/>
              </a:ext>
            </a:extLst>
          </p:cNvPr>
          <p:cNvSpPr/>
          <p:nvPr/>
        </p:nvSpPr>
        <p:spPr>
          <a:xfrm>
            <a:off x="1084729" y="1954306"/>
            <a:ext cx="1201271" cy="3496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 Memory Other</a:t>
            </a:r>
          </a:p>
        </p:txBody>
      </p:sp>
      <p:sp>
        <p:nvSpPr>
          <p:cNvPr id="7" name="Rectangle: Rounded Corners 6">
            <a:extLst>
              <a:ext uri="{FF2B5EF4-FFF2-40B4-BE49-F238E27FC236}">
                <a16:creationId xmlns:a16="http://schemas.microsoft.com/office/drawing/2014/main" id="{B38385BA-9373-8F42-D858-40C2752FBDEB}"/>
              </a:ext>
            </a:extLst>
          </p:cNvPr>
          <p:cNvSpPr/>
          <p:nvPr/>
        </p:nvSpPr>
        <p:spPr>
          <a:xfrm>
            <a:off x="1084729" y="2407630"/>
            <a:ext cx="1201271" cy="3854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SQLite Cookies</a:t>
            </a:r>
          </a:p>
        </p:txBody>
      </p:sp>
      <p:sp>
        <p:nvSpPr>
          <p:cNvPr id="8" name="Rectangle: Rounded Corners 7">
            <a:extLst>
              <a:ext uri="{FF2B5EF4-FFF2-40B4-BE49-F238E27FC236}">
                <a16:creationId xmlns:a16="http://schemas.microsoft.com/office/drawing/2014/main" id="{DD051F7C-EE95-9D7A-BBDE-ACC3D8CDD707}"/>
              </a:ext>
            </a:extLst>
          </p:cNvPr>
          <p:cNvSpPr/>
          <p:nvPr/>
        </p:nvSpPr>
        <p:spPr>
          <a:xfrm>
            <a:off x="1084729" y="2868706"/>
            <a:ext cx="1201271" cy="3944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a:t>
            </a:r>
          </a:p>
          <a:p>
            <a:pPr algn="ctr"/>
            <a:r>
              <a:rPr lang="en-US" sz="1200" dirty="0"/>
              <a:t>Session</a:t>
            </a:r>
          </a:p>
        </p:txBody>
      </p:sp>
      <p:sp>
        <p:nvSpPr>
          <p:cNvPr id="9" name="Rectangle: Rounded Corners 8">
            <a:extLst>
              <a:ext uri="{FF2B5EF4-FFF2-40B4-BE49-F238E27FC236}">
                <a16:creationId xmlns:a16="http://schemas.microsoft.com/office/drawing/2014/main" id="{FED0978F-172A-7256-82B0-C9A39510165E}"/>
              </a:ext>
            </a:extLst>
          </p:cNvPr>
          <p:cNvSpPr/>
          <p:nvPr/>
        </p:nvSpPr>
        <p:spPr>
          <a:xfrm>
            <a:off x="1084729" y="3338747"/>
            <a:ext cx="1201271" cy="3944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a:t>
            </a:r>
          </a:p>
          <a:p>
            <a:pPr algn="ctr"/>
            <a:r>
              <a:rPr lang="en-US" sz="1200" dirty="0"/>
              <a:t>Local Storage</a:t>
            </a:r>
          </a:p>
        </p:txBody>
      </p:sp>
      <p:sp>
        <p:nvSpPr>
          <p:cNvPr id="10" name="Rectangle: Rounded Corners 9">
            <a:extLst>
              <a:ext uri="{FF2B5EF4-FFF2-40B4-BE49-F238E27FC236}">
                <a16:creationId xmlns:a16="http://schemas.microsoft.com/office/drawing/2014/main" id="{D60F9934-F51D-CB61-B6EE-84E1B37EAF83}"/>
              </a:ext>
            </a:extLst>
          </p:cNvPr>
          <p:cNvSpPr/>
          <p:nvPr/>
        </p:nvSpPr>
        <p:spPr>
          <a:xfrm>
            <a:off x="1084729" y="1521574"/>
            <a:ext cx="1201271" cy="3496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Browser </a:t>
            </a:r>
          </a:p>
          <a:p>
            <a:pPr algn="ctr"/>
            <a:r>
              <a:rPr lang="en-US" sz="1200" dirty="0"/>
              <a:t>RAM Disk</a:t>
            </a:r>
          </a:p>
        </p:txBody>
      </p:sp>
      <p:sp>
        <p:nvSpPr>
          <p:cNvPr id="11" name="Rectangle 10">
            <a:extLst>
              <a:ext uri="{FF2B5EF4-FFF2-40B4-BE49-F238E27FC236}">
                <a16:creationId xmlns:a16="http://schemas.microsoft.com/office/drawing/2014/main" id="{0608DDD0-3746-3353-0537-AD18F786B1FE}"/>
              </a:ext>
            </a:extLst>
          </p:cNvPr>
          <p:cNvSpPr/>
          <p:nvPr/>
        </p:nvSpPr>
        <p:spPr>
          <a:xfrm>
            <a:off x="8059270" y="2155772"/>
            <a:ext cx="1846730" cy="583925"/>
          </a:xfrm>
          <a:prstGeom prst="rect">
            <a:avLst/>
          </a:prstGeom>
          <a:solidFill>
            <a:schemeClr val="accent5">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Web Service</a:t>
            </a:r>
          </a:p>
        </p:txBody>
      </p:sp>
      <p:sp>
        <p:nvSpPr>
          <p:cNvPr id="12" name="Rectangle: Rounded Corners 11">
            <a:extLst>
              <a:ext uri="{FF2B5EF4-FFF2-40B4-BE49-F238E27FC236}">
                <a16:creationId xmlns:a16="http://schemas.microsoft.com/office/drawing/2014/main" id="{DF84DF22-8BD3-5840-CC7F-66D6119F0B4D}"/>
              </a:ext>
            </a:extLst>
          </p:cNvPr>
          <p:cNvSpPr/>
          <p:nvPr/>
        </p:nvSpPr>
        <p:spPr>
          <a:xfrm>
            <a:off x="1084729" y="3863788"/>
            <a:ext cx="1201271" cy="32273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OS Mem</a:t>
            </a:r>
          </a:p>
        </p:txBody>
      </p:sp>
      <p:sp>
        <p:nvSpPr>
          <p:cNvPr id="13" name="Rectangle: Rounded Corners 12">
            <a:extLst>
              <a:ext uri="{FF2B5EF4-FFF2-40B4-BE49-F238E27FC236}">
                <a16:creationId xmlns:a16="http://schemas.microsoft.com/office/drawing/2014/main" id="{20E1C5BC-AD89-0BDA-77AC-6DFD17560E31}"/>
              </a:ext>
            </a:extLst>
          </p:cNvPr>
          <p:cNvSpPr/>
          <p:nvPr/>
        </p:nvSpPr>
        <p:spPr>
          <a:xfrm>
            <a:off x="1084729" y="4276165"/>
            <a:ext cx="1201271" cy="32273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Gen Disk</a:t>
            </a:r>
          </a:p>
        </p:txBody>
      </p:sp>
      <p:sp>
        <p:nvSpPr>
          <p:cNvPr id="14" name="Rectangle: Rounded Corners 13">
            <a:extLst>
              <a:ext uri="{FF2B5EF4-FFF2-40B4-BE49-F238E27FC236}">
                <a16:creationId xmlns:a16="http://schemas.microsoft.com/office/drawing/2014/main" id="{37DE2362-AB02-882F-1A2B-2F66C8D96DDA}"/>
              </a:ext>
            </a:extLst>
          </p:cNvPr>
          <p:cNvSpPr/>
          <p:nvPr/>
        </p:nvSpPr>
        <p:spPr>
          <a:xfrm>
            <a:off x="1084729" y="1048871"/>
            <a:ext cx="1201271" cy="42400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Cloud Disk</a:t>
            </a:r>
          </a:p>
        </p:txBody>
      </p:sp>
      <p:sp>
        <p:nvSpPr>
          <p:cNvPr id="15" name="Rectangle 14">
            <a:extLst>
              <a:ext uri="{FF2B5EF4-FFF2-40B4-BE49-F238E27FC236}">
                <a16:creationId xmlns:a16="http://schemas.microsoft.com/office/drawing/2014/main" id="{32AA7DD2-B28C-1DCD-36BA-9D4363162136}"/>
              </a:ext>
            </a:extLst>
          </p:cNvPr>
          <p:cNvSpPr/>
          <p:nvPr/>
        </p:nvSpPr>
        <p:spPr>
          <a:xfrm>
            <a:off x="8059270" y="1075420"/>
            <a:ext cx="1846730" cy="107851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Cloud Extension</a:t>
            </a:r>
          </a:p>
        </p:txBody>
      </p:sp>
      <p:sp>
        <p:nvSpPr>
          <p:cNvPr id="17" name="TextBox 16">
            <a:extLst>
              <a:ext uri="{FF2B5EF4-FFF2-40B4-BE49-F238E27FC236}">
                <a16:creationId xmlns:a16="http://schemas.microsoft.com/office/drawing/2014/main" id="{A2E4B28E-FD78-576B-926D-E0B83CAAA760}"/>
              </a:ext>
            </a:extLst>
          </p:cNvPr>
          <p:cNvSpPr txBox="1"/>
          <p:nvPr/>
        </p:nvSpPr>
        <p:spPr>
          <a:xfrm>
            <a:off x="2286000" y="2351493"/>
            <a:ext cx="2008920" cy="646331"/>
          </a:xfrm>
          <a:prstGeom prst="rect">
            <a:avLst/>
          </a:prstGeom>
          <a:noFill/>
        </p:spPr>
        <p:txBody>
          <a:bodyPr wrap="square" rtlCol="0">
            <a:spAutoFit/>
          </a:bodyPr>
          <a:lstStyle/>
          <a:p>
            <a:r>
              <a:rPr lang="en-US" dirty="0">
                <a:solidFill>
                  <a:schemeClr val="bg1"/>
                </a:solidFill>
              </a:rPr>
              <a:t>Use of Cocky Cipher Technology</a:t>
            </a:r>
          </a:p>
        </p:txBody>
      </p:sp>
      <p:sp>
        <p:nvSpPr>
          <p:cNvPr id="18" name="Rectangle 17">
            <a:extLst>
              <a:ext uri="{FF2B5EF4-FFF2-40B4-BE49-F238E27FC236}">
                <a16:creationId xmlns:a16="http://schemas.microsoft.com/office/drawing/2014/main" id="{E34AB024-42B3-7CDB-A9E9-E9A259ED9EEF}"/>
              </a:ext>
            </a:extLst>
          </p:cNvPr>
          <p:cNvSpPr/>
          <p:nvPr/>
        </p:nvSpPr>
        <p:spPr>
          <a:xfrm>
            <a:off x="2647175" y="5891478"/>
            <a:ext cx="1620764" cy="8675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Router</a:t>
            </a:r>
          </a:p>
        </p:txBody>
      </p:sp>
      <p:pic>
        <p:nvPicPr>
          <p:cNvPr id="19" name="Picture 18">
            <a:extLst>
              <a:ext uri="{FF2B5EF4-FFF2-40B4-BE49-F238E27FC236}">
                <a16:creationId xmlns:a16="http://schemas.microsoft.com/office/drawing/2014/main" id="{820A9083-8B55-0CFD-A21D-62B836378544}"/>
              </a:ext>
            </a:extLst>
          </p:cNvPr>
          <p:cNvPicPr>
            <a:picLocks noChangeAspect="1"/>
          </p:cNvPicPr>
          <p:nvPr/>
        </p:nvPicPr>
        <p:blipFill>
          <a:blip r:embed="rId2"/>
          <a:stretch>
            <a:fillRect/>
          </a:stretch>
        </p:blipFill>
        <p:spPr>
          <a:xfrm>
            <a:off x="8127381" y="5947008"/>
            <a:ext cx="1846730" cy="823031"/>
          </a:xfrm>
          <a:prstGeom prst="rect">
            <a:avLst/>
          </a:prstGeom>
        </p:spPr>
      </p:pic>
      <p:pic>
        <p:nvPicPr>
          <p:cNvPr id="20" name="Picture 19">
            <a:extLst>
              <a:ext uri="{FF2B5EF4-FFF2-40B4-BE49-F238E27FC236}">
                <a16:creationId xmlns:a16="http://schemas.microsoft.com/office/drawing/2014/main" id="{98B46A7C-4491-09DB-3F6B-E73EED0EEEFC}"/>
              </a:ext>
            </a:extLst>
          </p:cNvPr>
          <p:cNvPicPr>
            <a:picLocks noChangeAspect="1"/>
          </p:cNvPicPr>
          <p:nvPr/>
        </p:nvPicPr>
        <p:blipFill>
          <a:blip r:embed="rId3"/>
          <a:stretch>
            <a:fillRect/>
          </a:stretch>
        </p:blipFill>
        <p:spPr>
          <a:xfrm>
            <a:off x="4230142" y="1048871"/>
            <a:ext cx="1908213" cy="3517697"/>
          </a:xfrm>
          <a:prstGeom prst="rect">
            <a:avLst/>
          </a:prstGeom>
        </p:spPr>
      </p:pic>
      <p:sp>
        <p:nvSpPr>
          <p:cNvPr id="21" name="Rectangle: Rounded Corners 20">
            <a:extLst>
              <a:ext uri="{FF2B5EF4-FFF2-40B4-BE49-F238E27FC236}">
                <a16:creationId xmlns:a16="http://schemas.microsoft.com/office/drawing/2014/main" id="{36981E86-959B-F635-E63C-D35DBB384AB5}"/>
              </a:ext>
            </a:extLst>
          </p:cNvPr>
          <p:cNvSpPr/>
          <p:nvPr/>
        </p:nvSpPr>
        <p:spPr>
          <a:xfrm>
            <a:off x="10675232" y="2207555"/>
            <a:ext cx="1357136" cy="858374"/>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Web Server(n)</a:t>
            </a:r>
          </a:p>
          <a:p>
            <a:pPr algn="ctr"/>
            <a:r>
              <a:rPr lang="en-US" sz="1200" dirty="0"/>
              <a:t>Dedicated</a:t>
            </a:r>
          </a:p>
          <a:p>
            <a:pPr algn="ctr"/>
            <a:r>
              <a:rPr lang="en-US" sz="1200" dirty="0"/>
              <a:t>Machine</a:t>
            </a:r>
          </a:p>
        </p:txBody>
      </p:sp>
      <p:cxnSp>
        <p:nvCxnSpPr>
          <p:cNvPr id="23" name="Straight Connector 22">
            <a:extLst>
              <a:ext uri="{FF2B5EF4-FFF2-40B4-BE49-F238E27FC236}">
                <a16:creationId xmlns:a16="http://schemas.microsoft.com/office/drawing/2014/main" id="{1A7E3577-D0A4-3B48-9B2F-B752F41056D7}"/>
              </a:ext>
            </a:extLst>
          </p:cNvPr>
          <p:cNvCxnSpPr>
            <a:cxnSpLocks/>
            <a:stCxn id="18" idx="3"/>
            <a:endCxn id="19" idx="1"/>
          </p:cNvCxnSpPr>
          <p:nvPr/>
        </p:nvCxnSpPr>
        <p:spPr>
          <a:xfrm>
            <a:off x="4267939" y="6325249"/>
            <a:ext cx="3859442" cy="33275"/>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15BE6D0-CDA6-7E7E-A371-4CDF6BB776C7}"/>
              </a:ext>
            </a:extLst>
          </p:cNvPr>
          <p:cNvSpPr txBox="1"/>
          <p:nvPr/>
        </p:nvSpPr>
        <p:spPr>
          <a:xfrm>
            <a:off x="4580231" y="5673480"/>
            <a:ext cx="3824722" cy="646331"/>
          </a:xfrm>
          <a:prstGeom prst="rect">
            <a:avLst/>
          </a:prstGeom>
          <a:noFill/>
        </p:spPr>
        <p:txBody>
          <a:bodyPr wrap="square" rtlCol="0">
            <a:spAutoFit/>
          </a:bodyPr>
          <a:lstStyle/>
          <a:p>
            <a:pPr algn="ctr"/>
            <a:r>
              <a:rPr lang="en-US" sz="1200" dirty="0"/>
              <a:t>Internet Or Enterprise</a:t>
            </a:r>
          </a:p>
          <a:p>
            <a:pPr algn="ctr"/>
            <a:r>
              <a:rPr lang="en-US" sz="1200" dirty="0"/>
              <a:t>IP Connectivity Over X</a:t>
            </a:r>
          </a:p>
          <a:p>
            <a:pPr algn="ctr"/>
            <a:r>
              <a:rPr lang="en-US" sz="1200" dirty="0"/>
              <a:t>Std Ports 80,443, 8443, 8080 Web</a:t>
            </a:r>
          </a:p>
        </p:txBody>
      </p:sp>
      <p:cxnSp>
        <p:nvCxnSpPr>
          <p:cNvPr id="28" name="Straight Arrow Connector 27">
            <a:extLst>
              <a:ext uri="{FF2B5EF4-FFF2-40B4-BE49-F238E27FC236}">
                <a16:creationId xmlns:a16="http://schemas.microsoft.com/office/drawing/2014/main" id="{576B3B14-C562-8A36-8157-B14FA46D0F60}"/>
              </a:ext>
            </a:extLst>
          </p:cNvPr>
          <p:cNvCxnSpPr>
            <a:cxnSpLocks/>
            <a:endCxn id="11" idx="1"/>
          </p:cNvCxnSpPr>
          <p:nvPr/>
        </p:nvCxnSpPr>
        <p:spPr>
          <a:xfrm flipV="1">
            <a:off x="5265359" y="2447735"/>
            <a:ext cx="2793911" cy="951300"/>
          </a:xfrm>
          <a:prstGeom prst="straightConnector1">
            <a:avLst/>
          </a:prstGeom>
          <a:ln>
            <a:solidFill>
              <a:schemeClr val="tx1">
                <a:lumMod val="85000"/>
                <a:lumOff val="1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BA7DFE8-D5BE-C58A-68DC-265EC1D91418}"/>
              </a:ext>
            </a:extLst>
          </p:cNvPr>
          <p:cNvSpPr txBox="1"/>
          <p:nvPr/>
        </p:nvSpPr>
        <p:spPr>
          <a:xfrm>
            <a:off x="6638749" y="2507637"/>
            <a:ext cx="1295159" cy="646331"/>
          </a:xfrm>
          <a:prstGeom prst="rect">
            <a:avLst/>
          </a:prstGeom>
          <a:noFill/>
        </p:spPr>
        <p:txBody>
          <a:bodyPr wrap="square" rtlCol="0">
            <a:spAutoFit/>
          </a:bodyPr>
          <a:lstStyle/>
          <a:p>
            <a:r>
              <a:rPr lang="en-US" sz="900" dirty="0"/>
              <a:t>Under Steady State Clients Access Web Pages Over HTTP/HTPPS</a:t>
            </a:r>
          </a:p>
        </p:txBody>
      </p:sp>
      <p:cxnSp>
        <p:nvCxnSpPr>
          <p:cNvPr id="35" name="Straight Arrow Connector 34">
            <a:extLst>
              <a:ext uri="{FF2B5EF4-FFF2-40B4-BE49-F238E27FC236}">
                <a16:creationId xmlns:a16="http://schemas.microsoft.com/office/drawing/2014/main" id="{B3E3D37D-CA0E-F72A-58B8-F2E50A1BA444}"/>
              </a:ext>
            </a:extLst>
          </p:cNvPr>
          <p:cNvCxnSpPr>
            <a:cxnSpLocks/>
            <a:endCxn id="19" idx="0"/>
          </p:cNvCxnSpPr>
          <p:nvPr/>
        </p:nvCxnSpPr>
        <p:spPr>
          <a:xfrm>
            <a:off x="9050746" y="4464280"/>
            <a:ext cx="0" cy="148272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60B5F250-B719-D493-6F47-DF0544777146}"/>
              </a:ext>
            </a:extLst>
          </p:cNvPr>
          <p:cNvCxnSpPr/>
          <p:nvPr/>
        </p:nvCxnSpPr>
        <p:spPr>
          <a:xfrm flipV="1">
            <a:off x="3457557" y="5052767"/>
            <a:ext cx="0" cy="75414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4DCCA86-DD27-68A0-BBCE-0D547609DD35}"/>
              </a:ext>
            </a:extLst>
          </p:cNvPr>
          <p:cNvCxnSpPr/>
          <p:nvPr/>
        </p:nvCxnSpPr>
        <p:spPr>
          <a:xfrm flipV="1">
            <a:off x="2931736" y="1187041"/>
            <a:ext cx="0" cy="10800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D5E2F1FF-B346-6A4F-6A94-828E44E2D715}"/>
              </a:ext>
            </a:extLst>
          </p:cNvPr>
          <p:cNvCxnSpPr/>
          <p:nvPr/>
        </p:nvCxnSpPr>
        <p:spPr>
          <a:xfrm>
            <a:off x="2931736" y="3065929"/>
            <a:ext cx="0" cy="15753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724BADB7-0643-00D8-C309-2303788768AC}"/>
              </a:ext>
            </a:extLst>
          </p:cNvPr>
          <p:cNvCxnSpPr>
            <a:cxnSpLocks/>
            <a:endCxn id="43" idx="1"/>
          </p:cNvCxnSpPr>
          <p:nvPr/>
        </p:nvCxnSpPr>
        <p:spPr>
          <a:xfrm>
            <a:off x="9905278" y="2735350"/>
            <a:ext cx="749275" cy="877900"/>
          </a:xfrm>
          <a:prstGeom prst="straightConnector1">
            <a:avLst/>
          </a:prstGeom>
          <a:ln>
            <a:solidFill>
              <a:schemeClr val="tx1">
                <a:lumMod val="65000"/>
                <a:lumOff val="3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6CCF9E07-4D73-08AF-C551-B30989E3CBBD}"/>
              </a:ext>
            </a:extLst>
          </p:cNvPr>
          <p:cNvSpPr txBox="1"/>
          <p:nvPr/>
        </p:nvSpPr>
        <p:spPr>
          <a:xfrm>
            <a:off x="10204403" y="4305633"/>
            <a:ext cx="1846729" cy="769441"/>
          </a:xfrm>
          <a:prstGeom prst="rect">
            <a:avLst/>
          </a:prstGeom>
          <a:noFill/>
        </p:spPr>
        <p:txBody>
          <a:bodyPr wrap="square" rtlCol="0">
            <a:spAutoFit/>
          </a:bodyPr>
          <a:lstStyle/>
          <a:p>
            <a:r>
              <a:rPr lang="en-US" sz="1100" dirty="0"/>
              <a:t>REST Ports Usually run on 50000-60000 ports default by MS Compilers</a:t>
            </a:r>
          </a:p>
          <a:p>
            <a:r>
              <a:rPr lang="en-US" sz="1100" dirty="0"/>
              <a:t>But are often load balanced</a:t>
            </a:r>
          </a:p>
        </p:txBody>
      </p:sp>
      <p:pic>
        <p:nvPicPr>
          <p:cNvPr id="43" name="Picture 42">
            <a:extLst>
              <a:ext uri="{FF2B5EF4-FFF2-40B4-BE49-F238E27FC236}">
                <a16:creationId xmlns:a16="http://schemas.microsoft.com/office/drawing/2014/main" id="{6D171BFF-9C1C-5AE7-E148-68A3295A833A}"/>
              </a:ext>
            </a:extLst>
          </p:cNvPr>
          <p:cNvPicPr>
            <a:picLocks noChangeAspect="1"/>
          </p:cNvPicPr>
          <p:nvPr/>
        </p:nvPicPr>
        <p:blipFill>
          <a:blip r:embed="rId4"/>
          <a:stretch>
            <a:fillRect/>
          </a:stretch>
        </p:blipFill>
        <p:spPr>
          <a:xfrm>
            <a:off x="10654553" y="3174300"/>
            <a:ext cx="1377815" cy="877900"/>
          </a:xfrm>
          <a:prstGeom prst="rect">
            <a:avLst/>
          </a:prstGeom>
        </p:spPr>
      </p:pic>
      <p:pic>
        <p:nvPicPr>
          <p:cNvPr id="45" name="Picture 44">
            <a:extLst>
              <a:ext uri="{FF2B5EF4-FFF2-40B4-BE49-F238E27FC236}">
                <a16:creationId xmlns:a16="http://schemas.microsoft.com/office/drawing/2014/main" id="{09997870-6F2D-3AC3-355D-213F203BC392}"/>
              </a:ext>
            </a:extLst>
          </p:cNvPr>
          <p:cNvPicPr>
            <a:picLocks noChangeAspect="1"/>
          </p:cNvPicPr>
          <p:nvPr/>
        </p:nvPicPr>
        <p:blipFill>
          <a:blip r:embed="rId5"/>
          <a:stretch>
            <a:fillRect/>
          </a:stretch>
        </p:blipFill>
        <p:spPr>
          <a:xfrm flipV="1">
            <a:off x="9905279" y="2209305"/>
            <a:ext cx="769232" cy="300697"/>
          </a:xfrm>
          <a:prstGeom prst="rect">
            <a:avLst/>
          </a:prstGeom>
        </p:spPr>
      </p:pic>
    </p:spTree>
    <p:extLst>
      <p:ext uri="{BB962C8B-B14F-4D97-AF65-F5344CB8AC3E}">
        <p14:creationId xmlns:p14="http://schemas.microsoft.com/office/powerpoint/2010/main" val="3313772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D439-070F-0270-B2D9-0A502233E0F2}"/>
              </a:ext>
            </a:extLst>
          </p:cNvPr>
          <p:cNvSpPr>
            <a:spLocks noGrp="1"/>
          </p:cNvSpPr>
          <p:nvPr>
            <p:ph type="title"/>
          </p:nvPr>
        </p:nvSpPr>
        <p:spPr/>
        <p:txBody>
          <a:bodyPr>
            <a:normAutofit/>
          </a:bodyPr>
          <a:lstStyle/>
          <a:p>
            <a:r>
              <a:rPr lang="en-US" sz="3200" dirty="0"/>
              <a:t>Hub and Spoke Internet Models With Encryption Models</a:t>
            </a:r>
          </a:p>
        </p:txBody>
      </p:sp>
      <p:sp>
        <p:nvSpPr>
          <p:cNvPr id="3" name="Oval 2">
            <a:extLst>
              <a:ext uri="{FF2B5EF4-FFF2-40B4-BE49-F238E27FC236}">
                <a16:creationId xmlns:a16="http://schemas.microsoft.com/office/drawing/2014/main" id="{99D6497F-2EF0-6708-5065-4354834C77CE}"/>
              </a:ext>
            </a:extLst>
          </p:cNvPr>
          <p:cNvSpPr/>
          <p:nvPr/>
        </p:nvSpPr>
        <p:spPr>
          <a:xfrm>
            <a:off x="1540889" y="1682685"/>
            <a:ext cx="2856321" cy="11500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Hub1</a:t>
            </a:r>
          </a:p>
          <a:p>
            <a:pPr algn="ctr"/>
            <a:r>
              <a:rPr lang="en-US" dirty="0"/>
              <a:t>West</a:t>
            </a:r>
          </a:p>
          <a:p>
            <a:pPr algn="ctr"/>
            <a:r>
              <a:rPr lang="en-US" dirty="0"/>
              <a:t>Web/Rest</a:t>
            </a:r>
          </a:p>
        </p:txBody>
      </p:sp>
      <p:sp>
        <p:nvSpPr>
          <p:cNvPr id="4" name="Oval 3">
            <a:extLst>
              <a:ext uri="{FF2B5EF4-FFF2-40B4-BE49-F238E27FC236}">
                <a16:creationId xmlns:a16="http://schemas.microsoft.com/office/drawing/2014/main" id="{65A2E8E7-2D47-CE8B-F38B-00BEA68F5E4D}"/>
              </a:ext>
            </a:extLst>
          </p:cNvPr>
          <p:cNvSpPr/>
          <p:nvPr/>
        </p:nvSpPr>
        <p:spPr>
          <a:xfrm>
            <a:off x="6249184" y="1686687"/>
            <a:ext cx="2736917" cy="115007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Hub2</a:t>
            </a:r>
          </a:p>
          <a:p>
            <a:pPr algn="ctr"/>
            <a:r>
              <a:rPr lang="en-US" dirty="0"/>
              <a:t>East</a:t>
            </a:r>
          </a:p>
          <a:p>
            <a:pPr algn="ctr"/>
            <a:r>
              <a:rPr lang="en-US" dirty="0"/>
              <a:t>Web/Rest</a:t>
            </a:r>
          </a:p>
        </p:txBody>
      </p:sp>
      <p:sp>
        <p:nvSpPr>
          <p:cNvPr id="5" name="Rectangle: Rounded Corners 4">
            <a:extLst>
              <a:ext uri="{FF2B5EF4-FFF2-40B4-BE49-F238E27FC236}">
                <a16:creationId xmlns:a16="http://schemas.microsoft.com/office/drawing/2014/main" id="{A9326D18-D78B-4097-18E0-D60C5B19FED0}"/>
              </a:ext>
            </a:extLst>
          </p:cNvPr>
          <p:cNvSpPr/>
          <p:nvPr/>
        </p:nvSpPr>
        <p:spPr>
          <a:xfrm>
            <a:off x="5976594" y="5356784"/>
            <a:ext cx="1405379" cy="744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C4</a:t>
            </a:r>
          </a:p>
        </p:txBody>
      </p:sp>
      <p:sp>
        <p:nvSpPr>
          <p:cNvPr id="6" name="Rectangle: Rounded Corners 5">
            <a:extLst>
              <a:ext uri="{FF2B5EF4-FFF2-40B4-BE49-F238E27FC236}">
                <a16:creationId xmlns:a16="http://schemas.microsoft.com/office/drawing/2014/main" id="{FD611F86-81A2-2BB1-619F-BD69F53847D2}"/>
              </a:ext>
            </a:extLst>
          </p:cNvPr>
          <p:cNvSpPr/>
          <p:nvPr/>
        </p:nvSpPr>
        <p:spPr>
          <a:xfrm>
            <a:off x="7579936" y="5356784"/>
            <a:ext cx="1225485" cy="744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C5</a:t>
            </a:r>
          </a:p>
        </p:txBody>
      </p:sp>
      <p:sp>
        <p:nvSpPr>
          <p:cNvPr id="7" name="Rectangle: Rounded Corners 6">
            <a:extLst>
              <a:ext uri="{FF2B5EF4-FFF2-40B4-BE49-F238E27FC236}">
                <a16:creationId xmlns:a16="http://schemas.microsoft.com/office/drawing/2014/main" id="{931EE08D-1045-DEBE-3B13-A92F1F06DF88}"/>
              </a:ext>
            </a:extLst>
          </p:cNvPr>
          <p:cNvSpPr/>
          <p:nvPr/>
        </p:nvSpPr>
        <p:spPr>
          <a:xfrm>
            <a:off x="9003384" y="5356783"/>
            <a:ext cx="1329179" cy="744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C6</a:t>
            </a:r>
          </a:p>
        </p:txBody>
      </p:sp>
      <p:cxnSp>
        <p:nvCxnSpPr>
          <p:cNvPr id="13" name="Straight Arrow Connector 12">
            <a:extLst>
              <a:ext uri="{FF2B5EF4-FFF2-40B4-BE49-F238E27FC236}">
                <a16:creationId xmlns:a16="http://schemas.microsoft.com/office/drawing/2014/main" id="{6FDC2A2C-B81C-0204-AEFC-F10E662B64B9}"/>
              </a:ext>
            </a:extLst>
          </p:cNvPr>
          <p:cNvCxnSpPr/>
          <p:nvPr/>
        </p:nvCxnSpPr>
        <p:spPr>
          <a:xfrm>
            <a:off x="3591612" y="3563332"/>
            <a:ext cx="805598" cy="161198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AEE76C1-EBC6-BD0C-B009-7C335C94C584}"/>
              </a:ext>
            </a:extLst>
          </p:cNvPr>
          <p:cNvCxnSpPr/>
          <p:nvPr/>
        </p:nvCxnSpPr>
        <p:spPr>
          <a:xfrm>
            <a:off x="2960016" y="3563332"/>
            <a:ext cx="0" cy="161198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A55BD20-8BE3-708C-BB20-9DAD3C8B767E}"/>
              </a:ext>
            </a:extLst>
          </p:cNvPr>
          <p:cNvCxnSpPr/>
          <p:nvPr/>
        </p:nvCxnSpPr>
        <p:spPr>
          <a:xfrm flipH="1">
            <a:off x="1310326" y="3497344"/>
            <a:ext cx="848412" cy="167797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2BCB80E2-0E1B-18CF-E2FB-D700ABC2394B}"/>
              </a:ext>
            </a:extLst>
          </p:cNvPr>
          <p:cNvPicPr>
            <a:picLocks noChangeAspect="1"/>
          </p:cNvPicPr>
          <p:nvPr/>
        </p:nvPicPr>
        <p:blipFill>
          <a:blip r:embed="rId2"/>
          <a:stretch>
            <a:fillRect/>
          </a:stretch>
        </p:blipFill>
        <p:spPr>
          <a:xfrm>
            <a:off x="854969" y="5309647"/>
            <a:ext cx="4371211" cy="762066"/>
          </a:xfrm>
          <a:prstGeom prst="rect">
            <a:avLst/>
          </a:prstGeom>
        </p:spPr>
      </p:pic>
      <p:cxnSp>
        <p:nvCxnSpPr>
          <p:cNvPr id="20" name="Straight Arrow Connector 19">
            <a:extLst>
              <a:ext uri="{FF2B5EF4-FFF2-40B4-BE49-F238E27FC236}">
                <a16:creationId xmlns:a16="http://schemas.microsoft.com/office/drawing/2014/main" id="{AD5E9B0F-BF91-6973-D008-F0A706047AF4}"/>
              </a:ext>
            </a:extLst>
          </p:cNvPr>
          <p:cNvCxnSpPr>
            <a:cxnSpLocks/>
          </p:cNvCxnSpPr>
          <p:nvPr/>
        </p:nvCxnSpPr>
        <p:spPr>
          <a:xfrm flipH="1">
            <a:off x="6584229" y="3676454"/>
            <a:ext cx="598996" cy="1633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85EE201-AEFC-FB86-1409-778639EF52A6}"/>
              </a:ext>
            </a:extLst>
          </p:cNvPr>
          <p:cNvCxnSpPr>
            <a:cxnSpLocks/>
            <a:endCxn id="6" idx="0"/>
          </p:cNvCxnSpPr>
          <p:nvPr/>
        </p:nvCxnSpPr>
        <p:spPr>
          <a:xfrm>
            <a:off x="7748046" y="3563332"/>
            <a:ext cx="444633" cy="17934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CE5A1FE-C84D-7594-6EE0-61D6D22E9DEB}"/>
              </a:ext>
            </a:extLst>
          </p:cNvPr>
          <p:cNvCxnSpPr>
            <a:cxnSpLocks/>
          </p:cNvCxnSpPr>
          <p:nvPr/>
        </p:nvCxnSpPr>
        <p:spPr>
          <a:xfrm>
            <a:off x="8352148" y="3429000"/>
            <a:ext cx="1187778" cy="188064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86BA5EA-1476-AD57-10AA-1AB7416244BA}"/>
              </a:ext>
            </a:extLst>
          </p:cNvPr>
          <p:cNvCxnSpPr/>
          <p:nvPr/>
        </p:nvCxnSpPr>
        <p:spPr>
          <a:xfrm>
            <a:off x="4543720" y="2092751"/>
            <a:ext cx="143287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B676DBB-6C84-0A0C-DB72-49C77152EA0A}"/>
              </a:ext>
            </a:extLst>
          </p:cNvPr>
          <p:cNvCxnSpPr/>
          <p:nvPr/>
        </p:nvCxnSpPr>
        <p:spPr>
          <a:xfrm>
            <a:off x="4543720" y="2384982"/>
            <a:ext cx="155228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DCB7EE95-ED9B-65B0-4C36-9EE54B0674E8}"/>
              </a:ext>
            </a:extLst>
          </p:cNvPr>
          <p:cNvSpPr/>
          <p:nvPr/>
        </p:nvSpPr>
        <p:spPr>
          <a:xfrm>
            <a:off x="6584229" y="2925763"/>
            <a:ext cx="2111604" cy="525544"/>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Conc Router2</a:t>
            </a:r>
          </a:p>
        </p:txBody>
      </p:sp>
      <p:pic>
        <p:nvPicPr>
          <p:cNvPr id="33" name="Picture 32">
            <a:extLst>
              <a:ext uri="{FF2B5EF4-FFF2-40B4-BE49-F238E27FC236}">
                <a16:creationId xmlns:a16="http://schemas.microsoft.com/office/drawing/2014/main" id="{4107665F-BD3A-36A0-CEB4-C199163C90BB}"/>
              </a:ext>
            </a:extLst>
          </p:cNvPr>
          <p:cNvPicPr>
            <a:picLocks noChangeAspect="1"/>
          </p:cNvPicPr>
          <p:nvPr/>
        </p:nvPicPr>
        <p:blipFill>
          <a:blip r:embed="rId3"/>
          <a:stretch>
            <a:fillRect/>
          </a:stretch>
        </p:blipFill>
        <p:spPr>
          <a:xfrm>
            <a:off x="1976730" y="2875394"/>
            <a:ext cx="2127688" cy="554784"/>
          </a:xfrm>
          <a:prstGeom prst="rect">
            <a:avLst/>
          </a:prstGeom>
        </p:spPr>
      </p:pic>
      <p:sp>
        <p:nvSpPr>
          <p:cNvPr id="34" name="TextBox 33">
            <a:extLst>
              <a:ext uri="{FF2B5EF4-FFF2-40B4-BE49-F238E27FC236}">
                <a16:creationId xmlns:a16="http://schemas.microsoft.com/office/drawing/2014/main" id="{CE76DD29-4EAF-7E0E-E5D1-4BD89437DDA7}"/>
              </a:ext>
            </a:extLst>
          </p:cNvPr>
          <p:cNvSpPr txBox="1"/>
          <p:nvPr/>
        </p:nvSpPr>
        <p:spPr>
          <a:xfrm>
            <a:off x="2580329" y="6333305"/>
            <a:ext cx="7337710" cy="369332"/>
          </a:xfrm>
          <a:prstGeom prst="rect">
            <a:avLst/>
          </a:prstGeom>
          <a:noFill/>
        </p:spPr>
        <p:txBody>
          <a:bodyPr wrap="square" rtlCol="0">
            <a:spAutoFit/>
          </a:bodyPr>
          <a:lstStyle/>
          <a:p>
            <a:r>
              <a:rPr lang="en-US" dirty="0"/>
              <a:t>C1-C6 Receive the Same Encryption Keys in Caesarian Models</a:t>
            </a:r>
          </a:p>
        </p:txBody>
      </p:sp>
    </p:spTree>
    <p:extLst>
      <p:ext uri="{BB962C8B-B14F-4D97-AF65-F5344CB8AC3E}">
        <p14:creationId xmlns:p14="http://schemas.microsoft.com/office/powerpoint/2010/main" val="1192540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D439-070F-0270-B2D9-0A502233E0F2}"/>
              </a:ext>
            </a:extLst>
          </p:cNvPr>
          <p:cNvSpPr>
            <a:spLocks noGrp="1"/>
          </p:cNvSpPr>
          <p:nvPr>
            <p:ph type="title"/>
          </p:nvPr>
        </p:nvSpPr>
        <p:spPr/>
        <p:txBody>
          <a:bodyPr/>
          <a:lstStyle/>
          <a:p>
            <a:r>
              <a:rPr lang="en-US" dirty="0"/>
              <a:t>Encryption - Per Session Models</a:t>
            </a:r>
          </a:p>
        </p:txBody>
      </p:sp>
      <p:sp>
        <p:nvSpPr>
          <p:cNvPr id="3" name="Oval 2">
            <a:extLst>
              <a:ext uri="{FF2B5EF4-FFF2-40B4-BE49-F238E27FC236}">
                <a16:creationId xmlns:a16="http://schemas.microsoft.com/office/drawing/2014/main" id="{99D6497F-2EF0-6708-5065-4354834C77CE}"/>
              </a:ext>
            </a:extLst>
          </p:cNvPr>
          <p:cNvSpPr/>
          <p:nvPr/>
        </p:nvSpPr>
        <p:spPr>
          <a:xfrm>
            <a:off x="1540889" y="1682685"/>
            <a:ext cx="2856321" cy="11500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Hub1</a:t>
            </a:r>
          </a:p>
          <a:p>
            <a:pPr algn="ctr"/>
            <a:r>
              <a:rPr lang="en-US" dirty="0"/>
              <a:t>West</a:t>
            </a:r>
          </a:p>
          <a:p>
            <a:pPr algn="ctr"/>
            <a:r>
              <a:rPr lang="en-US" dirty="0"/>
              <a:t>Web/Rest</a:t>
            </a:r>
          </a:p>
        </p:txBody>
      </p:sp>
      <p:sp>
        <p:nvSpPr>
          <p:cNvPr id="4" name="Oval 3">
            <a:extLst>
              <a:ext uri="{FF2B5EF4-FFF2-40B4-BE49-F238E27FC236}">
                <a16:creationId xmlns:a16="http://schemas.microsoft.com/office/drawing/2014/main" id="{65A2E8E7-2D47-CE8B-F38B-00BEA68F5E4D}"/>
              </a:ext>
            </a:extLst>
          </p:cNvPr>
          <p:cNvSpPr/>
          <p:nvPr/>
        </p:nvSpPr>
        <p:spPr>
          <a:xfrm>
            <a:off x="6249184" y="1686687"/>
            <a:ext cx="2736917" cy="115007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Hub2</a:t>
            </a:r>
          </a:p>
          <a:p>
            <a:pPr algn="ctr"/>
            <a:r>
              <a:rPr lang="en-US" dirty="0"/>
              <a:t>East</a:t>
            </a:r>
          </a:p>
          <a:p>
            <a:pPr algn="ctr"/>
            <a:r>
              <a:rPr lang="en-US" dirty="0"/>
              <a:t>Web/Rest</a:t>
            </a:r>
          </a:p>
        </p:txBody>
      </p:sp>
      <p:sp>
        <p:nvSpPr>
          <p:cNvPr id="5" name="Rectangle: Rounded Corners 4">
            <a:extLst>
              <a:ext uri="{FF2B5EF4-FFF2-40B4-BE49-F238E27FC236}">
                <a16:creationId xmlns:a16="http://schemas.microsoft.com/office/drawing/2014/main" id="{A9326D18-D78B-4097-18E0-D60C5B19FED0}"/>
              </a:ext>
            </a:extLst>
          </p:cNvPr>
          <p:cNvSpPr/>
          <p:nvPr/>
        </p:nvSpPr>
        <p:spPr>
          <a:xfrm>
            <a:off x="5976594" y="5356784"/>
            <a:ext cx="1405379" cy="744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C4</a:t>
            </a:r>
          </a:p>
        </p:txBody>
      </p:sp>
      <p:sp>
        <p:nvSpPr>
          <p:cNvPr id="6" name="Rectangle: Rounded Corners 5">
            <a:extLst>
              <a:ext uri="{FF2B5EF4-FFF2-40B4-BE49-F238E27FC236}">
                <a16:creationId xmlns:a16="http://schemas.microsoft.com/office/drawing/2014/main" id="{FD611F86-81A2-2BB1-619F-BD69F53847D2}"/>
              </a:ext>
            </a:extLst>
          </p:cNvPr>
          <p:cNvSpPr/>
          <p:nvPr/>
        </p:nvSpPr>
        <p:spPr>
          <a:xfrm>
            <a:off x="7579936" y="5356784"/>
            <a:ext cx="1225485" cy="744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C5</a:t>
            </a:r>
          </a:p>
        </p:txBody>
      </p:sp>
      <p:sp>
        <p:nvSpPr>
          <p:cNvPr id="7" name="Rectangle: Rounded Corners 6">
            <a:extLst>
              <a:ext uri="{FF2B5EF4-FFF2-40B4-BE49-F238E27FC236}">
                <a16:creationId xmlns:a16="http://schemas.microsoft.com/office/drawing/2014/main" id="{931EE08D-1045-DEBE-3B13-A92F1F06DF88}"/>
              </a:ext>
            </a:extLst>
          </p:cNvPr>
          <p:cNvSpPr/>
          <p:nvPr/>
        </p:nvSpPr>
        <p:spPr>
          <a:xfrm>
            <a:off x="9003384" y="5356783"/>
            <a:ext cx="1329179" cy="744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C6</a:t>
            </a:r>
          </a:p>
        </p:txBody>
      </p:sp>
      <p:cxnSp>
        <p:nvCxnSpPr>
          <p:cNvPr id="13" name="Straight Arrow Connector 12">
            <a:extLst>
              <a:ext uri="{FF2B5EF4-FFF2-40B4-BE49-F238E27FC236}">
                <a16:creationId xmlns:a16="http://schemas.microsoft.com/office/drawing/2014/main" id="{6FDC2A2C-B81C-0204-AEFC-F10E662B64B9}"/>
              </a:ext>
            </a:extLst>
          </p:cNvPr>
          <p:cNvCxnSpPr/>
          <p:nvPr/>
        </p:nvCxnSpPr>
        <p:spPr>
          <a:xfrm>
            <a:off x="3591612" y="3563332"/>
            <a:ext cx="805598" cy="161198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AEE76C1-EBC6-BD0C-B009-7C335C94C584}"/>
              </a:ext>
            </a:extLst>
          </p:cNvPr>
          <p:cNvCxnSpPr/>
          <p:nvPr/>
        </p:nvCxnSpPr>
        <p:spPr>
          <a:xfrm>
            <a:off x="2960016" y="3563332"/>
            <a:ext cx="0" cy="161198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A55BD20-8BE3-708C-BB20-9DAD3C8B767E}"/>
              </a:ext>
            </a:extLst>
          </p:cNvPr>
          <p:cNvCxnSpPr/>
          <p:nvPr/>
        </p:nvCxnSpPr>
        <p:spPr>
          <a:xfrm flipH="1">
            <a:off x="1310326" y="3497344"/>
            <a:ext cx="848412" cy="167797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2BCB80E2-0E1B-18CF-E2FB-D700ABC2394B}"/>
              </a:ext>
            </a:extLst>
          </p:cNvPr>
          <p:cNvPicPr>
            <a:picLocks noChangeAspect="1"/>
          </p:cNvPicPr>
          <p:nvPr/>
        </p:nvPicPr>
        <p:blipFill>
          <a:blip r:embed="rId2"/>
          <a:stretch>
            <a:fillRect/>
          </a:stretch>
        </p:blipFill>
        <p:spPr>
          <a:xfrm>
            <a:off x="854969" y="5309647"/>
            <a:ext cx="4371211" cy="762066"/>
          </a:xfrm>
          <a:prstGeom prst="rect">
            <a:avLst/>
          </a:prstGeom>
        </p:spPr>
      </p:pic>
      <p:cxnSp>
        <p:nvCxnSpPr>
          <p:cNvPr id="20" name="Straight Arrow Connector 19">
            <a:extLst>
              <a:ext uri="{FF2B5EF4-FFF2-40B4-BE49-F238E27FC236}">
                <a16:creationId xmlns:a16="http://schemas.microsoft.com/office/drawing/2014/main" id="{AD5E9B0F-BF91-6973-D008-F0A706047AF4}"/>
              </a:ext>
            </a:extLst>
          </p:cNvPr>
          <p:cNvCxnSpPr>
            <a:cxnSpLocks/>
          </p:cNvCxnSpPr>
          <p:nvPr/>
        </p:nvCxnSpPr>
        <p:spPr>
          <a:xfrm flipH="1">
            <a:off x="6584229" y="3676454"/>
            <a:ext cx="598996" cy="1633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85EE201-AEFC-FB86-1409-778639EF52A6}"/>
              </a:ext>
            </a:extLst>
          </p:cNvPr>
          <p:cNvCxnSpPr>
            <a:cxnSpLocks/>
            <a:endCxn id="6" idx="0"/>
          </p:cNvCxnSpPr>
          <p:nvPr/>
        </p:nvCxnSpPr>
        <p:spPr>
          <a:xfrm>
            <a:off x="7748046" y="3563332"/>
            <a:ext cx="444633" cy="17934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CE5A1FE-C84D-7594-6EE0-61D6D22E9DEB}"/>
              </a:ext>
            </a:extLst>
          </p:cNvPr>
          <p:cNvCxnSpPr>
            <a:cxnSpLocks/>
          </p:cNvCxnSpPr>
          <p:nvPr/>
        </p:nvCxnSpPr>
        <p:spPr>
          <a:xfrm>
            <a:off x="8352148" y="3429000"/>
            <a:ext cx="1187778" cy="188064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986BA5EA-1476-AD57-10AA-1AB7416244BA}"/>
              </a:ext>
            </a:extLst>
          </p:cNvPr>
          <p:cNvCxnSpPr/>
          <p:nvPr/>
        </p:nvCxnSpPr>
        <p:spPr>
          <a:xfrm>
            <a:off x="4543720" y="2092751"/>
            <a:ext cx="143287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B676DBB-6C84-0A0C-DB72-49C77152EA0A}"/>
              </a:ext>
            </a:extLst>
          </p:cNvPr>
          <p:cNvCxnSpPr/>
          <p:nvPr/>
        </p:nvCxnSpPr>
        <p:spPr>
          <a:xfrm>
            <a:off x="4543720" y="2384982"/>
            <a:ext cx="155228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DCB7EE95-ED9B-65B0-4C36-9EE54B0674E8}"/>
              </a:ext>
            </a:extLst>
          </p:cNvPr>
          <p:cNvSpPr/>
          <p:nvPr/>
        </p:nvSpPr>
        <p:spPr>
          <a:xfrm>
            <a:off x="6584229" y="2925763"/>
            <a:ext cx="2111604" cy="525544"/>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Conc Router2</a:t>
            </a:r>
          </a:p>
        </p:txBody>
      </p:sp>
      <p:pic>
        <p:nvPicPr>
          <p:cNvPr id="33" name="Picture 32">
            <a:extLst>
              <a:ext uri="{FF2B5EF4-FFF2-40B4-BE49-F238E27FC236}">
                <a16:creationId xmlns:a16="http://schemas.microsoft.com/office/drawing/2014/main" id="{4107665F-BD3A-36A0-CEB4-C199163C90BB}"/>
              </a:ext>
            </a:extLst>
          </p:cNvPr>
          <p:cNvPicPr>
            <a:picLocks noChangeAspect="1"/>
          </p:cNvPicPr>
          <p:nvPr/>
        </p:nvPicPr>
        <p:blipFill>
          <a:blip r:embed="rId3"/>
          <a:stretch>
            <a:fillRect/>
          </a:stretch>
        </p:blipFill>
        <p:spPr>
          <a:xfrm>
            <a:off x="1976730" y="2875394"/>
            <a:ext cx="2127688" cy="554784"/>
          </a:xfrm>
          <a:prstGeom prst="rect">
            <a:avLst/>
          </a:prstGeom>
        </p:spPr>
      </p:pic>
      <p:sp>
        <p:nvSpPr>
          <p:cNvPr id="34" name="TextBox 33">
            <a:extLst>
              <a:ext uri="{FF2B5EF4-FFF2-40B4-BE49-F238E27FC236}">
                <a16:creationId xmlns:a16="http://schemas.microsoft.com/office/drawing/2014/main" id="{CE76DD29-4EAF-7E0E-E5D1-4BD89437DDA7}"/>
              </a:ext>
            </a:extLst>
          </p:cNvPr>
          <p:cNvSpPr txBox="1"/>
          <p:nvPr/>
        </p:nvSpPr>
        <p:spPr>
          <a:xfrm>
            <a:off x="2825425" y="6314757"/>
            <a:ext cx="7337710" cy="369332"/>
          </a:xfrm>
          <a:prstGeom prst="rect">
            <a:avLst/>
          </a:prstGeom>
          <a:noFill/>
        </p:spPr>
        <p:txBody>
          <a:bodyPr wrap="square" rtlCol="0">
            <a:spAutoFit/>
          </a:bodyPr>
          <a:lstStyle/>
          <a:p>
            <a:r>
              <a:rPr lang="en-US" dirty="0"/>
              <a:t>C1-C6 Receive Different Keys in Per Session Models</a:t>
            </a:r>
          </a:p>
        </p:txBody>
      </p:sp>
      <p:cxnSp>
        <p:nvCxnSpPr>
          <p:cNvPr id="9" name="Straight Arrow Connector 8">
            <a:extLst>
              <a:ext uri="{FF2B5EF4-FFF2-40B4-BE49-F238E27FC236}">
                <a16:creationId xmlns:a16="http://schemas.microsoft.com/office/drawing/2014/main" id="{498269E0-208E-D868-4513-D2246260D741}"/>
              </a:ext>
            </a:extLst>
          </p:cNvPr>
          <p:cNvCxnSpPr>
            <a:cxnSpLocks/>
          </p:cNvCxnSpPr>
          <p:nvPr/>
        </p:nvCxnSpPr>
        <p:spPr>
          <a:xfrm flipV="1">
            <a:off x="1072101" y="2516957"/>
            <a:ext cx="548031" cy="2792690"/>
          </a:xfrm>
          <a:prstGeom prst="straightConnector1">
            <a:avLst/>
          </a:prstGeom>
          <a:ln>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8C7E167-BE1A-1404-8486-DB64C7A3949F}"/>
              </a:ext>
            </a:extLst>
          </p:cNvPr>
          <p:cNvPicPr>
            <a:picLocks noChangeAspect="1"/>
          </p:cNvPicPr>
          <p:nvPr/>
        </p:nvPicPr>
        <p:blipFill>
          <a:blip r:embed="rId4"/>
          <a:stretch>
            <a:fillRect/>
          </a:stretch>
        </p:blipFill>
        <p:spPr>
          <a:xfrm>
            <a:off x="510671" y="3360656"/>
            <a:ext cx="1103472" cy="499915"/>
          </a:xfrm>
          <a:prstGeom prst="rect">
            <a:avLst/>
          </a:prstGeom>
        </p:spPr>
      </p:pic>
      <p:cxnSp>
        <p:nvCxnSpPr>
          <p:cNvPr id="21" name="Straight Arrow Connector 20">
            <a:extLst>
              <a:ext uri="{FF2B5EF4-FFF2-40B4-BE49-F238E27FC236}">
                <a16:creationId xmlns:a16="http://schemas.microsoft.com/office/drawing/2014/main" id="{F4AE18BF-8EFB-ED8E-81D9-6BF3F61F255B}"/>
              </a:ext>
            </a:extLst>
          </p:cNvPr>
          <p:cNvCxnSpPr/>
          <p:nvPr/>
        </p:nvCxnSpPr>
        <p:spPr>
          <a:xfrm flipH="1" flipV="1">
            <a:off x="8805421" y="2516957"/>
            <a:ext cx="1112618" cy="2792690"/>
          </a:xfrm>
          <a:prstGeom prst="straightConnector1">
            <a:avLst/>
          </a:prstGeom>
          <a:ln>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C9CAC7B-A177-14D5-0125-55DBB665959A}"/>
              </a:ext>
            </a:extLst>
          </p:cNvPr>
          <p:cNvSpPr/>
          <p:nvPr/>
        </p:nvSpPr>
        <p:spPr>
          <a:xfrm>
            <a:off x="8909116" y="3548711"/>
            <a:ext cx="1084083" cy="4807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What Are My Keys - Bootstrap</a:t>
            </a:r>
          </a:p>
        </p:txBody>
      </p:sp>
    </p:spTree>
    <p:extLst>
      <p:ext uri="{BB962C8B-B14F-4D97-AF65-F5344CB8AC3E}">
        <p14:creationId xmlns:p14="http://schemas.microsoft.com/office/powerpoint/2010/main" val="2831735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FEF2-4A2A-A5B1-792F-64A82DC04E94}"/>
              </a:ext>
            </a:extLst>
          </p:cNvPr>
          <p:cNvSpPr>
            <a:spLocks noGrp="1"/>
          </p:cNvSpPr>
          <p:nvPr>
            <p:ph type="title"/>
          </p:nvPr>
        </p:nvSpPr>
        <p:spPr>
          <a:xfrm>
            <a:off x="481945" y="327417"/>
            <a:ext cx="11228109" cy="1325563"/>
          </a:xfrm>
        </p:spPr>
        <p:txBody>
          <a:bodyPr/>
          <a:lstStyle/>
          <a:p>
            <a:r>
              <a:rPr lang="en-US" dirty="0"/>
              <a:t>Some Perspective… Chrome Defaults to AES128</a:t>
            </a:r>
          </a:p>
        </p:txBody>
      </p:sp>
      <p:pic>
        <p:nvPicPr>
          <p:cNvPr id="4" name="Picture 3">
            <a:extLst>
              <a:ext uri="{FF2B5EF4-FFF2-40B4-BE49-F238E27FC236}">
                <a16:creationId xmlns:a16="http://schemas.microsoft.com/office/drawing/2014/main" id="{1D198226-9AA6-0A87-9AF3-DA6ED72F430B}"/>
              </a:ext>
            </a:extLst>
          </p:cNvPr>
          <p:cNvPicPr>
            <a:picLocks noChangeAspect="1"/>
          </p:cNvPicPr>
          <p:nvPr/>
        </p:nvPicPr>
        <p:blipFill>
          <a:blip r:embed="rId2"/>
          <a:stretch>
            <a:fillRect/>
          </a:stretch>
        </p:blipFill>
        <p:spPr>
          <a:xfrm>
            <a:off x="306436" y="1652980"/>
            <a:ext cx="5035420" cy="4146449"/>
          </a:xfrm>
          <a:prstGeom prst="rect">
            <a:avLst/>
          </a:prstGeom>
        </p:spPr>
      </p:pic>
      <p:pic>
        <p:nvPicPr>
          <p:cNvPr id="6" name="Picture 5">
            <a:extLst>
              <a:ext uri="{FF2B5EF4-FFF2-40B4-BE49-F238E27FC236}">
                <a16:creationId xmlns:a16="http://schemas.microsoft.com/office/drawing/2014/main" id="{EB33DA8A-207F-635F-8378-F6B82359D5A7}"/>
              </a:ext>
            </a:extLst>
          </p:cNvPr>
          <p:cNvPicPr>
            <a:picLocks noChangeAspect="1"/>
          </p:cNvPicPr>
          <p:nvPr/>
        </p:nvPicPr>
        <p:blipFill>
          <a:blip r:embed="rId3"/>
          <a:stretch>
            <a:fillRect/>
          </a:stretch>
        </p:blipFill>
        <p:spPr>
          <a:xfrm>
            <a:off x="6466788" y="1385740"/>
            <a:ext cx="4964326" cy="2394408"/>
          </a:xfrm>
          <a:prstGeom prst="rect">
            <a:avLst/>
          </a:prstGeom>
        </p:spPr>
      </p:pic>
      <p:sp>
        <p:nvSpPr>
          <p:cNvPr id="7" name="TextBox 6">
            <a:extLst>
              <a:ext uri="{FF2B5EF4-FFF2-40B4-BE49-F238E27FC236}">
                <a16:creationId xmlns:a16="http://schemas.microsoft.com/office/drawing/2014/main" id="{E3C337DB-7F4C-B057-7638-0F1B1E508873}"/>
              </a:ext>
            </a:extLst>
          </p:cNvPr>
          <p:cNvSpPr txBox="1"/>
          <p:nvPr/>
        </p:nvSpPr>
        <p:spPr>
          <a:xfrm>
            <a:off x="10162095" y="2432115"/>
            <a:ext cx="1269019" cy="923330"/>
          </a:xfrm>
          <a:prstGeom prst="rect">
            <a:avLst/>
          </a:prstGeom>
          <a:noFill/>
        </p:spPr>
        <p:txBody>
          <a:bodyPr wrap="square" rtlCol="0">
            <a:spAutoFit/>
          </a:bodyPr>
          <a:lstStyle/>
          <a:p>
            <a:r>
              <a:rPr lang="en-US" dirty="0"/>
              <a:t>SC.EDU TO BING… AES256</a:t>
            </a:r>
          </a:p>
        </p:txBody>
      </p:sp>
      <p:pic>
        <p:nvPicPr>
          <p:cNvPr id="9" name="Picture 8">
            <a:extLst>
              <a:ext uri="{FF2B5EF4-FFF2-40B4-BE49-F238E27FC236}">
                <a16:creationId xmlns:a16="http://schemas.microsoft.com/office/drawing/2014/main" id="{DF02CD48-8002-6289-CE0F-BBC5B1113DA5}"/>
              </a:ext>
            </a:extLst>
          </p:cNvPr>
          <p:cNvPicPr>
            <a:picLocks noChangeAspect="1"/>
          </p:cNvPicPr>
          <p:nvPr/>
        </p:nvPicPr>
        <p:blipFill>
          <a:blip r:embed="rId4"/>
          <a:stretch>
            <a:fillRect/>
          </a:stretch>
        </p:blipFill>
        <p:spPr>
          <a:xfrm>
            <a:off x="6336904" y="4015819"/>
            <a:ext cx="5373150" cy="2670790"/>
          </a:xfrm>
          <a:prstGeom prst="rect">
            <a:avLst/>
          </a:prstGeom>
        </p:spPr>
      </p:pic>
      <p:sp>
        <p:nvSpPr>
          <p:cNvPr id="10" name="TextBox 9">
            <a:extLst>
              <a:ext uri="{FF2B5EF4-FFF2-40B4-BE49-F238E27FC236}">
                <a16:creationId xmlns:a16="http://schemas.microsoft.com/office/drawing/2014/main" id="{201497F4-1C05-1F6C-2B3F-E673C807D10D}"/>
              </a:ext>
            </a:extLst>
          </p:cNvPr>
          <p:cNvSpPr txBox="1"/>
          <p:nvPr/>
        </p:nvSpPr>
        <p:spPr>
          <a:xfrm>
            <a:off x="10011266" y="5213023"/>
            <a:ext cx="1419848" cy="923330"/>
          </a:xfrm>
          <a:prstGeom prst="rect">
            <a:avLst/>
          </a:prstGeom>
          <a:noFill/>
        </p:spPr>
        <p:txBody>
          <a:bodyPr wrap="square" rtlCol="0">
            <a:spAutoFit/>
          </a:bodyPr>
          <a:lstStyle/>
          <a:p>
            <a:r>
              <a:rPr lang="en-US" dirty="0"/>
              <a:t>SC.EDU</a:t>
            </a:r>
          </a:p>
          <a:p>
            <a:r>
              <a:rPr lang="en-US" dirty="0"/>
              <a:t>TO RENDER</a:t>
            </a:r>
          </a:p>
          <a:p>
            <a:r>
              <a:rPr lang="en-US" dirty="0"/>
              <a:t>AES128</a:t>
            </a:r>
          </a:p>
        </p:txBody>
      </p:sp>
    </p:spTree>
    <p:extLst>
      <p:ext uri="{BB962C8B-B14F-4D97-AF65-F5344CB8AC3E}">
        <p14:creationId xmlns:p14="http://schemas.microsoft.com/office/powerpoint/2010/main" val="224273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E6F2B-A36B-8259-A9C4-C2C47D21CCEA}"/>
              </a:ext>
            </a:extLst>
          </p:cNvPr>
          <p:cNvSpPr>
            <a:spLocks noGrp="1"/>
          </p:cNvSpPr>
          <p:nvPr>
            <p:ph type="title"/>
          </p:nvPr>
        </p:nvSpPr>
        <p:spPr/>
        <p:txBody>
          <a:bodyPr/>
          <a:lstStyle/>
          <a:p>
            <a:r>
              <a:rPr lang="en-US" dirty="0"/>
              <a:t>Cipher Operations</a:t>
            </a:r>
          </a:p>
        </p:txBody>
      </p:sp>
      <p:sp>
        <p:nvSpPr>
          <p:cNvPr id="3" name="TextBox 2">
            <a:extLst>
              <a:ext uri="{FF2B5EF4-FFF2-40B4-BE49-F238E27FC236}">
                <a16:creationId xmlns:a16="http://schemas.microsoft.com/office/drawing/2014/main" id="{73610474-3129-F1F0-2A5D-70823BBF0C97}"/>
              </a:ext>
            </a:extLst>
          </p:cNvPr>
          <p:cNvSpPr txBox="1"/>
          <p:nvPr/>
        </p:nvSpPr>
        <p:spPr>
          <a:xfrm>
            <a:off x="8248473" y="4128940"/>
            <a:ext cx="3318235" cy="646331"/>
          </a:xfrm>
          <a:prstGeom prst="rect">
            <a:avLst/>
          </a:prstGeom>
          <a:noFill/>
        </p:spPr>
        <p:txBody>
          <a:bodyPr wrap="square" rtlCol="0">
            <a:spAutoFit/>
          </a:bodyPr>
          <a:lstStyle/>
          <a:p>
            <a:r>
              <a:rPr lang="en-US" dirty="0"/>
              <a:t>Plain Text Block Assumed to be 1460 Bytes/characters at Base</a:t>
            </a:r>
          </a:p>
        </p:txBody>
      </p:sp>
      <p:pic>
        <p:nvPicPr>
          <p:cNvPr id="5" name="Picture 4">
            <a:extLst>
              <a:ext uri="{FF2B5EF4-FFF2-40B4-BE49-F238E27FC236}">
                <a16:creationId xmlns:a16="http://schemas.microsoft.com/office/drawing/2014/main" id="{6AA63445-3BE0-90ED-8E04-79674F4DEF39}"/>
              </a:ext>
            </a:extLst>
          </p:cNvPr>
          <p:cNvPicPr>
            <a:picLocks noChangeAspect="1"/>
          </p:cNvPicPr>
          <p:nvPr/>
        </p:nvPicPr>
        <p:blipFill>
          <a:blip r:embed="rId2"/>
          <a:stretch>
            <a:fillRect/>
          </a:stretch>
        </p:blipFill>
        <p:spPr>
          <a:xfrm>
            <a:off x="7880808" y="474423"/>
            <a:ext cx="4053567" cy="3334296"/>
          </a:xfrm>
          <a:prstGeom prst="rect">
            <a:avLst/>
          </a:prstGeom>
          <a:solidFill>
            <a:schemeClr val="bg1"/>
          </a:solidFill>
          <a:ln w="60325">
            <a:solidFill>
              <a:schemeClr val="accent2">
                <a:lumMod val="60000"/>
                <a:lumOff val="40000"/>
              </a:schemeClr>
            </a:solidFill>
          </a:ln>
        </p:spPr>
      </p:pic>
      <p:sp>
        <p:nvSpPr>
          <p:cNvPr id="6" name="TextBox 5">
            <a:extLst>
              <a:ext uri="{FF2B5EF4-FFF2-40B4-BE49-F238E27FC236}">
                <a16:creationId xmlns:a16="http://schemas.microsoft.com/office/drawing/2014/main" id="{C93E5FAA-4EA5-FB9E-86D2-A109CA9146F9}"/>
              </a:ext>
            </a:extLst>
          </p:cNvPr>
          <p:cNvSpPr txBox="1"/>
          <p:nvPr/>
        </p:nvSpPr>
        <p:spPr>
          <a:xfrm>
            <a:off x="339366" y="2141571"/>
            <a:ext cx="1197204" cy="369332"/>
          </a:xfrm>
          <a:prstGeom prst="rect">
            <a:avLst/>
          </a:prstGeom>
          <a:noFill/>
        </p:spPr>
        <p:txBody>
          <a:bodyPr wrap="square" rtlCol="0">
            <a:spAutoFit/>
          </a:bodyPr>
          <a:lstStyle/>
          <a:p>
            <a:r>
              <a:rPr lang="en-US" dirty="0"/>
              <a:t>Plain Text</a:t>
            </a:r>
          </a:p>
        </p:txBody>
      </p:sp>
      <p:cxnSp>
        <p:nvCxnSpPr>
          <p:cNvPr id="8" name="Straight Arrow Connector 7">
            <a:extLst>
              <a:ext uri="{FF2B5EF4-FFF2-40B4-BE49-F238E27FC236}">
                <a16:creationId xmlns:a16="http://schemas.microsoft.com/office/drawing/2014/main" id="{411E9719-89A2-2D33-993F-5A053A346193}"/>
              </a:ext>
            </a:extLst>
          </p:cNvPr>
          <p:cNvCxnSpPr>
            <a:stCxn id="6" idx="3"/>
          </p:cNvCxnSpPr>
          <p:nvPr/>
        </p:nvCxnSpPr>
        <p:spPr>
          <a:xfrm flipV="1">
            <a:off x="1536570" y="2309567"/>
            <a:ext cx="801277" cy="166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7DAC8E0-2D77-F858-AC3B-8B38CDC41BC8}"/>
              </a:ext>
            </a:extLst>
          </p:cNvPr>
          <p:cNvSpPr txBox="1"/>
          <p:nvPr/>
        </p:nvSpPr>
        <p:spPr>
          <a:xfrm>
            <a:off x="2554664" y="2055043"/>
            <a:ext cx="1894787" cy="646331"/>
          </a:xfrm>
          <a:prstGeom prst="rect">
            <a:avLst/>
          </a:prstGeom>
          <a:noFill/>
          <a:ln>
            <a:solidFill>
              <a:schemeClr val="accent1"/>
            </a:solidFill>
          </a:ln>
        </p:spPr>
        <p:txBody>
          <a:bodyPr wrap="square" rtlCol="0">
            <a:spAutoFit/>
          </a:bodyPr>
          <a:lstStyle/>
          <a:p>
            <a:r>
              <a:rPr lang="en-US" dirty="0"/>
              <a:t>ASCII Text</a:t>
            </a:r>
          </a:p>
          <a:p>
            <a:r>
              <a:rPr lang="en-US" dirty="0"/>
              <a:t>8 bit encoding</a:t>
            </a:r>
          </a:p>
        </p:txBody>
      </p:sp>
      <p:cxnSp>
        <p:nvCxnSpPr>
          <p:cNvPr id="11" name="Straight Arrow Connector 10">
            <a:extLst>
              <a:ext uri="{FF2B5EF4-FFF2-40B4-BE49-F238E27FC236}">
                <a16:creationId xmlns:a16="http://schemas.microsoft.com/office/drawing/2014/main" id="{16FD5F50-ADCD-0FC9-23FA-34D5B7ABEEDF}"/>
              </a:ext>
            </a:extLst>
          </p:cNvPr>
          <p:cNvCxnSpPr>
            <a:cxnSpLocks/>
            <a:stCxn id="9" idx="3"/>
            <a:endCxn id="12" idx="1"/>
          </p:cNvCxnSpPr>
          <p:nvPr/>
        </p:nvCxnSpPr>
        <p:spPr>
          <a:xfrm flipV="1">
            <a:off x="4449451" y="1812946"/>
            <a:ext cx="735290" cy="565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09E1142-9625-4D61-4134-2D8BA15AEEA8}"/>
              </a:ext>
            </a:extLst>
          </p:cNvPr>
          <p:cNvSpPr txBox="1"/>
          <p:nvPr/>
        </p:nvSpPr>
        <p:spPr>
          <a:xfrm>
            <a:off x="5184741" y="1351281"/>
            <a:ext cx="2441543" cy="923330"/>
          </a:xfrm>
          <a:prstGeom prst="rect">
            <a:avLst/>
          </a:prstGeom>
          <a:noFill/>
        </p:spPr>
        <p:txBody>
          <a:bodyPr wrap="square" rtlCol="0">
            <a:spAutoFit/>
          </a:bodyPr>
          <a:lstStyle/>
          <a:p>
            <a:r>
              <a:rPr lang="en-US" dirty="0"/>
              <a:t>Key0 – Generates A0 of Key Text Shifted 96 positions to the right.</a:t>
            </a:r>
          </a:p>
        </p:txBody>
      </p:sp>
      <p:cxnSp>
        <p:nvCxnSpPr>
          <p:cNvPr id="14" name="Straight Arrow Connector 13">
            <a:extLst>
              <a:ext uri="{FF2B5EF4-FFF2-40B4-BE49-F238E27FC236}">
                <a16:creationId xmlns:a16="http://schemas.microsoft.com/office/drawing/2014/main" id="{5FD2B54E-31B1-2379-36EF-D92E9D1C6636}"/>
              </a:ext>
            </a:extLst>
          </p:cNvPr>
          <p:cNvCxnSpPr>
            <a:cxnSpLocks/>
          </p:cNvCxnSpPr>
          <p:nvPr/>
        </p:nvCxnSpPr>
        <p:spPr>
          <a:xfrm flipV="1">
            <a:off x="4449451" y="2644081"/>
            <a:ext cx="707009" cy="572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CB699B6-4096-CF5A-55DD-89B40FF1598B}"/>
              </a:ext>
            </a:extLst>
          </p:cNvPr>
          <p:cNvSpPr txBox="1"/>
          <p:nvPr/>
        </p:nvSpPr>
        <p:spPr>
          <a:xfrm>
            <a:off x="5326142" y="2326237"/>
            <a:ext cx="2121031" cy="1200329"/>
          </a:xfrm>
          <a:prstGeom prst="rect">
            <a:avLst/>
          </a:prstGeom>
          <a:noFill/>
        </p:spPr>
        <p:txBody>
          <a:bodyPr wrap="square" rtlCol="0">
            <a:spAutoFit/>
          </a:bodyPr>
          <a:lstStyle/>
          <a:p>
            <a:r>
              <a:rPr lang="en-US" dirty="0"/>
              <a:t>Key1 – Generates A1 or Key Text Shifted </a:t>
            </a:r>
            <a:r>
              <a:rPr lang="en-US" dirty="0" err="1"/>
              <a:t>BaseShift</a:t>
            </a:r>
            <a:r>
              <a:rPr lang="en-US" dirty="0"/>
              <a:t> + NTP(MOY)</a:t>
            </a:r>
          </a:p>
        </p:txBody>
      </p:sp>
      <p:cxnSp>
        <p:nvCxnSpPr>
          <p:cNvPr id="17" name="Straight Arrow Connector 16">
            <a:extLst>
              <a:ext uri="{FF2B5EF4-FFF2-40B4-BE49-F238E27FC236}">
                <a16:creationId xmlns:a16="http://schemas.microsoft.com/office/drawing/2014/main" id="{8452C989-7D22-232E-F677-9E203238FFE2}"/>
              </a:ext>
            </a:extLst>
          </p:cNvPr>
          <p:cNvCxnSpPr>
            <a:cxnSpLocks/>
          </p:cNvCxnSpPr>
          <p:nvPr/>
        </p:nvCxnSpPr>
        <p:spPr>
          <a:xfrm>
            <a:off x="4374037" y="2809188"/>
            <a:ext cx="952105" cy="9832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341AEC6-975A-10FC-CC0E-AC33403A7652}"/>
              </a:ext>
            </a:extLst>
          </p:cNvPr>
          <p:cNvSpPr txBox="1"/>
          <p:nvPr/>
        </p:nvSpPr>
        <p:spPr>
          <a:xfrm>
            <a:off x="5388989" y="3578192"/>
            <a:ext cx="2337847" cy="646331"/>
          </a:xfrm>
          <a:prstGeom prst="rect">
            <a:avLst/>
          </a:prstGeom>
          <a:noFill/>
        </p:spPr>
        <p:txBody>
          <a:bodyPr wrap="square" rtlCol="0">
            <a:spAutoFit/>
          </a:bodyPr>
          <a:lstStyle/>
          <a:p>
            <a:r>
              <a:rPr lang="en-US" dirty="0"/>
              <a:t>Key2 – Generates A2 = K1 + NTP(DOM)</a:t>
            </a:r>
          </a:p>
        </p:txBody>
      </p:sp>
      <p:cxnSp>
        <p:nvCxnSpPr>
          <p:cNvPr id="20" name="Straight Arrow Connector 19">
            <a:extLst>
              <a:ext uri="{FF2B5EF4-FFF2-40B4-BE49-F238E27FC236}">
                <a16:creationId xmlns:a16="http://schemas.microsoft.com/office/drawing/2014/main" id="{A7D8C971-DFD0-77EF-1A94-C6951B87F90E}"/>
              </a:ext>
            </a:extLst>
          </p:cNvPr>
          <p:cNvCxnSpPr>
            <a:cxnSpLocks/>
          </p:cNvCxnSpPr>
          <p:nvPr/>
        </p:nvCxnSpPr>
        <p:spPr>
          <a:xfrm>
            <a:off x="4128940" y="2809188"/>
            <a:ext cx="1106077" cy="16118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1CB330BF-ED95-5D0F-A02B-2CF80CF16DB5}"/>
              </a:ext>
            </a:extLst>
          </p:cNvPr>
          <p:cNvSpPr txBox="1"/>
          <p:nvPr/>
        </p:nvSpPr>
        <p:spPr>
          <a:xfrm>
            <a:off x="5321429" y="4234798"/>
            <a:ext cx="2337847" cy="646331"/>
          </a:xfrm>
          <a:prstGeom prst="rect">
            <a:avLst/>
          </a:prstGeom>
          <a:noFill/>
        </p:spPr>
        <p:txBody>
          <a:bodyPr wrap="square" rtlCol="0">
            <a:spAutoFit/>
          </a:bodyPr>
          <a:lstStyle/>
          <a:p>
            <a:r>
              <a:rPr lang="en-US" dirty="0"/>
              <a:t>Key3 – Generates</a:t>
            </a:r>
          </a:p>
          <a:p>
            <a:r>
              <a:rPr lang="en-US" dirty="0"/>
              <a:t>A3 = K2 +3</a:t>
            </a:r>
          </a:p>
        </p:txBody>
      </p:sp>
      <p:sp>
        <p:nvSpPr>
          <p:cNvPr id="23" name="TextBox 22">
            <a:extLst>
              <a:ext uri="{FF2B5EF4-FFF2-40B4-BE49-F238E27FC236}">
                <a16:creationId xmlns:a16="http://schemas.microsoft.com/office/drawing/2014/main" id="{3387408B-9798-C1A1-A0C7-5C0FD7163BD2}"/>
              </a:ext>
            </a:extLst>
          </p:cNvPr>
          <p:cNvSpPr txBox="1"/>
          <p:nvPr/>
        </p:nvSpPr>
        <p:spPr>
          <a:xfrm>
            <a:off x="5439264" y="5029271"/>
            <a:ext cx="2007910" cy="646331"/>
          </a:xfrm>
          <a:prstGeom prst="rect">
            <a:avLst/>
          </a:prstGeom>
          <a:noFill/>
        </p:spPr>
        <p:txBody>
          <a:bodyPr wrap="square" rtlCol="0">
            <a:spAutoFit/>
          </a:bodyPr>
          <a:lstStyle/>
          <a:p>
            <a:r>
              <a:rPr lang="en-US" dirty="0"/>
              <a:t>Key4 – Generates</a:t>
            </a:r>
          </a:p>
          <a:p>
            <a:r>
              <a:rPr lang="en-US" dirty="0"/>
              <a:t>A4 = K3 + 4</a:t>
            </a:r>
          </a:p>
        </p:txBody>
      </p:sp>
      <p:sp>
        <p:nvSpPr>
          <p:cNvPr id="24" name="TextBox 23">
            <a:extLst>
              <a:ext uri="{FF2B5EF4-FFF2-40B4-BE49-F238E27FC236}">
                <a16:creationId xmlns:a16="http://schemas.microsoft.com/office/drawing/2014/main" id="{7A317B41-82A1-E87D-92CB-DE112565C9F4}"/>
              </a:ext>
            </a:extLst>
          </p:cNvPr>
          <p:cNvSpPr txBox="1"/>
          <p:nvPr/>
        </p:nvSpPr>
        <p:spPr>
          <a:xfrm>
            <a:off x="8521831" y="5646656"/>
            <a:ext cx="3516198" cy="646331"/>
          </a:xfrm>
          <a:prstGeom prst="rect">
            <a:avLst/>
          </a:prstGeom>
          <a:noFill/>
        </p:spPr>
        <p:txBody>
          <a:bodyPr wrap="square" rtlCol="0">
            <a:spAutoFit/>
          </a:bodyPr>
          <a:lstStyle/>
          <a:p>
            <a:r>
              <a:rPr lang="en-US" dirty="0"/>
              <a:t>Key Max in Default =</a:t>
            </a:r>
          </a:p>
          <a:p>
            <a:r>
              <a:rPr lang="en-US" dirty="0"/>
              <a:t>96+12+31+3+4+5</a:t>
            </a:r>
          </a:p>
        </p:txBody>
      </p:sp>
      <p:cxnSp>
        <p:nvCxnSpPr>
          <p:cNvPr id="26" name="Straight Arrow Connector 25">
            <a:extLst>
              <a:ext uri="{FF2B5EF4-FFF2-40B4-BE49-F238E27FC236}">
                <a16:creationId xmlns:a16="http://schemas.microsoft.com/office/drawing/2014/main" id="{988AC912-5E78-1E82-FC59-FC68CABACC60}"/>
              </a:ext>
            </a:extLst>
          </p:cNvPr>
          <p:cNvCxnSpPr>
            <a:cxnSpLocks/>
          </p:cNvCxnSpPr>
          <p:nvPr/>
        </p:nvCxnSpPr>
        <p:spPr>
          <a:xfrm>
            <a:off x="3817856" y="2809188"/>
            <a:ext cx="1503573" cy="2469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FB3AB810-F117-8A52-2235-F9C771F88EB2}"/>
              </a:ext>
            </a:extLst>
          </p:cNvPr>
          <p:cNvSpPr txBox="1"/>
          <p:nvPr/>
        </p:nvSpPr>
        <p:spPr>
          <a:xfrm>
            <a:off x="5448690" y="5788861"/>
            <a:ext cx="2083323" cy="646331"/>
          </a:xfrm>
          <a:prstGeom prst="rect">
            <a:avLst/>
          </a:prstGeom>
          <a:noFill/>
        </p:spPr>
        <p:txBody>
          <a:bodyPr wrap="square" rtlCol="0">
            <a:spAutoFit/>
          </a:bodyPr>
          <a:lstStyle/>
          <a:p>
            <a:r>
              <a:rPr lang="en-US" dirty="0"/>
              <a:t>Key(N) – Generates</a:t>
            </a:r>
          </a:p>
          <a:p>
            <a:r>
              <a:rPr lang="en-US" dirty="0"/>
              <a:t>AN-1 = KN-1 + N</a:t>
            </a:r>
          </a:p>
        </p:txBody>
      </p:sp>
      <p:sp>
        <p:nvSpPr>
          <p:cNvPr id="36" name="TextBox 35">
            <a:extLst>
              <a:ext uri="{FF2B5EF4-FFF2-40B4-BE49-F238E27FC236}">
                <a16:creationId xmlns:a16="http://schemas.microsoft.com/office/drawing/2014/main" id="{AFF2A619-9A48-68B5-B4CF-F7BD2606E744}"/>
              </a:ext>
            </a:extLst>
          </p:cNvPr>
          <p:cNvSpPr txBox="1"/>
          <p:nvPr/>
        </p:nvSpPr>
        <p:spPr>
          <a:xfrm>
            <a:off x="2438410" y="4289481"/>
            <a:ext cx="2758891" cy="1754326"/>
          </a:xfrm>
          <a:prstGeom prst="rect">
            <a:avLst/>
          </a:prstGeom>
          <a:noFill/>
        </p:spPr>
        <p:txBody>
          <a:bodyPr wrap="square" rtlCol="0">
            <a:spAutoFit/>
          </a:bodyPr>
          <a:lstStyle/>
          <a:p>
            <a:r>
              <a:rPr lang="en-US" dirty="0"/>
              <a:t>5 Arrays Are Built in Default Model on Client Bootstrap. These are essentially just binary values shifted in the Key Value.</a:t>
            </a:r>
          </a:p>
        </p:txBody>
      </p:sp>
    </p:spTree>
    <p:extLst>
      <p:ext uri="{BB962C8B-B14F-4D97-AF65-F5344CB8AC3E}">
        <p14:creationId xmlns:p14="http://schemas.microsoft.com/office/powerpoint/2010/main" val="1054189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D4C49-565B-F231-E84A-C79E64126BEC}"/>
              </a:ext>
            </a:extLst>
          </p:cNvPr>
          <p:cNvSpPr>
            <a:spLocks noGrp="1"/>
          </p:cNvSpPr>
          <p:nvPr>
            <p:ph type="title"/>
          </p:nvPr>
        </p:nvSpPr>
        <p:spPr>
          <a:xfrm>
            <a:off x="838200" y="365126"/>
            <a:ext cx="10515600" cy="369332"/>
          </a:xfrm>
        </p:spPr>
        <p:txBody>
          <a:bodyPr>
            <a:normAutofit fontScale="90000"/>
          </a:bodyPr>
          <a:lstStyle/>
          <a:p>
            <a:r>
              <a:rPr lang="en-US" dirty="0"/>
              <a:t>The BASICS OF THE COCKEY CIPHER</a:t>
            </a:r>
          </a:p>
        </p:txBody>
      </p:sp>
      <p:sp>
        <p:nvSpPr>
          <p:cNvPr id="3" name="Rectangle 2">
            <a:extLst>
              <a:ext uri="{FF2B5EF4-FFF2-40B4-BE49-F238E27FC236}">
                <a16:creationId xmlns:a16="http://schemas.microsoft.com/office/drawing/2014/main" id="{F8F76321-658B-9E64-AE08-B8D0DCCFE64D}"/>
              </a:ext>
            </a:extLst>
          </p:cNvPr>
          <p:cNvSpPr/>
          <p:nvPr/>
        </p:nvSpPr>
        <p:spPr>
          <a:xfrm>
            <a:off x="1498860" y="1414683"/>
            <a:ext cx="1065229" cy="754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5" name="Straight Arrow Connector 4">
            <a:extLst>
              <a:ext uri="{FF2B5EF4-FFF2-40B4-BE49-F238E27FC236}">
                <a16:creationId xmlns:a16="http://schemas.microsoft.com/office/drawing/2014/main" id="{7255C828-56A0-E206-CD3C-12DFEF0B3AAE}"/>
              </a:ext>
            </a:extLst>
          </p:cNvPr>
          <p:cNvCxnSpPr/>
          <p:nvPr/>
        </p:nvCxnSpPr>
        <p:spPr>
          <a:xfrm>
            <a:off x="2696065" y="1791755"/>
            <a:ext cx="60991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0CB862E1-4A85-AE76-0A5D-44D5EFF5C0AA}"/>
              </a:ext>
            </a:extLst>
          </p:cNvPr>
          <p:cNvSpPr/>
          <p:nvPr/>
        </p:nvSpPr>
        <p:spPr>
          <a:xfrm>
            <a:off x="8927183" y="1339276"/>
            <a:ext cx="1225484" cy="829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256</a:t>
            </a:r>
          </a:p>
        </p:txBody>
      </p:sp>
      <p:pic>
        <p:nvPicPr>
          <p:cNvPr id="8" name="Picture 7">
            <a:extLst>
              <a:ext uri="{FF2B5EF4-FFF2-40B4-BE49-F238E27FC236}">
                <a16:creationId xmlns:a16="http://schemas.microsoft.com/office/drawing/2014/main" id="{CFC35269-3171-980F-070F-3A800D6BB490}"/>
              </a:ext>
            </a:extLst>
          </p:cNvPr>
          <p:cNvPicPr>
            <a:picLocks noChangeAspect="1"/>
          </p:cNvPicPr>
          <p:nvPr/>
        </p:nvPicPr>
        <p:blipFill>
          <a:blip r:embed="rId2"/>
          <a:stretch>
            <a:fillRect/>
          </a:stretch>
        </p:blipFill>
        <p:spPr>
          <a:xfrm>
            <a:off x="1498860" y="2487479"/>
            <a:ext cx="8675360" cy="847417"/>
          </a:xfrm>
          <a:prstGeom prst="rect">
            <a:avLst/>
          </a:prstGeom>
        </p:spPr>
      </p:pic>
      <p:pic>
        <p:nvPicPr>
          <p:cNvPr id="9" name="Picture 8">
            <a:extLst>
              <a:ext uri="{FF2B5EF4-FFF2-40B4-BE49-F238E27FC236}">
                <a16:creationId xmlns:a16="http://schemas.microsoft.com/office/drawing/2014/main" id="{CB6475BF-CACD-774A-619E-496546252593}"/>
              </a:ext>
            </a:extLst>
          </p:cNvPr>
          <p:cNvPicPr>
            <a:picLocks noChangeAspect="1"/>
          </p:cNvPicPr>
          <p:nvPr/>
        </p:nvPicPr>
        <p:blipFill>
          <a:blip r:embed="rId2"/>
          <a:stretch>
            <a:fillRect/>
          </a:stretch>
        </p:blipFill>
        <p:spPr>
          <a:xfrm>
            <a:off x="1477307" y="3606910"/>
            <a:ext cx="8675360" cy="847417"/>
          </a:xfrm>
          <a:prstGeom prst="rect">
            <a:avLst/>
          </a:prstGeom>
        </p:spPr>
      </p:pic>
      <p:pic>
        <p:nvPicPr>
          <p:cNvPr id="10" name="Picture 9">
            <a:extLst>
              <a:ext uri="{FF2B5EF4-FFF2-40B4-BE49-F238E27FC236}">
                <a16:creationId xmlns:a16="http://schemas.microsoft.com/office/drawing/2014/main" id="{84E6EBD4-1599-AB62-B161-7E9A43912E1B}"/>
              </a:ext>
            </a:extLst>
          </p:cNvPr>
          <p:cNvPicPr>
            <a:picLocks noChangeAspect="1"/>
          </p:cNvPicPr>
          <p:nvPr/>
        </p:nvPicPr>
        <p:blipFill>
          <a:blip r:embed="rId2"/>
          <a:stretch>
            <a:fillRect/>
          </a:stretch>
        </p:blipFill>
        <p:spPr>
          <a:xfrm>
            <a:off x="1498860" y="4626184"/>
            <a:ext cx="8675360" cy="847417"/>
          </a:xfrm>
          <a:prstGeom prst="rect">
            <a:avLst/>
          </a:prstGeom>
        </p:spPr>
      </p:pic>
      <p:pic>
        <p:nvPicPr>
          <p:cNvPr id="11" name="Picture 10">
            <a:extLst>
              <a:ext uri="{FF2B5EF4-FFF2-40B4-BE49-F238E27FC236}">
                <a16:creationId xmlns:a16="http://schemas.microsoft.com/office/drawing/2014/main" id="{6697102D-8792-C304-35EB-8B42C60B1C93}"/>
              </a:ext>
            </a:extLst>
          </p:cNvPr>
          <p:cNvPicPr>
            <a:picLocks noChangeAspect="1"/>
          </p:cNvPicPr>
          <p:nvPr/>
        </p:nvPicPr>
        <p:blipFill>
          <a:blip r:embed="rId2"/>
          <a:stretch>
            <a:fillRect/>
          </a:stretch>
        </p:blipFill>
        <p:spPr>
          <a:xfrm>
            <a:off x="1498860" y="5645458"/>
            <a:ext cx="8675360" cy="847417"/>
          </a:xfrm>
          <a:prstGeom prst="rect">
            <a:avLst/>
          </a:prstGeom>
        </p:spPr>
      </p:pic>
      <p:sp>
        <p:nvSpPr>
          <p:cNvPr id="12" name="TextBox 11">
            <a:extLst>
              <a:ext uri="{FF2B5EF4-FFF2-40B4-BE49-F238E27FC236}">
                <a16:creationId xmlns:a16="http://schemas.microsoft.com/office/drawing/2014/main" id="{78D72CE6-8175-5E40-8C79-6118045D01EC}"/>
              </a:ext>
            </a:extLst>
          </p:cNvPr>
          <p:cNvSpPr txBox="1"/>
          <p:nvPr/>
        </p:nvSpPr>
        <p:spPr>
          <a:xfrm>
            <a:off x="546361" y="1556556"/>
            <a:ext cx="1244338" cy="369332"/>
          </a:xfrm>
          <a:prstGeom prst="rect">
            <a:avLst/>
          </a:prstGeom>
          <a:noFill/>
        </p:spPr>
        <p:txBody>
          <a:bodyPr wrap="square" rtlCol="0">
            <a:spAutoFit/>
          </a:bodyPr>
          <a:lstStyle/>
          <a:p>
            <a:r>
              <a:rPr lang="en-US" dirty="0"/>
              <a:t>Key1</a:t>
            </a:r>
          </a:p>
        </p:txBody>
      </p:sp>
      <p:cxnSp>
        <p:nvCxnSpPr>
          <p:cNvPr id="14" name="Straight Arrow Connector 13">
            <a:extLst>
              <a:ext uri="{FF2B5EF4-FFF2-40B4-BE49-F238E27FC236}">
                <a16:creationId xmlns:a16="http://schemas.microsoft.com/office/drawing/2014/main" id="{AB7C4090-1E0B-EDBC-979E-920FE7F61358}"/>
              </a:ext>
            </a:extLst>
          </p:cNvPr>
          <p:cNvCxnSpPr/>
          <p:nvPr/>
        </p:nvCxnSpPr>
        <p:spPr>
          <a:xfrm>
            <a:off x="838200" y="1925888"/>
            <a:ext cx="0" cy="42863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1B6AEA9-868A-F94D-54CC-116052B0B8F4}"/>
              </a:ext>
            </a:extLst>
          </p:cNvPr>
          <p:cNvSpPr txBox="1"/>
          <p:nvPr/>
        </p:nvSpPr>
        <p:spPr>
          <a:xfrm>
            <a:off x="443060" y="6212264"/>
            <a:ext cx="857839" cy="369332"/>
          </a:xfrm>
          <a:prstGeom prst="rect">
            <a:avLst/>
          </a:prstGeom>
          <a:noFill/>
        </p:spPr>
        <p:txBody>
          <a:bodyPr wrap="square" rtlCol="0">
            <a:spAutoFit/>
          </a:bodyPr>
          <a:lstStyle/>
          <a:p>
            <a:r>
              <a:rPr lang="en-US" dirty="0"/>
              <a:t>Key(n)</a:t>
            </a:r>
          </a:p>
        </p:txBody>
      </p:sp>
      <p:sp>
        <p:nvSpPr>
          <p:cNvPr id="16" name="TextBox 15">
            <a:extLst>
              <a:ext uri="{FF2B5EF4-FFF2-40B4-BE49-F238E27FC236}">
                <a16:creationId xmlns:a16="http://schemas.microsoft.com/office/drawing/2014/main" id="{1D6AE122-D820-3977-E431-D52C40E42EF2}"/>
              </a:ext>
            </a:extLst>
          </p:cNvPr>
          <p:cNvSpPr txBox="1"/>
          <p:nvPr/>
        </p:nvSpPr>
        <p:spPr>
          <a:xfrm>
            <a:off x="316752" y="852201"/>
            <a:ext cx="11039575" cy="369332"/>
          </a:xfrm>
          <a:prstGeom prst="rect">
            <a:avLst/>
          </a:prstGeom>
          <a:noFill/>
        </p:spPr>
        <p:txBody>
          <a:bodyPr wrap="square" rtlCol="0">
            <a:spAutoFit/>
          </a:bodyPr>
          <a:lstStyle/>
          <a:p>
            <a:r>
              <a:rPr lang="en-US" dirty="0"/>
              <a:t>Key0 is The base shift which defaults to 96 in Binary. Arrays are Now All Present in Memory on Client and Server.</a:t>
            </a:r>
          </a:p>
        </p:txBody>
      </p:sp>
    </p:spTree>
    <p:extLst>
      <p:ext uri="{BB962C8B-B14F-4D97-AF65-F5344CB8AC3E}">
        <p14:creationId xmlns:p14="http://schemas.microsoft.com/office/powerpoint/2010/main" val="700257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0873-5D35-F89B-F7D7-B41046AE8452}"/>
              </a:ext>
            </a:extLst>
          </p:cNvPr>
          <p:cNvSpPr>
            <a:spLocks noGrp="1"/>
          </p:cNvSpPr>
          <p:nvPr>
            <p:ph type="title"/>
          </p:nvPr>
        </p:nvSpPr>
        <p:spPr/>
        <p:txBody>
          <a:bodyPr/>
          <a:lstStyle/>
          <a:p>
            <a:r>
              <a:rPr lang="en-US" dirty="0"/>
              <a:t>Encrypt(m) – Standard Form.</a:t>
            </a:r>
          </a:p>
        </p:txBody>
      </p:sp>
      <p:sp>
        <p:nvSpPr>
          <p:cNvPr id="3" name="TextBox 2">
            <a:extLst>
              <a:ext uri="{FF2B5EF4-FFF2-40B4-BE49-F238E27FC236}">
                <a16:creationId xmlns:a16="http://schemas.microsoft.com/office/drawing/2014/main" id="{AC6F5BE2-3EF9-6481-3F01-0D3C3DC994BE}"/>
              </a:ext>
            </a:extLst>
          </p:cNvPr>
          <p:cNvSpPr txBox="1"/>
          <p:nvPr/>
        </p:nvSpPr>
        <p:spPr>
          <a:xfrm>
            <a:off x="914400" y="1385740"/>
            <a:ext cx="10689996" cy="3139321"/>
          </a:xfrm>
          <a:prstGeom prst="rect">
            <a:avLst/>
          </a:prstGeom>
          <a:noFill/>
        </p:spPr>
        <p:txBody>
          <a:bodyPr wrap="square" rtlCol="0">
            <a:spAutoFit/>
          </a:bodyPr>
          <a:lstStyle/>
          <a:p>
            <a:r>
              <a:rPr lang="en-US" dirty="0"/>
              <a:t>(m) = Swearingen Is  the name of our Engineering Building</a:t>
            </a:r>
          </a:p>
          <a:p>
            <a:r>
              <a:rPr lang="en-US" dirty="0"/>
              <a:t>Pass 1 we inject a space at each 5</a:t>
            </a:r>
            <a:r>
              <a:rPr lang="en-US" baseline="30000" dirty="0"/>
              <a:t>th</a:t>
            </a:r>
            <a:r>
              <a:rPr lang="en-US" dirty="0"/>
              <a:t> position</a:t>
            </a:r>
          </a:p>
          <a:p>
            <a:endParaRPr lang="en-US" dirty="0"/>
          </a:p>
          <a:p>
            <a:r>
              <a:rPr lang="en-US" dirty="0"/>
              <a:t>(Md1) = </a:t>
            </a:r>
            <a:r>
              <a:rPr lang="en-US" dirty="0" err="1"/>
              <a:t>Swea</a:t>
            </a:r>
            <a:r>
              <a:rPr lang="en-US" dirty="0"/>
              <a:t> ring </a:t>
            </a:r>
            <a:r>
              <a:rPr lang="en-US" dirty="0" err="1"/>
              <a:t>en</a:t>
            </a:r>
            <a:r>
              <a:rPr lang="en-US" dirty="0"/>
              <a:t> is the name of our </a:t>
            </a:r>
            <a:r>
              <a:rPr lang="en-US" dirty="0" err="1"/>
              <a:t>Engi</a:t>
            </a:r>
            <a:r>
              <a:rPr lang="en-US" dirty="0"/>
              <a:t> </a:t>
            </a:r>
            <a:r>
              <a:rPr lang="en-US" dirty="0" err="1"/>
              <a:t>neer</a:t>
            </a:r>
            <a:r>
              <a:rPr lang="en-US" dirty="0"/>
              <a:t> </a:t>
            </a:r>
            <a:r>
              <a:rPr lang="en-US" dirty="0" err="1"/>
              <a:t>ing</a:t>
            </a:r>
            <a:r>
              <a:rPr lang="en-US" dirty="0"/>
              <a:t> Buil ding  </a:t>
            </a:r>
          </a:p>
          <a:p>
            <a:r>
              <a:rPr lang="en-US" dirty="0"/>
              <a:t>	(We add a space to every5th position – could be tuned to 3, 4, 6, any value.</a:t>
            </a:r>
          </a:p>
          <a:p>
            <a:endParaRPr lang="en-US" dirty="0"/>
          </a:p>
          <a:p>
            <a:r>
              <a:rPr lang="en-US" dirty="0"/>
              <a:t>(Md2) = Md1 to ASCII</a:t>
            </a:r>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A391992B-A24A-D947-634C-C07230F1A23B}"/>
              </a:ext>
            </a:extLst>
          </p:cNvPr>
          <p:cNvPicPr>
            <a:picLocks noChangeAspect="1"/>
          </p:cNvPicPr>
          <p:nvPr/>
        </p:nvPicPr>
        <p:blipFill>
          <a:blip r:embed="rId2"/>
          <a:stretch>
            <a:fillRect/>
          </a:stretch>
        </p:blipFill>
        <p:spPr>
          <a:xfrm>
            <a:off x="1814554" y="3428999"/>
            <a:ext cx="5734850" cy="1428949"/>
          </a:xfrm>
          <a:prstGeom prst="rect">
            <a:avLst/>
          </a:prstGeom>
        </p:spPr>
      </p:pic>
      <p:pic>
        <p:nvPicPr>
          <p:cNvPr id="8" name="Picture 7">
            <a:extLst>
              <a:ext uri="{FF2B5EF4-FFF2-40B4-BE49-F238E27FC236}">
                <a16:creationId xmlns:a16="http://schemas.microsoft.com/office/drawing/2014/main" id="{5C32C928-5A72-3EC1-0FA8-C5283DD6D004}"/>
              </a:ext>
            </a:extLst>
          </p:cNvPr>
          <p:cNvPicPr>
            <a:picLocks noChangeAspect="1"/>
          </p:cNvPicPr>
          <p:nvPr/>
        </p:nvPicPr>
        <p:blipFill>
          <a:blip r:embed="rId3"/>
          <a:stretch>
            <a:fillRect/>
          </a:stretch>
        </p:blipFill>
        <p:spPr>
          <a:xfrm>
            <a:off x="7273067" y="3428999"/>
            <a:ext cx="4239217" cy="1428949"/>
          </a:xfrm>
          <a:prstGeom prst="rect">
            <a:avLst/>
          </a:prstGeom>
        </p:spPr>
      </p:pic>
      <p:sp>
        <p:nvSpPr>
          <p:cNvPr id="9" name="TextBox 8">
            <a:extLst>
              <a:ext uri="{FF2B5EF4-FFF2-40B4-BE49-F238E27FC236}">
                <a16:creationId xmlns:a16="http://schemas.microsoft.com/office/drawing/2014/main" id="{9E5155F1-ED80-DBEA-5A92-46AB8B890797}"/>
              </a:ext>
            </a:extLst>
          </p:cNvPr>
          <p:cNvSpPr txBox="1"/>
          <p:nvPr/>
        </p:nvSpPr>
        <p:spPr>
          <a:xfrm>
            <a:off x="1102935" y="5043340"/>
            <a:ext cx="10869106" cy="646331"/>
          </a:xfrm>
          <a:prstGeom prst="rect">
            <a:avLst/>
          </a:prstGeom>
          <a:noFill/>
        </p:spPr>
        <p:txBody>
          <a:bodyPr wrap="square" rtlCol="0">
            <a:spAutoFit/>
          </a:bodyPr>
          <a:lstStyle/>
          <a:p>
            <a:r>
              <a:rPr lang="en-US" dirty="0"/>
              <a:t>(Md3) Final – Codes based on their position are remapped to the encryption matrix in Linear time. A simple loop from (</a:t>
            </a:r>
            <a:r>
              <a:rPr lang="en-US" dirty="0" err="1"/>
              <a:t>i</a:t>
            </a:r>
            <a:r>
              <a:rPr lang="en-US" dirty="0"/>
              <a:t> to 1460). This is two assembler instructions or perhaps 1 and requires no multiplication. O(n).</a:t>
            </a:r>
          </a:p>
        </p:txBody>
      </p:sp>
      <p:sp>
        <p:nvSpPr>
          <p:cNvPr id="10" name="TextBox 9">
            <a:extLst>
              <a:ext uri="{FF2B5EF4-FFF2-40B4-BE49-F238E27FC236}">
                <a16:creationId xmlns:a16="http://schemas.microsoft.com/office/drawing/2014/main" id="{E0D433EF-B636-94F4-E683-92015D5D67EB}"/>
              </a:ext>
            </a:extLst>
          </p:cNvPr>
          <p:cNvSpPr txBox="1"/>
          <p:nvPr/>
        </p:nvSpPr>
        <p:spPr>
          <a:xfrm>
            <a:off x="1442301" y="5844619"/>
            <a:ext cx="5599522" cy="923330"/>
          </a:xfrm>
          <a:prstGeom prst="rect">
            <a:avLst/>
          </a:prstGeom>
          <a:noFill/>
        </p:spPr>
        <p:txBody>
          <a:bodyPr wrap="square" rtlCol="0">
            <a:spAutoFit/>
          </a:bodyPr>
          <a:lstStyle/>
          <a:p>
            <a:r>
              <a:rPr lang="en-US" dirty="0" err="1"/>
              <a:t>Eg</a:t>
            </a:r>
            <a:r>
              <a:rPr lang="en-US" dirty="0"/>
              <a:t> 83 -&gt; Key{0, 96+83}</a:t>
            </a:r>
          </a:p>
          <a:p>
            <a:r>
              <a:rPr lang="en-US" dirty="0" err="1"/>
              <a:t>Eg</a:t>
            </a:r>
            <a:r>
              <a:rPr lang="en-US" dirty="0"/>
              <a:t> 119 -&gt; Key(1, 96+119+MOY) = Key1</a:t>
            </a:r>
          </a:p>
          <a:p>
            <a:r>
              <a:rPr lang="en-US" dirty="0"/>
              <a:t>Ed 101 -&gt; Key(2, Key1 + DOM) = Key2</a:t>
            </a:r>
          </a:p>
        </p:txBody>
      </p:sp>
      <p:sp>
        <p:nvSpPr>
          <p:cNvPr id="11" name="TextBox 10">
            <a:extLst>
              <a:ext uri="{FF2B5EF4-FFF2-40B4-BE49-F238E27FC236}">
                <a16:creationId xmlns:a16="http://schemas.microsoft.com/office/drawing/2014/main" id="{32730C1D-E794-40D1-074F-1EA15559641A}"/>
              </a:ext>
            </a:extLst>
          </p:cNvPr>
          <p:cNvSpPr txBox="1"/>
          <p:nvPr/>
        </p:nvSpPr>
        <p:spPr>
          <a:xfrm>
            <a:off x="6096000" y="6033155"/>
            <a:ext cx="5599522" cy="646331"/>
          </a:xfrm>
          <a:prstGeom prst="rect">
            <a:avLst/>
          </a:prstGeom>
          <a:noFill/>
        </p:spPr>
        <p:txBody>
          <a:bodyPr wrap="square" rtlCol="0">
            <a:spAutoFit/>
          </a:bodyPr>
          <a:lstStyle/>
          <a:p>
            <a:r>
              <a:rPr lang="en-US" dirty="0">
                <a:solidFill>
                  <a:srgbClr val="FF0000"/>
                </a:solidFill>
              </a:rPr>
              <a:t>This is matrix shifted algorithm similar to the Enigma or Vigenère's Array of </a:t>
            </a:r>
            <a:r>
              <a:rPr lang="en-US" dirty="0" err="1">
                <a:solidFill>
                  <a:srgbClr val="FF0000"/>
                </a:solidFill>
              </a:rPr>
              <a:t>Subsitutions</a:t>
            </a:r>
            <a:r>
              <a:rPr lang="en-US" dirty="0">
                <a:solidFill>
                  <a:srgbClr val="FF0000"/>
                </a:solidFill>
              </a:rPr>
              <a:t> Model.</a:t>
            </a:r>
          </a:p>
        </p:txBody>
      </p:sp>
    </p:spTree>
    <p:extLst>
      <p:ext uri="{BB962C8B-B14F-4D97-AF65-F5344CB8AC3E}">
        <p14:creationId xmlns:p14="http://schemas.microsoft.com/office/powerpoint/2010/main" val="293774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0873-5D35-F89B-F7D7-B41046AE8452}"/>
              </a:ext>
            </a:extLst>
          </p:cNvPr>
          <p:cNvSpPr>
            <a:spLocks noGrp="1"/>
          </p:cNvSpPr>
          <p:nvPr>
            <p:ph type="title"/>
          </p:nvPr>
        </p:nvSpPr>
        <p:spPr/>
        <p:txBody>
          <a:bodyPr/>
          <a:lstStyle/>
          <a:p>
            <a:r>
              <a:rPr lang="en-US" dirty="0"/>
              <a:t>Encrypt(m) – Advanced Form</a:t>
            </a:r>
          </a:p>
        </p:txBody>
      </p:sp>
      <p:sp>
        <p:nvSpPr>
          <p:cNvPr id="3" name="TextBox 2">
            <a:extLst>
              <a:ext uri="{FF2B5EF4-FFF2-40B4-BE49-F238E27FC236}">
                <a16:creationId xmlns:a16="http://schemas.microsoft.com/office/drawing/2014/main" id="{AC6F5BE2-3EF9-6481-3F01-0D3C3DC994BE}"/>
              </a:ext>
            </a:extLst>
          </p:cNvPr>
          <p:cNvSpPr txBox="1"/>
          <p:nvPr/>
        </p:nvSpPr>
        <p:spPr>
          <a:xfrm>
            <a:off x="914400" y="1385740"/>
            <a:ext cx="10689996" cy="3139321"/>
          </a:xfrm>
          <a:prstGeom prst="rect">
            <a:avLst/>
          </a:prstGeom>
          <a:noFill/>
        </p:spPr>
        <p:txBody>
          <a:bodyPr wrap="square" rtlCol="0">
            <a:spAutoFit/>
          </a:bodyPr>
          <a:lstStyle/>
          <a:p>
            <a:r>
              <a:rPr lang="en-US" dirty="0"/>
              <a:t>(m) = Swearingen Is  the name of our Engineering Building</a:t>
            </a:r>
          </a:p>
          <a:p>
            <a:r>
              <a:rPr lang="en-US" dirty="0"/>
              <a:t>Pass 1 we inject a space at each 5</a:t>
            </a:r>
            <a:r>
              <a:rPr lang="en-US" baseline="30000" dirty="0"/>
              <a:t>th</a:t>
            </a:r>
            <a:r>
              <a:rPr lang="en-US" dirty="0"/>
              <a:t> position</a:t>
            </a:r>
          </a:p>
          <a:p>
            <a:endParaRPr lang="en-US" dirty="0"/>
          </a:p>
          <a:p>
            <a:r>
              <a:rPr lang="en-US" dirty="0"/>
              <a:t>(Md1) = </a:t>
            </a:r>
            <a:r>
              <a:rPr lang="en-US" dirty="0" err="1"/>
              <a:t>Swea</a:t>
            </a:r>
            <a:r>
              <a:rPr lang="en-US" dirty="0"/>
              <a:t> ring </a:t>
            </a:r>
            <a:r>
              <a:rPr lang="en-US" dirty="0" err="1"/>
              <a:t>en</a:t>
            </a:r>
            <a:r>
              <a:rPr lang="en-US" dirty="0"/>
              <a:t> is the name of our </a:t>
            </a:r>
            <a:r>
              <a:rPr lang="en-US" dirty="0" err="1"/>
              <a:t>Engi</a:t>
            </a:r>
            <a:r>
              <a:rPr lang="en-US" dirty="0"/>
              <a:t> </a:t>
            </a:r>
            <a:r>
              <a:rPr lang="en-US" dirty="0" err="1"/>
              <a:t>neer</a:t>
            </a:r>
            <a:r>
              <a:rPr lang="en-US" dirty="0"/>
              <a:t> </a:t>
            </a:r>
            <a:r>
              <a:rPr lang="en-US" dirty="0" err="1"/>
              <a:t>ing</a:t>
            </a:r>
            <a:r>
              <a:rPr lang="en-US" dirty="0"/>
              <a:t> Buil ding  </a:t>
            </a:r>
          </a:p>
          <a:p>
            <a:r>
              <a:rPr lang="en-US" dirty="0"/>
              <a:t>	(We add a space to every5th position – could be tuned to 3, 4, 6, any value.</a:t>
            </a:r>
          </a:p>
          <a:p>
            <a:endParaRPr lang="en-US" dirty="0"/>
          </a:p>
          <a:p>
            <a:r>
              <a:rPr lang="en-US" dirty="0"/>
              <a:t>(Md2) = Md1 to ASCII</a:t>
            </a:r>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A391992B-A24A-D947-634C-C07230F1A23B}"/>
              </a:ext>
            </a:extLst>
          </p:cNvPr>
          <p:cNvPicPr>
            <a:picLocks noChangeAspect="1"/>
          </p:cNvPicPr>
          <p:nvPr/>
        </p:nvPicPr>
        <p:blipFill>
          <a:blip r:embed="rId2"/>
          <a:stretch>
            <a:fillRect/>
          </a:stretch>
        </p:blipFill>
        <p:spPr>
          <a:xfrm>
            <a:off x="1814554" y="3428999"/>
            <a:ext cx="5734850" cy="1428949"/>
          </a:xfrm>
          <a:prstGeom prst="rect">
            <a:avLst/>
          </a:prstGeom>
        </p:spPr>
      </p:pic>
      <p:pic>
        <p:nvPicPr>
          <p:cNvPr id="8" name="Picture 7">
            <a:extLst>
              <a:ext uri="{FF2B5EF4-FFF2-40B4-BE49-F238E27FC236}">
                <a16:creationId xmlns:a16="http://schemas.microsoft.com/office/drawing/2014/main" id="{5C32C928-5A72-3EC1-0FA8-C5283DD6D004}"/>
              </a:ext>
            </a:extLst>
          </p:cNvPr>
          <p:cNvPicPr>
            <a:picLocks noChangeAspect="1"/>
          </p:cNvPicPr>
          <p:nvPr/>
        </p:nvPicPr>
        <p:blipFill>
          <a:blip r:embed="rId3"/>
          <a:stretch>
            <a:fillRect/>
          </a:stretch>
        </p:blipFill>
        <p:spPr>
          <a:xfrm>
            <a:off x="7273067" y="3428999"/>
            <a:ext cx="4239217" cy="1428949"/>
          </a:xfrm>
          <a:prstGeom prst="rect">
            <a:avLst/>
          </a:prstGeom>
        </p:spPr>
      </p:pic>
      <p:sp>
        <p:nvSpPr>
          <p:cNvPr id="9" name="TextBox 8">
            <a:extLst>
              <a:ext uri="{FF2B5EF4-FFF2-40B4-BE49-F238E27FC236}">
                <a16:creationId xmlns:a16="http://schemas.microsoft.com/office/drawing/2014/main" id="{9E5155F1-ED80-DBEA-5A92-46AB8B890797}"/>
              </a:ext>
            </a:extLst>
          </p:cNvPr>
          <p:cNvSpPr txBox="1"/>
          <p:nvPr/>
        </p:nvSpPr>
        <p:spPr>
          <a:xfrm>
            <a:off x="1102935" y="5043340"/>
            <a:ext cx="10869106" cy="646331"/>
          </a:xfrm>
          <a:prstGeom prst="rect">
            <a:avLst/>
          </a:prstGeom>
          <a:noFill/>
        </p:spPr>
        <p:txBody>
          <a:bodyPr wrap="square" rtlCol="0">
            <a:spAutoFit/>
          </a:bodyPr>
          <a:lstStyle/>
          <a:p>
            <a:r>
              <a:rPr lang="en-US" dirty="0"/>
              <a:t>(Md3) Final – Codes based on their position are remapped to the encryption matrix in Linear time. A simple loop from (</a:t>
            </a:r>
            <a:r>
              <a:rPr lang="en-US" dirty="0" err="1"/>
              <a:t>i</a:t>
            </a:r>
            <a:r>
              <a:rPr lang="en-US" dirty="0"/>
              <a:t> to 1460). This is two assembler instructions or perhaps 1 and requires no multiplication. O(n).</a:t>
            </a:r>
          </a:p>
        </p:txBody>
      </p:sp>
      <p:sp>
        <p:nvSpPr>
          <p:cNvPr id="10" name="TextBox 9">
            <a:extLst>
              <a:ext uri="{FF2B5EF4-FFF2-40B4-BE49-F238E27FC236}">
                <a16:creationId xmlns:a16="http://schemas.microsoft.com/office/drawing/2014/main" id="{E0D433EF-B636-94F4-E683-92015D5D67EB}"/>
              </a:ext>
            </a:extLst>
          </p:cNvPr>
          <p:cNvSpPr txBox="1"/>
          <p:nvPr/>
        </p:nvSpPr>
        <p:spPr>
          <a:xfrm>
            <a:off x="1442301" y="5844619"/>
            <a:ext cx="5599522" cy="923330"/>
          </a:xfrm>
          <a:prstGeom prst="rect">
            <a:avLst/>
          </a:prstGeom>
          <a:noFill/>
        </p:spPr>
        <p:txBody>
          <a:bodyPr wrap="square" rtlCol="0">
            <a:spAutoFit/>
          </a:bodyPr>
          <a:lstStyle/>
          <a:p>
            <a:r>
              <a:rPr lang="en-US" dirty="0" err="1"/>
              <a:t>Eg</a:t>
            </a:r>
            <a:r>
              <a:rPr lang="en-US" dirty="0"/>
              <a:t> 83 -&gt; Key{0, AO{83}</a:t>
            </a:r>
          </a:p>
          <a:p>
            <a:r>
              <a:rPr lang="en-US" dirty="0" err="1"/>
              <a:t>Eg</a:t>
            </a:r>
            <a:r>
              <a:rPr lang="en-US" dirty="0"/>
              <a:t> 119 -&gt; Key(1, A0{119) </a:t>
            </a:r>
          </a:p>
          <a:p>
            <a:r>
              <a:rPr lang="en-US" dirty="0"/>
              <a:t>Ed 101 -&gt; Key(2, A2{101))</a:t>
            </a:r>
          </a:p>
        </p:txBody>
      </p:sp>
      <p:sp>
        <p:nvSpPr>
          <p:cNvPr id="4" name="TextBox 3">
            <a:extLst>
              <a:ext uri="{FF2B5EF4-FFF2-40B4-BE49-F238E27FC236}">
                <a16:creationId xmlns:a16="http://schemas.microsoft.com/office/drawing/2014/main" id="{3BC7F135-EED3-5BA6-F7DA-868C5227A7ED}"/>
              </a:ext>
            </a:extLst>
          </p:cNvPr>
          <p:cNvSpPr txBox="1"/>
          <p:nvPr/>
        </p:nvSpPr>
        <p:spPr>
          <a:xfrm>
            <a:off x="4534293" y="5844619"/>
            <a:ext cx="6740165" cy="923330"/>
          </a:xfrm>
          <a:prstGeom prst="rect">
            <a:avLst/>
          </a:prstGeom>
          <a:noFill/>
        </p:spPr>
        <p:txBody>
          <a:bodyPr wrap="square" rtlCol="0">
            <a:spAutoFit/>
          </a:bodyPr>
          <a:lstStyle/>
          <a:p>
            <a:r>
              <a:rPr lang="en-US" dirty="0"/>
              <a:t>In this model the N arrays of 8bit values are sent over the wire. There is no shift. Just an array of binary values. This is a random 8 bit code block.</a:t>
            </a:r>
          </a:p>
        </p:txBody>
      </p:sp>
    </p:spTree>
    <p:extLst>
      <p:ext uri="{BB962C8B-B14F-4D97-AF65-F5344CB8AC3E}">
        <p14:creationId xmlns:p14="http://schemas.microsoft.com/office/powerpoint/2010/main" val="1239503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B634-317B-7598-D356-C0952AC46D2F}"/>
              </a:ext>
            </a:extLst>
          </p:cNvPr>
          <p:cNvSpPr>
            <a:spLocks noGrp="1"/>
          </p:cNvSpPr>
          <p:nvPr>
            <p:ph type="title"/>
          </p:nvPr>
        </p:nvSpPr>
        <p:spPr>
          <a:xfrm>
            <a:off x="603315" y="365125"/>
            <a:ext cx="11434713" cy="1325563"/>
          </a:xfrm>
        </p:spPr>
        <p:txBody>
          <a:bodyPr>
            <a:normAutofit/>
          </a:bodyPr>
          <a:lstStyle/>
          <a:p>
            <a:r>
              <a:rPr lang="en-US" sz="2400" dirty="0" err="1"/>
              <a:t>Engima</a:t>
            </a:r>
            <a:r>
              <a:rPr lang="en-US" sz="2400" dirty="0"/>
              <a:t> (A Four Wheeled Device)</a:t>
            </a:r>
          </a:p>
        </p:txBody>
      </p:sp>
      <p:pic>
        <p:nvPicPr>
          <p:cNvPr id="3" name="Picture 2">
            <a:extLst>
              <a:ext uri="{FF2B5EF4-FFF2-40B4-BE49-F238E27FC236}">
                <a16:creationId xmlns:a16="http://schemas.microsoft.com/office/drawing/2014/main" id="{3F3F6168-4D8D-55BB-C31C-46A1FBD9244C}"/>
              </a:ext>
            </a:extLst>
          </p:cNvPr>
          <p:cNvPicPr>
            <a:picLocks noChangeAspect="1"/>
          </p:cNvPicPr>
          <p:nvPr/>
        </p:nvPicPr>
        <p:blipFill>
          <a:blip r:embed="rId2"/>
          <a:stretch>
            <a:fillRect/>
          </a:stretch>
        </p:blipFill>
        <p:spPr>
          <a:xfrm>
            <a:off x="1247775" y="1440680"/>
            <a:ext cx="2381250" cy="2113225"/>
          </a:xfrm>
          <a:prstGeom prst="rect">
            <a:avLst/>
          </a:prstGeom>
        </p:spPr>
      </p:pic>
      <p:sp>
        <p:nvSpPr>
          <p:cNvPr id="4" name="TextBox 3">
            <a:extLst>
              <a:ext uri="{FF2B5EF4-FFF2-40B4-BE49-F238E27FC236}">
                <a16:creationId xmlns:a16="http://schemas.microsoft.com/office/drawing/2014/main" id="{01FC337B-6FF8-20A9-173C-76FD0CCD6CA9}"/>
              </a:ext>
            </a:extLst>
          </p:cNvPr>
          <p:cNvSpPr txBox="1"/>
          <p:nvPr/>
        </p:nvSpPr>
        <p:spPr>
          <a:xfrm>
            <a:off x="245097" y="3770722"/>
            <a:ext cx="10020692" cy="2862322"/>
          </a:xfrm>
          <a:prstGeom prst="rect">
            <a:avLst/>
          </a:prstGeom>
          <a:noFill/>
        </p:spPr>
        <p:txBody>
          <a:bodyPr wrap="square" rtlCol="0">
            <a:spAutoFit/>
          </a:bodyPr>
          <a:lstStyle/>
          <a:p>
            <a:r>
              <a:rPr lang="en-US" dirty="0"/>
              <a:t>The Arrays of Text We have built in Memory Are More Secure than Enigma Machine which used only 26 Latin Letters. But had 26exp4 permutations possible.</a:t>
            </a:r>
          </a:p>
          <a:p>
            <a:endParaRPr lang="en-US" dirty="0"/>
          </a:p>
          <a:p>
            <a:r>
              <a:rPr lang="en-US" dirty="0"/>
              <a:t>We are using (N) number of keys with 5 being the base on 8bit codes which are 256exp5 permutations. 10x larger than the original.</a:t>
            </a:r>
          </a:p>
          <a:p>
            <a:endParaRPr lang="en-US" dirty="0"/>
          </a:p>
          <a:p>
            <a:r>
              <a:rPr lang="en-US" dirty="0" err="1"/>
              <a:t>Whats</a:t>
            </a:r>
            <a:r>
              <a:rPr lang="en-US" dirty="0"/>
              <a:t> different? (1) our first pass, breaks words into smaller sub-words. (2) </a:t>
            </a:r>
            <a:r>
              <a:rPr lang="en-US" dirty="0" err="1"/>
              <a:t>CockyCiphers</a:t>
            </a:r>
            <a:r>
              <a:rPr lang="en-US" dirty="0"/>
              <a:t> can be modified per stream making encryption all but impossible except for Nation States. (3) Advanced Versions using 16bit or 32bit multiplicators (4) Possible to scramble all five arrays randomly per stream using Network Streams from REST Bootstrap Making the Cipher a Matrix Cipher.</a:t>
            </a:r>
          </a:p>
        </p:txBody>
      </p:sp>
      <p:sp>
        <p:nvSpPr>
          <p:cNvPr id="6" name="TextBox 5">
            <a:extLst>
              <a:ext uri="{FF2B5EF4-FFF2-40B4-BE49-F238E27FC236}">
                <a16:creationId xmlns:a16="http://schemas.microsoft.com/office/drawing/2014/main" id="{D8A4C8C7-C683-6869-D195-556BA47BD054}"/>
              </a:ext>
            </a:extLst>
          </p:cNvPr>
          <p:cNvSpPr txBox="1"/>
          <p:nvPr/>
        </p:nvSpPr>
        <p:spPr>
          <a:xfrm>
            <a:off x="4642407" y="1538173"/>
            <a:ext cx="6094428" cy="369332"/>
          </a:xfrm>
          <a:prstGeom prst="rect">
            <a:avLst/>
          </a:prstGeom>
          <a:noFill/>
        </p:spPr>
        <p:txBody>
          <a:bodyPr wrap="square">
            <a:spAutoFit/>
          </a:bodyPr>
          <a:lstStyle/>
          <a:p>
            <a:r>
              <a:rPr lang="en-US" dirty="0"/>
              <a:t>https://en.wikipedia.org/wiki/Enigma_machine</a:t>
            </a:r>
          </a:p>
        </p:txBody>
      </p:sp>
      <p:pic>
        <p:nvPicPr>
          <p:cNvPr id="7" name="Picture 6">
            <a:extLst>
              <a:ext uri="{FF2B5EF4-FFF2-40B4-BE49-F238E27FC236}">
                <a16:creationId xmlns:a16="http://schemas.microsoft.com/office/drawing/2014/main" id="{93086206-BC86-DC41-3D47-5591B5FF2804}"/>
              </a:ext>
            </a:extLst>
          </p:cNvPr>
          <p:cNvPicPr>
            <a:picLocks noChangeAspect="1"/>
          </p:cNvPicPr>
          <p:nvPr/>
        </p:nvPicPr>
        <p:blipFill>
          <a:blip r:embed="rId3"/>
          <a:stretch>
            <a:fillRect/>
          </a:stretch>
        </p:blipFill>
        <p:spPr>
          <a:xfrm>
            <a:off x="5181245" y="2255176"/>
            <a:ext cx="6094428" cy="951058"/>
          </a:xfrm>
          <a:prstGeom prst="rect">
            <a:avLst/>
          </a:prstGeom>
        </p:spPr>
      </p:pic>
    </p:spTree>
    <p:extLst>
      <p:ext uri="{BB962C8B-B14F-4D97-AF65-F5344CB8AC3E}">
        <p14:creationId xmlns:p14="http://schemas.microsoft.com/office/powerpoint/2010/main" val="3819685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1F17-B2FC-94E2-06F3-FC0E1B673BED}"/>
              </a:ext>
            </a:extLst>
          </p:cNvPr>
          <p:cNvSpPr>
            <a:spLocks noGrp="1"/>
          </p:cNvSpPr>
          <p:nvPr>
            <p:ph type="title"/>
          </p:nvPr>
        </p:nvSpPr>
        <p:spPr/>
        <p:txBody>
          <a:bodyPr/>
          <a:lstStyle/>
          <a:p>
            <a:r>
              <a:rPr lang="en-US" dirty="0"/>
              <a:t>Classifying Our Algorithm?</a:t>
            </a:r>
          </a:p>
        </p:txBody>
      </p:sp>
      <p:sp>
        <p:nvSpPr>
          <p:cNvPr id="3" name="TextBox 2">
            <a:extLst>
              <a:ext uri="{FF2B5EF4-FFF2-40B4-BE49-F238E27FC236}">
                <a16:creationId xmlns:a16="http://schemas.microsoft.com/office/drawing/2014/main" id="{2E7A1B6A-3588-B191-2357-56C6BA35C1ED}"/>
              </a:ext>
            </a:extLst>
          </p:cNvPr>
          <p:cNvSpPr txBox="1"/>
          <p:nvPr/>
        </p:nvSpPr>
        <p:spPr>
          <a:xfrm>
            <a:off x="754143" y="1894788"/>
            <a:ext cx="11170763" cy="2862322"/>
          </a:xfrm>
          <a:prstGeom prst="rect">
            <a:avLst/>
          </a:prstGeom>
          <a:noFill/>
        </p:spPr>
        <p:txBody>
          <a:bodyPr wrap="square" rtlCol="0">
            <a:spAutoFit/>
          </a:bodyPr>
          <a:lstStyle/>
          <a:p>
            <a:pPr marL="342900" indent="-342900">
              <a:buAutoNum type="arabicParenR"/>
            </a:pPr>
            <a:r>
              <a:rPr lang="en-US" dirty="0"/>
              <a:t>Substitution Cipher -&gt; Fixed Shift. (Letters – 1 Permutation)</a:t>
            </a:r>
          </a:p>
          <a:p>
            <a:pPr marL="342900" indent="-342900">
              <a:buAutoNum type="arabicParenR"/>
            </a:pPr>
            <a:r>
              <a:rPr lang="en-US" dirty="0"/>
              <a:t>Substitution Cipher -&gt; Random Shifts -&gt; Monoalphabetic Substitution Cipher-&gt; CG Melon (26! -1)</a:t>
            </a:r>
          </a:p>
          <a:p>
            <a:pPr marL="342900" indent="-342900">
              <a:buAutoNum type="arabicParenR"/>
            </a:pPr>
            <a:r>
              <a:rPr lang="en-US" dirty="0"/>
              <a:t>Substitution Cipher -&gt; Adv Random Shifts -&gt; ASCII Based Substitution Cipher -&gt; (256! -1) [IE JUST ASCII]</a:t>
            </a:r>
          </a:p>
          <a:p>
            <a:pPr marL="342900" indent="-342900">
              <a:buAutoNum type="arabicParenR"/>
            </a:pPr>
            <a:r>
              <a:rPr lang="en-US" dirty="0"/>
              <a:t>Array Block Cipher -&gt;  Binary Matrix Variant – </a:t>
            </a:r>
            <a:r>
              <a:rPr lang="en-US" dirty="0" err="1"/>
              <a:t>VignereCipher</a:t>
            </a:r>
            <a:r>
              <a:rPr lang="en-US" dirty="0"/>
              <a:t>+ -&gt; Array Substitution Cipher (256!) exp 5.</a:t>
            </a:r>
          </a:p>
          <a:p>
            <a:pPr marL="342900" indent="-342900">
              <a:buAutoNum type="arabicParenR"/>
            </a:pPr>
            <a:r>
              <a:rPr lang="en-US" dirty="0"/>
              <a:t>Enigma Radial Cipher -&gt; 4 Wheel Encoding Machine -&gt; Array Substitution Cipher(26!) exp 4. </a:t>
            </a:r>
          </a:p>
          <a:p>
            <a:pPr marL="342900" indent="-342900">
              <a:buAutoNum type="arabicParenR"/>
            </a:pPr>
            <a:endParaRPr lang="en-US" dirty="0"/>
          </a:p>
          <a:p>
            <a:pPr marL="342900" indent="-342900">
              <a:buAutoNum type="arabicParenR"/>
            </a:pPr>
            <a:endParaRPr lang="en-US" dirty="0"/>
          </a:p>
          <a:p>
            <a:r>
              <a:rPr lang="en-US" dirty="0"/>
              <a:t>The Vigenère cipher had a starting single key. Our has 5 that include day mutators.</a:t>
            </a:r>
          </a:p>
          <a:p>
            <a:r>
              <a:rPr lang="en-US" dirty="0"/>
              <a:t>The Vigenère cipher used 26 characters, were are using ASCII shifted values with 256 values.</a:t>
            </a:r>
          </a:p>
          <a:p>
            <a:endParaRPr lang="en-US" dirty="0"/>
          </a:p>
        </p:txBody>
      </p:sp>
    </p:spTree>
    <p:extLst>
      <p:ext uri="{BB962C8B-B14F-4D97-AF65-F5344CB8AC3E}">
        <p14:creationId xmlns:p14="http://schemas.microsoft.com/office/powerpoint/2010/main" val="233721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91894E-C3BC-DE4C-C3F6-BCE74FF7E0E9}"/>
              </a:ext>
            </a:extLst>
          </p:cNvPr>
          <p:cNvSpPr>
            <a:spLocks noGrp="1"/>
          </p:cNvSpPr>
          <p:nvPr>
            <p:ph type="ctrTitle"/>
          </p:nvPr>
        </p:nvSpPr>
        <p:spPr/>
        <p:txBody>
          <a:bodyPr/>
          <a:lstStyle/>
          <a:p>
            <a:r>
              <a:rPr lang="en-US" dirty="0"/>
              <a:t>Securing… One App</a:t>
            </a:r>
          </a:p>
        </p:txBody>
      </p:sp>
      <p:sp>
        <p:nvSpPr>
          <p:cNvPr id="4" name="Subtitle 3">
            <a:extLst>
              <a:ext uri="{FF2B5EF4-FFF2-40B4-BE49-F238E27FC236}">
                <a16:creationId xmlns:a16="http://schemas.microsoft.com/office/drawing/2014/main" id="{FBE90811-2846-C3D0-514C-93CAE8449052}"/>
              </a:ext>
            </a:extLst>
          </p:cNvPr>
          <p:cNvSpPr>
            <a:spLocks noGrp="1"/>
          </p:cNvSpPr>
          <p:nvPr>
            <p:ph type="subTitle" idx="1"/>
          </p:nvPr>
        </p:nvSpPr>
        <p:spPr/>
        <p:txBody>
          <a:bodyPr/>
          <a:lstStyle/>
          <a:p>
            <a:r>
              <a:rPr lang="en-US" dirty="0"/>
              <a:t>Cocky Analytics(v4) from Cocky Investments(v2)</a:t>
            </a:r>
          </a:p>
        </p:txBody>
      </p:sp>
    </p:spTree>
    <p:extLst>
      <p:ext uri="{BB962C8B-B14F-4D97-AF65-F5344CB8AC3E}">
        <p14:creationId xmlns:p14="http://schemas.microsoft.com/office/powerpoint/2010/main" val="3885669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13A2-865D-7D89-15D7-40313F950D30}"/>
              </a:ext>
            </a:extLst>
          </p:cNvPr>
          <p:cNvSpPr>
            <a:spLocks noGrp="1"/>
          </p:cNvSpPr>
          <p:nvPr>
            <p:ph type="title"/>
          </p:nvPr>
        </p:nvSpPr>
        <p:spPr>
          <a:xfrm>
            <a:off x="424206" y="365125"/>
            <a:ext cx="11767794" cy="1325563"/>
          </a:xfrm>
        </p:spPr>
        <p:txBody>
          <a:bodyPr/>
          <a:lstStyle/>
          <a:p>
            <a:r>
              <a:rPr lang="en-US" dirty="0"/>
              <a:t>The End Goal… Clients Running Cocky Analytics Securely…. And Storage Areas Encrypted</a:t>
            </a:r>
          </a:p>
        </p:txBody>
      </p:sp>
      <p:pic>
        <p:nvPicPr>
          <p:cNvPr id="6" name="Picture 5">
            <a:extLst>
              <a:ext uri="{FF2B5EF4-FFF2-40B4-BE49-F238E27FC236}">
                <a16:creationId xmlns:a16="http://schemas.microsoft.com/office/drawing/2014/main" id="{725390B8-1C0F-6AA4-2B1F-0C328B50176A}"/>
              </a:ext>
            </a:extLst>
          </p:cNvPr>
          <p:cNvPicPr>
            <a:picLocks noChangeAspect="1"/>
          </p:cNvPicPr>
          <p:nvPr/>
        </p:nvPicPr>
        <p:blipFill>
          <a:blip r:embed="rId2"/>
          <a:stretch>
            <a:fillRect/>
          </a:stretch>
        </p:blipFill>
        <p:spPr>
          <a:xfrm>
            <a:off x="801279" y="1941920"/>
            <a:ext cx="9285402" cy="4674753"/>
          </a:xfrm>
          <a:prstGeom prst="rect">
            <a:avLst/>
          </a:prstGeom>
        </p:spPr>
      </p:pic>
    </p:spTree>
    <p:extLst>
      <p:ext uri="{BB962C8B-B14F-4D97-AF65-F5344CB8AC3E}">
        <p14:creationId xmlns:p14="http://schemas.microsoft.com/office/powerpoint/2010/main" val="11684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FBD9-8888-DB44-C4FA-E2D8C5966616}"/>
              </a:ext>
            </a:extLst>
          </p:cNvPr>
          <p:cNvSpPr>
            <a:spLocks noGrp="1"/>
          </p:cNvSpPr>
          <p:nvPr>
            <p:ph type="title"/>
          </p:nvPr>
        </p:nvSpPr>
        <p:spPr>
          <a:xfrm>
            <a:off x="838200" y="365125"/>
            <a:ext cx="11014494" cy="1325563"/>
          </a:xfrm>
        </p:spPr>
        <p:txBody>
          <a:bodyPr/>
          <a:lstStyle/>
          <a:p>
            <a:r>
              <a:rPr lang="en-US" dirty="0"/>
              <a:t>API Layer on Azure… </a:t>
            </a:r>
            <a:br>
              <a:rPr lang="en-US" dirty="0"/>
            </a:br>
            <a:r>
              <a:rPr lang="en-US" dirty="0"/>
              <a:t>Running over Azure HTTPS with </a:t>
            </a:r>
            <a:r>
              <a:rPr lang="en-US" dirty="0" err="1"/>
              <a:t>TwoFactor</a:t>
            </a:r>
            <a:endParaRPr lang="en-US" dirty="0"/>
          </a:p>
        </p:txBody>
      </p:sp>
      <p:pic>
        <p:nvPicPr>
          <p:cNvPr id="4" name="Picture 3">
            <a:extLst>
              <a:ext uri="{FF2B5EF4-FFF2-40B4-BE49-F238E27FC236}">
                <a16:creationId xmlns:a16="http://schemas.microsoft.com/office/drawing/2014/main" id="{BE5E4D04-5805-054E-D30B-3CADED162CCD}"/>
              </a:ext>
            </a:extLst>
          </p:cNvPr>
          <p:cNvPicPr>
            <a:picLocks noChangeAspect="1"/>
          </p:cNvPicPr>
          <p:nvPr/>
        </p:nvPicPr>
        <p:blipFill>
          <a:blip r:embed="rId2"/>
          <a:stretch>
            <a:fillRect/>
          </a:stretch>
        </p:blipFill>
        <p:spPr>
          <a:xfrm>
            <a:off x="838200" y="2027119"/>
            <a:ext cx="8074325" cy="4141115"/>
          </a:xfrm>
          <a:prstGeom prst="rect">
            <a:avLst/>
          </a:prstGeom>
        </p:spPr>
      </p:pic>
    </p:spTree>
    <p:extLst>
      <p:ext uri="{BB962C8B-B14F-4D97-AF65-F5344CB8AC3E}">
        <p14:creationId xmlns:p14="http://schemas.microsoft.com/office/powerpoint/2010/main" val="3263829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9CE5D-C83A-8BF9-46D2-3D5705C5FD9A}"/>
              </a:ext>
            </a:extLst>
          </p:cNvPr>
          <p:cNvSpPr>
            <a:spLocks noGrp="1"/>
          </p:cNvSpPr>
          <p:nvPr>
            <p:ph type="title"/>
          </p:nvPr>
        </p:nvSpPr>
        <p:spPr/>
        <p:txBody>
          <a:bodyPr/>
          <a:lstStyle/>
          <a:p>
            <a:r>
              <a:rPr lang="en-US" dirty="0"/>
              <a:t>New </a:t>
            </a:r>
            <a:r>
              <a:rPr lang="en-US" dirty="0" err="1"/>
              <a:t>CockyAuditor</a:t>
            </a:r>
            <a:r>
              <a:rPr lang="en-US" dirty="0"/>
              <a:t> Platform</a:t>
            </a:r>
          </a:p>
        </p:txBody>
      </p:sp>
      <p:pic>
        <p:nvPicPr>
          <p:cNvPr id="3" name="Picture 2">
            <a:extLst>
              <a:ext uri="{FF2B5EF4-FFF2-40B4-BE49-F238E27FC236}">
                <a16:creationId xmlns:a16="http://schemas.microsoft.com/office/drawing/2014/main" id="{24E769F6-5424-4C0E-CD05-DB16DC96D883}"/>
              </a:ext>
            </a:extLst>
          </p:cNvPr>
          <p:cNvPicPr>
            <a:picLocks noChangeAspect="1"/>
          </p:cNvPicPr>
          <p:nvPr/>
        </p:nvPicPr>
        <p:blipFill>
          <a:blip r:embed="rId2"/>
          <a:stretch>
            <a:fillRect/>
          </a:stretch>
        </p:blipFill>
        <p:spPr>
          <a:xfrm>
            <a:off x="1108364" y="1686215"/>
            <a:ext cx="2653289" cy="4630737"/>
          </a:xfrm>
          <a:prstGeom prst="rect">
            <a:avLst/>
          </a:prstGeom>
        </p:spPr>
      </p:pic>
      <p:pic>
        <p:nvPicPr>
          <p:cNvPr id="5" name="Picture 4">
            <a:extLst>
              <a:ext uri="{FF2B5EF4-FFF2-40B4-BE49-F238E27FC236}">
                <a16:creationId xmlns:a16="http://schemas.microsoft.com/office/drawing/2014/main" id="{ED965E22-3C13-82A8-869E-E49E225561FF}"/>
              </a:ext>
            </a:extLst>
          </p:cNvPr>
          <p:cNvPicPr>
            <a:picLocks noChangeAspect="1"/>
          </p:cNvPicPr>
          <p:nvPr/>
        </p:nvPicPr>
        <p:blipFill>
          <a:blip r:embed="rId3"/>
          <a:stretch>
            <a:fillRect/>
          </a:stretch>
        </p:blipFill>
        <p:spPr>
          <a:xfrm>
            <a:off x="4031817" y="1773382"/>
            <a:ext cx="4940531" cy="2478166"/>
          </a:xfrm>
          <a:prstGeom prst="rect">
            <a:avLst/>
          </a:prstGeom>
        </p:spPr>
      </p:pic>
      <p:pic>
        <p:nvPicPr>
          <p:cNvPr id="7" name="Picture 6">
            <a:extLst>
              <a:ext uri="{FF2B5EF4-FFF2-40B4-BE49-F238E27FC236}">
                <a16:creationId xmlns:a16="http://schemas.microsoft.com/office/drawing/2014/main" id="{614B68F8-8ED3-808F-5E84-C32EA9D844E7}"/>
              </a:ext>
            </a:extLst>
          </p:cNvPr>
          <p:cNvPicPr>
            <a:picLocks noChangeAspect="1"/>
          </p:cNvPicPr>
          <p:nvPr/>
        </p:nvPicPr>
        <p:blipFill>
          <a:blip r:embed="rId4"/>
          <a:stretch>
            <a:fillRect/>
          </a:stretch>
        </p:blipFill>
        <p:spPr>
          <a:xfrm>
            <a:off x="5172363" y="3266470"/>
            <a:ext cx="5828145" cy="2749657"/>
          </a:xfrm>
          <a:prstGeom prst="rect">
            <a:avLst/>
          </a:prstGeom>
        </p:spPr>
      </p:pic>
      <p:sp>
        <p:nvSpPr>
          <p:cNvPr id="8" name="TextBox 7">
            <a:extLst>
              <a:ext uri="{FF2B5EF4-FFF2-40B4-BE49-F238E27FC236}">
                <a16:creationId xmlns:a16="http://schemas.microsoft.com/office/drawing/2014/main" id="{5AE89B29-4C5E-6407-C221-F22ADDE480F2}"/>
              </a:ext>
            </a:extLst>
          </p:cNvPr>
          <p:cNvSpPr txBox="1"/>
          <p:nvPr/>
        </p:nvSpPr>
        <p:spPr>
          <a:xfrm>
            <a:off x="969818" y="6316952"/>
            <a:ext cx="8497455" cy="369332"/>
          </a:xfrm>
          <a:prstGeom prst="rect">
            <a:avLst/>
          </a:prstGeom>
          <a:noFill/>
        </p:spPr>
        <p:txBody>
          <a:bodyPr wrap="square" rtlCol="0">
            <a:spAutoFit/>
          </a:bodyPr>
          <a:lstStyle/>
          <a:p>
            <a:r>
              <a:rPr lang="en-US" dirty="0"/>
              <a:t>Supporting Both HTML, and React Formats to Common API Layer.</a:t>
            </a:r>
          </a:p>
        </p:txBody>
      </p:sp>
    </p:spTree>
    <p:extLst>
      <p:ext uri="{BB962C8B-B14F-4D97-AF65-F5344CB8AC3E}">
        <p14:creationId xmlns:p14="http://schemas.microsoft.com/office/powerpoint/2010/main" val="2937458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E1F9-8DFF-5696-1D38-959C3AA7C699}"/>
              </a:ext>
            </a:extLst>
          </p:cNvPr>
          <p:cNvSpPr>
            <a:spLocks noGrp="1"/>
          </p:cNvSpPr>
          <p:nvPr>
            <p:ph type="title"/>
          </p:nvPr>
        </p:nvSpPr>
        <p:spPr/>
        <p:txBody>
          <a:bodyPr/>
          <a:lstStyle/>
          <a:p>
            <a:r>
              <a:rPr lang="en-US" dirty="0"/>
              <a:t>And All PCI Data Masked</a:t>
            </a:r>
          </a:p>
        </p:txBody>
      </p:sp>
      <p:pic>
        <p:nvPicPr>
          <p:cNvPr id="4" name="Picture 3">
            <a:extLst>
              <a:ext uri="{FF2B5EF4-FFF2-40B4-BE49-F238E27FC236}">
                <a16:creationId xmlns:a16="http://schemas.microsoft.com/office/drawing/2014/main" id="{2A90E6D3-4FCB-83E5-E437-8F4D56D70452}"/>
              </a:ext>
            </a:extLst>
          </p:cNvPr>
          <p:cNvPicPr>
            <a:picLocks noChangeAspect="1"/>
          </p:cNvPicPr>
          <p:nvPr/>
        </p:nvPicPr>
        <p:blipFill>
          <a:blip r:embed="rId2"/>
          <a:stretch>
            <a:fillRect/>
          </a:stretch>
        </p:blipFill>
        <p:spPr>
          <a:xfrm>
            <a:off x="697583" y="1690689"/>
            <a:ext cx="9068586" cy="2089459"/>
          </a:xfrm>
          <a:prstGeom prst="rect">
            <a:avLst/>
          </a:prstGeom>
        </p:spPr>
      </p:pic>
      <p:cxnSp>
        <p:nvCxnSpPr>
          <p:cNvPr id="6" name="Straight Arrow Connector 5">
            <a:extLst>
              <a:ext uri="{FF2B5EF4-FFF2-40B4-BE49-F238E27FC236}">
                <a16:creationId xmlns:a16="http://schemas.microsoft.com/office/drawing/2014/main" id="{0632704F-09AD-3025-6366-BABAE20671EF}"/>
              </a:ext>
            </a:extLst>
          </p:cNvPr>
          <p:cNvCxnSpPr>
            <a:cxnSpLocks/>
            <a:endCxn id="7" idx="1"/>
          </p:cNvCxnSpPr>
          <p:nvPr/>
        </p:nvCxnSpPr>
        <p:spPr>
          <a:xfrm>
            <a:off x="4392891" y="1423447"/>
            <a:ext cx="2460396" cy="1854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2FF04E4-568A-FE33-1D53-910EB8445222}"/>
              </a:ext>
            </a:extLst>
          </p:cNvPr>
          <p:cNvSpPr txBox="1"/>
          <p:nvPr/>
        </p:nvSpPr>
        <p:spPr>
          <a:xfrm>
            <a:off x="6853287" y="2954708"/>
            <a:ext cx="2771480" cy="646331"/>
          </a:xfrm>
          <a:prstGeom prst="rect">
            <a:avLst/>
          </a:prstGeom>
          <a:noFill/>
        </p:spPr>
        <p:txBody>
          <a:bodyPr wrap="square" rtlCol="0">
            <a:spAutoFit/>
          </a:bodyPr>
          <a:lstStyle/>
          <a:p>
            <a:r>
              <a:rPr lang="en-US" dirty="0" err="1"/>
              <a:t>CockyCipher</a:t>
            </a:r>
            <a:r>
              <a:rPr lang="en-US" dirty="0"/>
              <a:t> to Encrypt All Browser Information</a:t>
            </a:r>
          </a:p>
        </p:txBody>
      </p:sp>
      <p:pic>
        <p:nvPicPr>
          <p:cNvPr id="9" name="Picture 8">
            <a:extLst>
              <a:ext uri="{FF2B5EF4-FFF2-40B4-BE49-F238E27FC236}">
                <a16:creationId xmlns:a16="http://schemas.microsoft.com/office/drawing/2014/main" id="{C219332A-6C93-0FAF-4DD3-7D5A813F646A}"/>
              </a:ext>
            </a:extLst>
          </p:cNvPr>
          <p:cNvPicPr>
            <a:picLocks noChangeAspect="1"/>
          </p:cNvPicPr>
          <p:nvPr/>
        </p:nvPicPr>
        <p:blipFill>
          <a:blip r:embed="rId3"/>
          <a:stretch>
            <a:fillRect/>
          </a:stretch>
        </p:blipFill>
        <p:spPr>
          <a:xfrm>
            <a:off x="838200" y="4212359"/>
            <a:ext cx="3771507" cy="2645641"/>
          </a:xfrm>
          <a:prstGeom prst="rect">
            <a:avLst/>
          </a:prstGeom>
        </p:spPr>
      </p:pic>
      <p:pic>
        <p:nvPicPr>
          <p:cNvPr id="12" name="Picture 11">
            <a:extLst>
              <a:ext uri="{FF2B5EF4-FFF2-40B4-BE49-F238E27FC236}">
                <a16:creationId xmlns:a16="http://schemas.microsoft.com/office/drawing/2014/main" id="{819D81B3-5D7D-824C-C21B-CD9F81C93C32}"/>
              </a:ext>
            </a:extLst>
          </p:cNvPr>
          <p:cNvPicPr>
            <a:picLocks noChangeAspect="1"/>
          </p:cNvPicPr>
          <p:nvPr/>
        </p:nvPicPr>
        <p:blipFill>
          <a:blip r:embed="rId4"/>
          <a:stretch>
            <a:fillRect/>
          </a:stretch>
        </p:blipFill>
        <p:spPr>
          <a:xfrm>
            <a:off x="5197135" y="4237378"/>
            <a:ext cx="4955533" cy="2436799"/>
          </a:xfrm>
          <a:prstGeom prst="rect">
            <a:avLst/>
          </a:prstGeom>
        </p:spPr>
      </p:pic>
      <p:cxnSp>
        <p:nvCxnSpPr>
          <p:cNvPr id="14" name="Straight Arrow Connector 13">
            <a:extLst>
              <a:ext uri="{FF2B5EF4-FFF2-40B4-BE49-F238E27FC236}">
                <a16:creationId xmlns:a16="http://schemas.microsoft.com/office/drawing/2014/main" id="{BF5D6F76-396B-539D-1B4C-AE403C3D1442}"/>
              </a:ext>
            </a:extLst>
          </p:cNvPr>
          <p:cNvCxnSpPr/>
          <p:nvPr/>
        </p:nvCxnSpPr>
        <p:spPr>
          <a:xfrm>
            <a:off x="4392891" y="1527142"/>
            <a:ext cx="3195686" cy="43174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ACD6A72-1EB2-E3EE-9EBC-6A51E3B01298}"/>
              </a:ext>
            </a:extLst>
          </p:cNvPr>
          <p:cNvCxnSpPr/>
          <p:nvPr/>
        </p:nvCxnSpPr>
        <p:spPr>
          <a:xfrm flipH="1">
            <a:off x="3393649" y="1527142"/>
            <a:ext cx="876693" cy="42420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7485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4684A4-0DA2-4C23-1949-D920586A7540}"/>
              </a:ext>
            </a:extLst>
          </p:cNvPr>
          <p:cNvSpPr>
            <a:spLocks noGrp="1"/>
          </p:cNvSpPr>
          <p:nvPr>
            <p:ph type="ctrTitle"/>
          </p:nvPr>
        </p:nvSpPr>
        <p:spPr/>
        <p:txBody>
          <a:bodyPr/>
          <a:lstStyle/>
          <a:p>
            <a:r>
              <a:rPr lang="en-US" dirty="0"/>
              <a:t>Market Trends</a:t>
            </a:r>
          </a:p>
        </p:txBody>
      </p:sp>
      <p:sp>
        <p:nvSpPr>
          <p:cNvPr id="4" name="Subtitle 3">
            <a:extLst>
              <a:ext uri="{FF2B5EF4-FFF2-40B4-BE49-F238E27FC236}">
                <a16:creationId xmlns:a16="http://schemas.microsoft.com/office/drawing/2014/main" id="{FC7A49B7-1DAB-9F23-3F76-5F9AF9151A23}"/>
              </a:ext>
            </a:extLst>
          </p:cNvPr>
          <p:cNvSpPr>
            <a:spLocks noGrp="1"/>
          </p:cNvSpPr>
          <p:nvPr>
            <p:ph type="subTitle" idx="1"/>
          </p:nvPr>
        </p:nvSpPr>
        <p:spPr/>
        <p:txBody>
          <a:bodyPr/>
          <a:lstStyle/>
          <a:p>
            <a:r>
              <a:rPr lang="en-US" dirty="0"/>
              <a:t>09/30/2026</a:t>
            </a:r>
          </a:p>
        </p:txBody>
      </p:sp>
    </p:spTree>
    <p:extLst>
      <p:ext uri="{BB962C8B-B14F-4D97-AF65-F5344CB8AC3E}">
        <p14:creationId xmlns:p14="http://schemas.microsoft.com/office/powerpoint/2010/main" val="1637935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5F767-6F7A-839C-F219-DC0B6C2C2D00}"/>
              </a:ext>
            </a:extLst>
          </p:cNvPr>
          <p:cNvSpPr>
            <a:spLocks noGrp="1"/>
          </p:cNvSpPr>
          <p:nvPr>
            <p:ph type="title"/>
          </p:nvPr>
        </p:nvSpPr>
        <p:spPr/>
        <p:txBody>
          <a:bodyPr/>
          <a:lstStyle/>
          <a:p>
            <a:r>
              <a:rPr lang="en-US" dirty="0"/>
              <a:t>Object Oriented Programming to REST APIs</a:t>
            </a:r>
          </a:p>
        </p:txBody>
      </p:sp>
      <p:sp>
        <p:nvSpPr>
          <p:cNvPr id="3" name="Content Placeholder 2">
            <a:extLst>
              <a:ext uri="{FF2B5EF4-FFF2-40B4-BE49-F238E27FC236}">
                <a16:creationId xmlns:a16="http://schemas.microsoft.com/office/drawing/2014/main" id="{7787371B-CEB0-B7D1-30B3-C62B45FD9381}"/>
              </a:ext>
            </a:extLst>
          </p:cNvPr>
          <p:cNvSpPr>
            <a:spLocks noGrp="1"/>
          </p:cNvSpPr>
          <p:nvPr>
            <p:ph idx="1"/>
          </p:nvPr>
        </p:nvSpPr>
        <p:spPr>
          <a:xfrm>
            <a:off x="311727" y="1779443"/>
            <a:ext cx="7686964" cy="4351338"/>
          </a:xfrm>
        </p:spPr>
        <p:txBody>
          <a:bodyPr>
            <a:normAutofit fontScale="70000" lnSpcReduction="20000"/>
          </a:bodyPr>
          <a:lstStyle/>
          <a:p>
            <a:r>
              <a:rPr lang="en-US" dirty="0"/>
              <a:t>When you develop functions in any major programming language (java, c/</a:t>
            </a:r>
            <a:r>
              <a:rPr lang="en-US" dirty="0" err="1"/>
              <a:t>c++</a:t>
            </a:r>
            <a:r>
              <a:rPr lang="en-US" dirty="0"/>
              <a:t>, python, ruby, C#, </a:t>
            </a:r>
            <a:r>
              <a:rPr lang="en-US" dirty="0" err="1"/>
              <a:t>objectiveC</a:t>
            </a:r>
            <a:r>
              <a:rPr lang="en-US" dirty="0"/>
              <a:t>, </a:t>
            </a:r>
            <a:r>
              <a:rPr lang="en-US" dirty="0" err="1"/>
              <a:t>javascript</a:t>
            </a:r>
            <a:r>
              <a:rPr lang="en-US" dirty="0"/>
              <a:t>, PHP, C#) variables are passed as parameters to functions, and values are returned.</a:t>
            </a:r>
          </a:p>
          <a:p>
            <a:r>
              <a:rPr lang="en-US" dirty="0"/>
              <a:t>REST APIs simply deliver functions across a Network Boundary. </a:t>
            </a:r>
            <a:r>
              <a:rPr lang="en-US" dirty="0" err="1"/>
              <a:t>DotNet</a:t>
            </a:r>
            <a:r>
              <a:rPr lang="en-US" dirty="0"/>
              <a:t> C#, and NodeJS Express API have effectively allowed functions to be run not on a local workstation but across networks.</a:t>
            </a:r>
          </a:p>
          <a:p>
            <a:r>
              <a:rPr lang="en-US" dirty="0"/>
              <a:t>C# Controllers, and NodeJS controllers are the functional interfaces. They are defined with inputs/outputs just like any OOO coding mechanism.</a:t>
            </a:r>
          </a:p>
          <a:p>
            <a:r>
              <a:rPr lang="en-US" dirty="0" err="1"/>
              <a:t>Whats</a:t>
            </a:r>
            <a:r>
              <a:rPr lang="en-US" dirty="0"/>
              <a:t> New? Well when you hook a Functional Model to a Model View Controller(MVC) you can run Server-Side Code to an entire </a:t>
            </a:r>
            <a:r>
              <a:rPr lang="en-US" dirty="0" err="1"/>
              <a:t>backoffice</a:t>
            </a:r>
            <a:r>
              <a:rPr lang="en-US" dirty="0"/>
              <a:t> or create standalone agents on any device.</a:t>
            </a:r>
          </a:p>
          <a:p>
            <a:r>
              <a:rPr lang="en-US" dirty="0">
                <a:solidFill>
                  <a:srgbClr val="FF0000"/>
                </a:solidFill>
              </a:rPr>
              <a:t>But Legacy OOP model speak any programming language… while REST APIS have a native language of JSON objects. JSONS go in, JSONs go out which is much more restrictive.</a:t>
            </a:r>
          </a:p>
        </p:txBody>
      </p:sp>
      <p:sp>
        <p:nvSpPr>
          <p:cNvPr id="4" name="Rectangle: Rounded Corners 3">
            <a:extLst>
              <a:ext uri="{FF2B5EF4-FFF2-40B4-BE49-F238E27FC236}">
                <a16:creationId xmlns:a16="http://schemas.microsoft.com/office/drawing/2014/main" id="{949D5205-4F83-DD1E-0DDA-1470AF81A444}"/>
              </a:ext>
            </a:extLst>
          </p:cNvPr>
          <p:cNvSpPr/>
          <p:nvPr/>
        </p:nvSpPr>
        <p:spPr>
          <a:xfrm>
            <a:off x="8128001" y="1779443"/>
            <a:ext cx="3752272" cy="10284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Client</a:t>
            </a:r>
          </a:p>
          <a:p>
            <a:pPr algn="ctr"/>
            <a:r>
              <a:rPr lang="en-US" dirty="0"/>
              <a:t>(With Local And Remote Functions)</a:t>
            </a:r>
          </a:p>
        </p:txBody>
      </p:sp>
      <p:sp>
        <p:nvSpPr>
          <p:cNvPr id="5" name="Rectangle: Rounded Corners 4">
            <a:extLst>
              <a:ext uri="{FF2B5EF4-FFF2-40B4-BE49-F238E27FC236}">
                <a16:creationId xmlns:a16="http://schemas.microsoft.com/office/drawing/2014/main" id="{0305C363-EAB1-99B3-D899-DF808356D054}"/>
              </a:ext>
            </a:extLst>
          </p:cNvPr>
          <p:cNvSpPr/>
          <p:nvPr/>
        </p:nvSpPr>
        <p:spPr>
          <a:xfrm>
            <a:off x="8245763" y="4618182"/>
            <a:ext cx="3752271" cy="11637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API</a:t>
            </a:r>
          </a:p>
          <a:p>
            <a:pPr algn="ctr"/>
            <a:r>
              <a:rPr lang="en-US" dirty="0"/>
              <a:t>(Functions Accessed Remotely)</a:t>
            </a:r>
          </a:p>
        </p:txBody>
      </p:sp>
      <p:cxnSp>
        <p:nvCxnSpPr>
          <p:cNvPr id="7" name="Straight Arrow Connector 6">
            <a:extLst>
              <a:ext uri="{FF2B5EF4-FFF2-40B4-BE49-F238E27FC236}">
                <a16:creationId xmlns:a16="http://schemas.microsoft.com/office/drawing/2014/main" id="{1716A13A-06E4-CDE5-3049-EE6273E88F2B}"/>
              </a:ext>
            </a:extLst>
          </p:cNvPr>
          <p:cNvCxnSpPr/>
          <p:nvPr/>
        </p:nvCxnSpPr>
        <p:spPr>
          <a:xfrm>
            <a:off x="8478982" y="2937164"/>
            <a:ext cx="0" cy="1597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EBF3999-77EF-CB15-9031-F1B0E923C2EC}"/>
              </a:ext>
            </a:extLst>
          </p:cNvPr>
          <p:cNvCxnSpPr/>
          <p:nvPr/>
        </p:nvCxnSpPr>
        <p:spPr>
          <a:xfrm>
            <a:off x="11353800" y="2937164"/>
            <a:ext cx="0" cy="1597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Pentagon 9">
            <a:extLst>
              <a:ext uri="{FF2B5EF4-FFF2-40B4-BE49-F238E27FC236}">
                <a16:creationId xmlns:a16="http://schemas.microsoft.com/office/drawing/2014/main" id="{D7026BEC-EEE0-ED90-57C5-BAA8C496BB6E}"/>
              </a:ext>
            </a:extLst>
          </p:cNvPr>
          <p:cNvSpPr/>
          <p:nvPr/>
        </p:nvSpPr>
        <p:spPr>
          <a:xfrm>
            <a:off x="8756073" y="5552137"/>
            <a:ext cx="452582" cy="459654"/>
          </a:xfrm>
          <a:prstGeom prst="pentagon">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entagon 10">
            <a:extLst>
              <a:ext uri="{FF2B5EF4-FFF2-40B4-BE49-F238E27FC236}">
                <a16:creationId xmlns:a16="http://schemas.microsoft.com/office/drawing/2014/main" id="{122D64FC-58F8-EDE9-AF3B-C4DB6B7B5D4C}"/>
              </a:ext>
            </a:extLst>
          </p:cNvPr>
          <p:cNvSpPr/>
          <p:nvPr/>
        </p:nvSpPr>
        <p:spPr>
          <a:xfrm>
            <a:off x="11065164" y="5588541"/>
            <a:ext cx="452582" cy="386846"/>
          </a:xfrm>
          <a:prstGeom prst="pentagon">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0B47843-B9F3-8704-1CB4-31EFE744836C}"/>
              </a:ext>
            </a:extLst>
          </p:cNvPr>
          <p:cNvSpPr/>
          <p:nvPr/>
        </p:nvSpPr>
        <p:spPr>
          <a:xfrm>
            <a:off x="8839200" y="3278909"/>
            <a:ext cx="2225963" cy="11094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Networks</a:t>
            </a:r>
          </a:p>
        </p:txBody>
      </p:sp>
      <p:sp>
        <p:nvSpPr>
          <p:cNvPr id="13" name="TextBox 12">
            <a:extLst>
              <a:ext uri="{FF2B5EF4-FFF2-40B4-BE49-F238E27FC236}">
                <a16:creationId xmlns:a16="http://schemas.microsoft.com/office/drawing/2014/main" id="{138411CF-8785-3B33-C90D-96887AC216BC}"/>
              </a:ext>
            </a:extLst>
          </p:cNvPr>
          <p:cNvSpPr txBox="1"/>
          <p:nvPr/>
        </p:nvSpPr>
        <p:spPr>
          <a:xfrm>
            <a:off x="8571345" y="6269326"/>
            <a:ext cx="3657600" cy="369332"/>
          </a:xfrm>
          <a:prstGeom prst="rect">
            <a:avLst/>
          </a:prstGeom>
          <a:noFill/>
        </p:spPr>
        <p:txBody>
          <a:bodyPr wrap="square" rtlCol="0">
            <a:spAutoFit/>
          </a:bodyPr>
          <a:lstStyle/>
          <a:p>
            <a:r>
              <a:rPr lang="en-US" dirty="0"/>
              <a:t>REST Functions Speak “JSON”</a:t>
            </a:r>
          </a:p>
        </p:txBody>
      </p:sp>
    </p:spTree>
    <p:extLst>
      <p:ext uri="{BB962C8B-B14F-4D97-AF65-F5344CB8AC3E}">
        <p14:creationId xmlns:p14="http://schemas.microsoft.com/office/powerpoint/2010/main" val="3751008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71ED8-6C06-15DF-04AE-92055F587FBF}"/>
              </a:ext>
            </a:extLst>
          </p:cNvPr>
          <p:cNvSpPr>
            <a:spLocks noGrp="1"/>
          </p:cNvSpPr>
          <p:nvPr>
            <p:ph type="title"/>
          </p:nvPr>
        </p:nvSpPr>
        <p:spPr/>
        <p:txBody>
          <a:bodyPr/>
          <a:lstStyle/>
          <a:p>
            <a:r>
              <a:rPr lang="en-US" dirty="0"/>
              <a:t>Sockets Programming… Eliminated…</a:t>
            </a:r>
          </a:p>
        </p:txBody>
      </p:sp>
      <p:sp>
        <p:nvSpPr>
          <p:cNvPr id="3" name="Content Placeholder 2">
            <a:extLst>
              <a:ext uri="{FF2B5EF4-FFF2-40B4-BE49-F238E27FC236}">
                <a16:creationId xmlns:a16="http://schemas.microsoft.com/office/drawing/2014/main" id="{F95D688D-E39C-F01F-6DFB-82D248F65289}"/>
              </a:ext>
            </a:extLst>
          </p:cNvPr>
          <p:cNvSpPr>
            <a:spLocks noGrp="1"/>
          </p:cNvSpPr>
          <p:nvPr>
            <p:ph idx="1"/>
          </p:nvPr>
        </p:nvSpPr>
        <p:spPr/>
        <p:txBody>
          <a:bodyPr/>
          <a:lstStyle/>
          <a:p>
            <a:r>
              <a:rPr lang="en-US" dirty="0"/>
              <a:t>Historically Sockets Programming was a CIS5XX-CIS7XX class after an engineer had at least three years of programming experience, and at least two classes on networks.</a:t>
            </a:r>
          </a:p>
          <a:p>
            <a:r>
              <a:rPr lang="en-US" dirty="0"/>
              <a:t>Sockets Programming allows for any data structure to be passed over a network in any form…. But….</a:t>
            </a:r>
          </a:p>
          <a:p>
            <a:r>
              <a:rPr lang="en-US" dirty="0"/>
              <a:t>Getting data to a peer doesn’t get any work done. There is no MVC, no database connectivity, and EVERYTHING IS ICB.</a:t>
            </a:r>
          </a:p>
          <a:p>
            <a:r>
              <a:rPr lang="en-US" dirty="0"/>
              <a:t>Necessarily Sockets Programming will never be used by anyone who already knows how to program using REST with MVCs. It doesn’t buy anything in practice…. except higher security options.</a:t>
            </a:r>
          </a:p>
        </p:txBody>
      </p:sp>
    </p:spTree>
    <p:extLst>
      <p:ext uri="{BB962C8B-B14F-4D97-AF65-F5344CB8AC3E}">
        <p14:creationId xmlns:p14="http://schemas.microsoft.com/office/powerpoint/2010/main" val="3025120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EBAB-FD66-839E-554D-D75FF9A47A26}"/>
              </a:ext>
            </a:extLst>
          </p:cNvPr>
          <p:cNvSpPr>
            <a:spLocks noGrp="1"/>
          </p:cNvSpPr>
          <p:nvPr>
            <p:ph type="title"/>
          </p:nvPr>
        </p:nvSpPr>
        <p:spPr>
          <a:xfrm>
            <a:off x="838200" y="365125"/>
            <a:ext cx="10515600" cy="920211"/>
          </a:xfrm>
        </p:spPr>
        <p:txBody>
          <a:bodyPr/>
          <a:lstStyle/>
          <a:p>
            <a:r>
              <a:rPr lang="en-US" dirty="0"/>
              <a:t>Commercial Database Layers Moving To REST</a:t>
            </a:r>
          </a:p>
        </p:txBody>
      </p:sp>
      <p:sp>
        <p:nvSpPr>
          <p:cNvPr id="3" name="Content Placeholder 2">
            <a:extLst>
              <a:ext uri="{FF2B5EF4-FFF2-40B4-BE49-F238E27FC236}">
                <a16:creationId xmlns:a16="http://schemas.microsoft.com/office/drawing/2014/main" id="{C4CBEB08-0234-EEFF-6219-D772F853D25C}"/>
              </a:ext>
            </a:extLst>
          </p:cNvPr>
          <p:cNvSpPr>
            <a:spLocks noGrp="1"/>
          </p:cNvSpPr>
          <p:nvPr>
            <p:ph idx="1"/>
          </p:nvPr>
        </p:nvSpPr>
        <p:spPr>
          <a:xfrm>
            <a:off x="355121" y="1431985"/>
            <a:ext cx="7650192" cy="5210354"/>
          </a:xfrm>
        </p:spPr>
        <p:txBody>
          <a:bodyPr>
            <a:normAutofit fontScale="40000" lnSpcReduction="20000"/>
          </a:bodyPr>
          <a:lstStyle/>
          <a:p>
            <a:r>
              <a:rPr lang="en-US" dirty="0"/>
              <a:t>Historically Oracle OCI Drivers, and Microsoft Visual Studio Grid Objects &gt; 90% Market Share Since 1990.</a:t>
            </a:r>
          </a:p>
          <a:p>
            <a:pPr lvl="1"/>
            <a:r>
              <a:rPr lang="en-US" dirty="0"/>
              <a:t>Driving Thick Client Connectivity Direct to Databases.</a:t>
            </a:r>
          </a:p>
          <a:p>
            <a:pPr lvl="1"/>
            <a:r>
              <a:rPr lang="en-US" dirty="0"/>
              <a:t>2</a:t>
            </a:r>
            <a:r>
              <a:rPr lang="en-US" baseline="30000" dirty="0"/>
              <a:t>nd</a:t>
            </a:r>
            <a:r>
              <a:rPr lang="en-US" dirty="0"/>
              <a:t> Level Orchestration Platforms Built For Synchronization, and Management Dashboarding. </a:t>
            </a:r>
          </a:p>
          <a:p>
            <a:pPr lvl="2"/>
            <a:r>
              <a:rPr lang="en-US" dirty="0"/>
              <a:t>(</a:t>
            </a:r>
            <a:r>
              <a:rPr lang="en-US" dirty="0" err="1"/>
              <a:t>Eg</a:t>
            </a:r>
            <a:r>
              <a:rPr lang="en-US" dirty="0"/>
              <a:t> Ivanti/Intel </a:t>
            </a:r>
            <a:r>
              <a:rPr lang="en-US" dirty="0" err="1"/>
              <a:t>Landesk</a:t>
            </a:r>
            <a:r>
              <a:rPr lang="en-US" dirty="0"/>
              <a:t> Manager, IBM </a:t>
            </a:r>
            <a:r>
              <a:rPr lang="en-US" dirty="0" err="1"/>
              <a:t>NetCool</a:t>
            </a:r>
            <a:r>
              <a:rPr lang="en-US" dirty="0"/>
              <a:t>, Kratos </a:t>
            </a:r>
            <a:r>
              <a:rPr lang="en-US" dirty="0" err="1"/>
              <a:t>NeuralStar</a:t>
            </a:r>
            <a:r>
              <a:rPr lang="en-US" dirty="0"/>
              <a:t>)</a:t>
            </a:r>
          </a:p>
          <a:p>
            <a:r>
              <a:rPr lang="en-US" dirty="0"/>
              <a:t>Circa 2000</a:t>
            </a:r>
          </a:p>
          <a:p>
            <a:pPr lvl="1"/>
            <a:r>
              <a:rPr lang="en-US" dirty="0"/>
              <a:t>Code Behinds from HTML Became the Rage</a:t>
            </a:r>
          </a:p>
          <a:p>
            <a:pPr lvl="1"/>
            <a:r>
              <a:rPr lang="en-US" dirty="0"/>
              <a:t>Java with JDBC Drivers</a:t>
            </a:r>
          </a:p>
          <a:p>
            <a:pPr lvl="1"/>
            <a:r>
              <a:rPr lang="en-US" dirty="0"/>
              <a:t>ASP.NET Pages with Microsoft ODBC Solutions</a:t>
            </a:r>
          </a:p>
          <a:p>
            <a:pPr lvl="1"/>
            <a:r>
              <a:rPr lang="en-US" dirty="0"/>
              <a:t>Adobe ColdFusion</a:t>
            </a:r>
          </a:p>
          <a:p>
            <a:pPr lvl="1"/>
            <a:r>
              <a:rPr lang="en-US" dirty="0"/>
              <a:t>JQUERY, AJAX over XML new types of data connectivity over HTTP Posts.</a:t>
            </a:r>
          </a:p>
          <a:p>
            <a:pPr lvl="1"/>
            <a:r>
              <a:rPr lang="en-US" dirty="0"/>
              <a:t>Code Behind Market Share Increasing &gt; 20% Anecdotally.</a:t>
            </a:r>
          </a:p>
          <a:p>
            <a:pPr lvl="1"/>
            <a:r>
              <a:rPr lang="en-US" dirty="0"/>
              <a:t>Legacy Coding Models Frozen or Queued For Port.</a:t>
            </a:r>
          </a:p>
          <a:p>
            <a:pPr lvl="1"/>
            <a:r>
              <a:rPr lang="en-US" dirty="0"/>
              <a:t>VDI Becomes Popular for Thick Clients rather than Redevelopment for Remote Users (Citrix, Windows Terminal Server).</a:t>
            </a:r>
          </a:p>
          <a:p>
            <a:pPr lvl="1"/>
            <a:r>
              <a:rPr lang="en-US" dirty="0"/>
              <a:t>Roy Fielding PHD Dissertation on Standardization of HTTP/HTTPS Posts (University of California)</a:t>
            </a:r>
          </a:p>
          <a:p>
            <a:r>
              <a:rPr lang="en-US" dirty="0"/>
              <a:t>By 2015</a:t>
            </a:r>
          </a:p>
          <a:p>
            <a:pPr lvl="1"/>
            <a:r>
              <a:rPr lang="en-US" dirty="0"/>
              <a:t>WordPress(80%+ CRM </a:t>
            </a:r>
            <a:r>
              <a:rPr lang="en-US" dirty="0" err="1"/>
              <a:t>Marketshare</a:t>
            </a:r>
            <a:r>
              <a:rPr lang="en-US" dirty="0"/>
              <a:t>), Joomla, and Drupal the largest 3 CRM tools added REST API capabilities to their platforms.</a:t>
            </a:r>
          </a:p>
          <a:p>
            <a:pPr lvl="1"/>
            <a:r>
              <a:rPr lang="en-US" dirty="0"/>
              <a:t>Microsoft, NodeJS, Django on Python all REST Variants.</a:t>
            </a:r>
          </a:p>
          <a:p>
            <a:pPr lvl="1"/>
            <a:r>
              <a:rPr lang="en-US" dirty="0"/>
              <a:t>All Major Cloud Providers (AWS, Azure, Google, Oracle, IBM, HP-EDS) over API Provisioning</a:t>
            </a:r>
          </a:p>
          <a:p>
            <a:pPr lvl="1"/>
            <a:r>
              <a:rPr lang="en-US" dirty="0"/>
              <a:t>Social Media Companies over SSO Over OATH2 (Facebook, Google, LinkedIn, Yahoo, Apple).</a:t>
            </a:r>
          </a:p>
          <a:p>
            <a:r>
              <a:rPr lang="en-US" dirty="0"/>
              <a:t>By 2020</a:t>
            </a:r>
          </a:p>
          <a:p>
            <a:pPr lvl="1"/>
            <a:r>
              <a:rPr lang="en-US" dirty="0"/>
              <a:t>All Major AI Providers have a full API layer, and programmatic links to major development platforms like </a:t>
            </a:r>
            <a:r>
              <a:rPr lang="en-US" dirty="0" err="1"/>
              <a:t>VSCode</a:t>
            </a:r>
            <a:r>
              <a:rPr lang="en-US" dirty="0"/>
              <a:t>.</a:t>
            </a:r>
          </a:p>
          <a:p>
            <a:endParaRPr lang="en-US" b="1" dirty="0"/>
          </a:p>
          <a:p>
            <a:pPr marL="0" indent="0">
              <a:buNone/>
            </a:pPr>
            <a:r>
              <a:rPr lang="en-US" b="1" dirty="0"/>
              <a:t>Gartner Doesn’t have stats… but my expert opinion is  that API Backends are now &gt; 80% of all new development simply because to use Cloud Native Interfaces you have to use it…. And Financial Institutions will not finance small IT projects with infrastructure.</a:t>
            </a:r>
          </a:p>
        </p:txBody>
      </p:sp>
      <p:pic>
        <p:nvPicPr>
          <p:cNvPr id="4" name="Picture 3">
            <a:extLst>
              <a:ext uri="{FF2B5EF4-FFF2-40B4-BE49-F238E27FC236}">
                <a16:creationId xmlns:a16="http://schemas.microsoft.com/office/drawing/2014/main" id="{E02DDC7F-A343-6948-144C-AA29652B79E3}"/>
              </a:ext>
            </a:extLst>
          </p:cNvPr>
          <p:cNvPicPr>
            <a:picLocks noChangeAspect="1"/>
          </p:cNvPicPr>
          <p:nvPr/>
        </p:nvPicPr>
        <p:blipFill>
          <a:blip r:embed="rId2"/>
          <a:stretch>
            <a:fillRect/>
          </a:stretch>
        </p:blipFill>
        <p:spPr>
          <a:xfrm>
            <a:off x="8327949" y="3650673"/>
            <a:ext cx="3365201" cy="2460458"/>
          </a:xfrm>
          <a:prstGeom prst="rect">
            <a:avLst/>
          </a:prstGeom>
          <a:ln>
            <a:solidFill>
              <a:schemeClr val="accent1"/>
            </a:solidFill>
          </a:ln>
        </p:spPr>
      </p:pic>
      <p:pic>
        <p:nvPicPr>
          <p:cNvPr id="5" name="Picture 4">
            <a:extLst>
              <a:ext uri="{FF2B5EF4-FFF2-40B4-BE49-F238E27FC236}">
                <a16:creationId xmlns:a16="http://schemas.microsoft.com/office/drawing/2014/main" id="{18E55A78-E01C-C457-C759-1E7C9AA63491}"/>
              </a:ext>
            </a:extLst>
          </p:cNvPr>
          <p:cNvPicPr>
            <a:picLocks noChangeAspect="1"/>
          </p:cNvPicPr>
          <p:nvPr/>
        </p:nvPicPr>
        <p:blipFill>
          <a:blip r:embed="rId3"/>
          <a:stretch>
            <a:fillRect/>
          </a:stretch>
        </p:blipFill>
        <p:spPr>
          <a:xfrm>
            <a:off x="8327949" y="1431984"/>
            <a:ext cx="3365201" cy="1997015"/>
          </a:xfrm>
          <a:prstGeom prst="rect">
            <a:avLst/>
          </a:prstGeom>
          <a:solidFill>
            <a:schemeClr val="bg1"/>
          </a:solidFill>
          <a:ln>
            <a:solidFill>
              <a:schemeClr val="accent1"/>
            </a:solidFill>
          </a:ln>
        </p:spPr>
      </p:pic>
    </p:spTree>
    <p:extLst>
      <p:ext uri="{BB962C8B-B14F-4D97-AF65-F5344CB8AC3E}">
        <p14:creationId xmlns:p14="http://schemas.microsoft.com/office/powerpoint/2010/main" val="2527287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B2775-2B0B-9E22-E906-5D6CE61F585D}"/>
              </a:ext>
            </a:extLst>
          </p:cNvPr>
          <p:cNvSpPr>
            <a:spLocks noGrp="1"/>
          </p:cNvSpPr>
          <p:nvPr>
            <p:ph type="title"/>
          </p:nvPr>
        </p:nvSpPr>
        <p:spPr/>
        <p:txBody>
          <a:bodyPr/>
          <a:lstStyle/>
          <a:p>
            <a:r>
              <a:rPr lang="en-US" dirty="0"/>
              <a:t>Database Models Moving Behind MVC &gt; 90%</a:t>
            </a:r>
          </a:p>
        </p:txBody>
      </p:sp>
      <p:grpSp>
        <p:nvGrpSpPr>
          <p:cNvPr id="5" name="Group 4">
            <a:extLst>
              <a:ext uri="{FF2B5EF4-FFF2-40B4-BE49-F238E27FC236}">
                <a16:creationId xmlns:a16="http://schemas.microsoft.com/office/drawing/2014/main" id="{57435938-AC8F-EBA4-076E-9696D9E3E554}"/>
              </a:ext>
            </a:extLst>
          </p:cNvPr>
          <p:cNvGrpSpPr/>
          <p:nvPr/>
        </p:nvGrpSpPr>
        <p:grpSpPr>
          <a:xfrm>
            <a:off x="942109" y="1939636"/>
            <a:ext cx="6871855" cy="2964869"/>
            <a:chOff x="942109" y="1939636"/>
            <a:chExt cx="9522692" cy="2964869"/>
          </a:xfrm>
        </p:grpSpPr>
        <p:sp>
          <p:nvSpPr>
            <p:cNvPr id="4" name="Rectangle 3">
              <a:extLst>
                <a:ext uri="{FF2B5EF4-FFF2-40B4-BE49-F238E27FC236}">
                  <a16:creationId xmlns:a16="http://schemas.microsoft.com/office/drawing/2014/main" id="{8FEB056F-2214-F0EC-AAC4-5D46D40B84B1}"/>
                </a:ext>
              </a:extLst>
            </p:cNvPr>
            <p:cNvSpPr/>
            <p:nvPr/>
          </p:nvSpPr>
          <p:spPr>
            <a:xfrm>
              <a:off x="942109" y="2041236"/>
              <a:ext cx="2198255" cy="27801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Client</a:t>
              </a:r>
            </a:p>
          </p:txBody>
        </p:sp>
        <p:cxnSp>
          <p:nvCxnSpPr>
            <p:cNvPr id="6" name="Straight Arrow Connector 5">
              <a:extLst>
                <a:ext uri="{FF2B5EF4-FFF2-40B4-BE49-F238E27FC236}">
                  <a16:creationId xmlns:a16="http://schemas.microsoft.com/office/drawing/2014/main" id="{EB8B3A3F-549F-5BD5-0CC8-70C36AF72DEF}"/>
                </a:ext>
              </a:extLst>
            </p:cNvPr>
            <p:cNvCxnSpPr/>
            <p:nvPr/>
          </p:nvCxnSpPr>
          <p:spPr>
            <a:xfrm>
              <a:off x="3278909" y="2724727"/>
              <a:ext cx="184727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561D912-3EE7-FC79-9009-AEFB39D3E028}"/>
                </a:ext>
              </a:extLst>
            </p:cNvPr>
            <p:cNvCxnSpPr>
              <a:cxnSpLocks/>
            </p:cNvCxnSpPr>
            <p:nvPr/>
          </p:nvCxnSpPr>
          <p:spPr>
            <a:xfrm flipH="1">
              <a:off x="3371273" y="3897745"/>
              <a:ext cx="17549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8026EAC5-B560-9053-248D-BB93770CCF2B}"/>
                </a:ext>
              </a:extLst>
            </p:cNvPr>
            <p:cNvSpPr/>
            <p:nvPr/>
          </p:nvSpPr>
          <p:spPr>
            <a:xfrm>
              <a:off x="5467927" y="1939636"/>
              <a:ext cx="1847273" cy="2964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REST</a:t>
              </a:r>
            </a:p>
            <a:p>
              <a:pPr algn="ctr"/>
              <a:r>
                <a:rPr lang="en-US" sz="1200" dirty="0"/>
                <a:t>API</a:t>
              </a:r>
            </a:p>
            <a:p>
              <a:pPr algn="ctr"/>
              <a:r>
                <a:rPr lang="en-US" sz="1200" dirty="0"/>
                <a:t>With </a:t>
              </a:r>
            </a:p>
            <a:p>
              <a:pPr algn="ctr"/>
              <a:r>
                <a:rPr lang="en-US" sz="1200" dirty="0"/>
                <a:t>MVC</a:t>
              </a:r>
            </a:p>
          </p:txBody>
        </p:sp>
        <p:sp>
          <p:nvSpPr>
            <p:cNvPr id="11" name="Rectangle 10">
              <a:extLst>
                <a:ext uri="{FF2B5EF4-FFF2-40B4-BE49-F238E27FC236}">
                  <a16:creationId xmlns:a16="http://schemas.microsoft.com/office/drawing/2014/main" id="{87E9E8A7-AEF6-22CE-7E58-899C8DF62C63}"/>
                </a:ext>
              </a:extLst>
            </p:cNvPr>
            <p:cNvSpPr/>
            <p:nvPr/>
          </p:nvSpPr>
          <p:spPr>
            <a:xfrm>
              <a:off x="7573818" y="1939636"/>
              <a:ext cx="1228437" cy="2964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Database</a:t>
              </a:r>
            </a:p>
            <a:p>
              <a:pPr algn="ctr"/>
              <a:r>
                <a:rPr lang="en-US" sz="1200" dirty="0"/>
                <a:t>Adapter</a:t>
              </a:r>
            </a:p>
            <a:p>
              <a:pPr algn="ctr"/>
              <a:r>
                <a:rPr lang="en-US" sz="1200" dirty="0"/>
                <a:t>Layer</a:t>
              </a:r>
            </a:p>
            <a:p>
              <a:pPr algn="ctr"/>
              <a:r>
                <a:rPr lang="en-US" sz="1200" dirty="0"/>
                <a:t>(ORM/EF)</a:t>
              </a:r>
            </a:p>
          </p:txBody>
        </p:sp>
        <p:sp>
          <p:nvSpPr>
            <p:cNvPr id="12" name="Rectangle 11">
              <a:extLst>
                <a:ext uri="{FF2B5EF4-FFF2-40B4-BE49-F238E27FC236}">
                  <a16:creationId xmlns:a16="http://schemas.microsoft.com/office/drawing/2014/main" id="{3E61B43B-A554-3567-98BB-4189930D85C3}"/>
                </a:ext>
              </a:extLst>
            </p:cNvPr>
            <p:cNvSpPr/>
            <p:nvPr/>
          </p:nvSpPr>
          <p:spPr>
            <a:xfrm>
              <a:off x="9060873" y="1939636"/>
              <a:ext cx="1403928" cy="296486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SQL</a:t>
              </a:r>
            </a:p>
            <a:p>
              <a:pPr algn="ctr"/>
              <a:r>
                <a:rPr lang="en-US" sz="1200" dirty="0"/>
                <a:t>Database</a:t>
              </a:r>
            </a:p>
            <a:p>
              <a:pPr algn="ctr"/>
              <a:r>
                <a:rPr lang="en-US" sz="1200" dirty="0"/>
                <a:t>Node</a:t>
              </a:r>
            </a:p>
          </p:txBody>
        </p:sp>
      </p:grpSp>
      <p:sp>
        <p:nvSpPr>
          <p:cNvPr id="13" name="TextBox 12">
            <a:extLst>
              <a:ext uri="{FF2B5EF4-FFF2-40B4-BE49-F238E27FC236}">
                <a16:creationId xmlns:a16="http://schemas.microsoft.com/office/drawing/2014/main" id="{7DE21C9E-2450-19C1-0E97-FE63F523D96A}"/>
              </a:ext>
            </a:extLst>
          </p:cNvPr>
          <p:cNvSpPr txBox="1"/>
          <p:nvPr/>
        </p:nvSpPr>
        <p:spPr>
          <a:xfrm>
            <a:off x="341746" y="5199880"/>
            <a:ext cx="11139054" cy="1477328"/>
          </a:xfrm>
          <a:prstGeom prst="rect">
            <a:avLst/>
          </a:prstGeom>
          <a:solidFill>
            <a:schemeClr val="bg1"/>
          </a:solidFill>
          <a:ln>
            <a:solidFill>
              <a:schemeClr val="accent2">
                <a:lumMod val="50000"/>
              </a:schemeClr>
            </a:solidFill>
          </a:ln>
        </p:spPr>
        <p:txBody>
          <a:bodyPr wrap="square" rtlCol="0">
            <a:spAutoFit/>
          </a:bodyPr>
          <a:lstStyle/>
          <a:p>
            <a:r>
              <a:rPr lang="en-US" dirty="0"/>
              <a:t>Moving to a REST Model Lowers the cost of Database connectivity as Proprietary Microsoft, and Oracle OCI drivers which only speak to specific database types are no longer necessary. This “Commoditizes” the SQL DBMS Platform. DBMS tools offer effectively identical features with the exception of Replication Capabilities. </a:t>
            </a:r>
            <a:r>
              <a:rPr lang="en-US" dirty="0">
                <a:solidFill>
                  <a:schemeClr val="accent3">
                    <a:lumMod val="75000"/>
                  </a:schemeClr>
                </a:solidFill>
              </a:rPr>
              <a:t>Oracle, and MS-SQL are the only production platforms which can replicate ANY-ANY. </a:t>
            </a:r>
            <a:r>
              <a:rPr lang="en-US" dirty="0">
                <a:solidFill>
                  <a:schemeClr val="accent5">
                    <a:lumMod val="50000"/>
                  </a:schemeClr>
                </a:solidFill>
              </a:rPr>
              <a:t>MySQL requires a cluster Technology to replicate which requires many VMs/Machines (1 per Replication partner).</a:t>
            </a:r>
          </a:p>
        </p:txBody>
      </p:sp>
      <p:pic>
        <p:nvPicPr>
          <p:cNvPr id="3" name="Picture 2">
            <a:extLst>
              <a:ext uri="{FF2B5EF4-FFF2-40B4-BE49-F238E27FC236}">
                <a16:creationId xmlns:a16="http://schemas.microsoft.com/office/drawing/2014/main" id="{EB97CB15-6683-9888-82CF-3C45C216693E}"/>
              </a:ext>
            </a:extLst>
          </p:cNvPr>
          <p:cNvPicPr>
            <a:picLocks noChangeAspect="1"/>
          </p:cNvPicPr>
          <p:nvPr/>
        </p:nvPicPr>
        <p:blipFill>
          <a:blip r:embed="rId2"/>
          <a:stretch>
            <a:fillRect/>
          </a:stretch>
        </p:blipFill>
        <p:spPr>
          <a:xfrm>
            <a:off x="8128000" y="1936990"/>
            <a:ext cx="3962400" cy="2884392"/>
          </a:xfrm>
          <a:prstGeom prst="rect">
            <a:avLst/>
          </a:prstGeom>
        </p:spPr>
      </p:pic>
    </p:spTree>
    <p:extLst>
      <p:ext uri="{BB962C8B-B14F-4D97-AF65-F5344CB8AC3E}">
        <p14:creationId xmlns:p14="http://schemas.microsoft.com/office/powerpoint/2010/main" val="2442488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1EB7-C865-8D49-E990-229245E88020}"/>
              </a:ext>
            </a:extLst>
          </p:cNvPr>
          <p:cNvSpPr>
            <a:spLocks noGrp="1"/>
          </p:cNvSpPr>
          <p:nvPr>
            <p:ph type="title"/>
          </p:nvPr>
        </p:nvSpPr>
        <p:spPr/>
        <p:txBody>
          <a:bodyPr/>
          <a:lstStyle/>
          <a:p>
            <a:r>
              <a:rPr lang="en-US" dirty="0"/>
              <a:t>Clients Low Effective Security Compliance</a:t>
            </a:r>
          </a:p>
        </p:txBody>
      </p:sp>
      <p:sp>
        <p:nvSpPr>
          <p:cNvPr id="3" name="Content Placeholder 2">
            <a:extLst>
              <a:ext uri="{FF2B5EF4-FFF2-40B4-BE49-F238E27FC236}">
                <a16:creationId xmlns:a16="http://schemas.microsoft.com/office/drawing/2014/main" id="{429A7D38-436F-4E88-93B0-0403D4C925E9}"/>
              </a:ext>
            </a:extLst>
          </p:cNvPr>
          <p:cNvSpPr>
            <a:spLocks noGrp="1"/>
          </p:cNvSpPr>
          <p:nvPr>
            <p:ph idx="1"/>
          </p:nvPr>
        </p:nvSpPr>
        <p:spPr/>
        <p:txBody>
          <a:bodyPr>
            <a:normAutofit fontScale="85000" lnSpcReduction="20000"/>
          </a:bodyPr>
          <a:lstStyle/>
          <a:p>
            <a:r>
              <a:rPr lang="en-US" dirty="0"/>
              <a:t>In Large Enterprises IT Programs usually have 100’s to Thousands of Applications usually with many versions.</a:t>
            </a:r>
          </a:p>
          <a:p>
            <a:r>
              <a:rPr lang="en-US" dirty="0"/>
              <a:t>In Addition in the Fortune 100 usually these apps are distributed among core datacenters, and DR centers.</a:t>
            </a:r>
          </a:p>
          <a:p>
            <a:r>
              <a:rPr lang="en-US" dirty="0"/>
              <a:t>The result of tens of thousands of virtual machines, proxy servers and webservers in every combination.</a:t>
            </a:r>
          </a:p>
          <a:p>
            <a:r>
              <a:rPr lang="en-US" dirty="0"/>
              <a:t>We are seeking to mask all visible data on the client in memory, in the browser, and on disk.</a:t>
            </a:r>
          </a:p>
          <a:p>
            <a:r>
              <a:rPr lang="en-US" dirty="0"/>
              <a:t>Using “Banded/Imaged Machines” usually disk encryption is standardized. This can be part of the Operating System Windows/MACOS or as external encryption tools from third parties.</a:t>
            </a:r>
          </a:p>
          <a:p>
            <a:r>
              <a:rPr lang="en-US" dirty="0"/>
              <a:t>Application Encryption runs in the 10% range on only the most critical platforms outside of eCommerce Driven tools.</a:t>
            </a:r>
          </a:p>
        </p:txBody>
      </p:sp>
    </p:spTree>
    <p:extLst>
      <p:ext uri="{BB962C8B-B14F-4D97-AF65-F5344CB8AC3E}">
        <p14:creationId xmlns:p14="http://schemas.microsoft.com/office/powerpoint/2010/main" val="3739799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D1F64-9D29-6DC0-E7C1-08253EF98E67}"/>
              </a:ext>
            </a:extLst>
          </p:cNvPr>
          <p:cNvSpPr>
            <a:spLocks noGrp="1"/>
          </p:cNvSpPr>
          <p:nvPr>
            <p:ph type="title"/>
          </p:nvPr>
        </p:nvSpPr>
        <p:spPr/>
        <p:txBody>
          <a:bodyPr/>
          <a:lstStyle/>
          <a:p>
            <a:r>
              <a:rPr lang="en-US" dirty="0"/>
              <a:t>Requirements</a:t>
            </a:r>
          </a:p>
        </p:txBody>
      </p:sp>
      <p:sp>
        <p:nvSpPr>
          <p:cNvPr id="3" name="Content Placeholder 2">
            <a:extLst>
              <a:ext uri="{FF2B5EF4-FFF2-40B4-BE49-F238E27FC236}">
                <a16:creationId xmlns:a16="http://schemas.microsoft.com/office/drawing/2014/main" id="{EA2B79B5-D2F2-D97E-670C-FA637E119F84}"/>
              </a:ext>
            </a:extLst>
          </p:cNvPr>
          <p:cNvSpPr>
            <a:spLocks noGrp="1"/>
          </p:cNvSpPr>
          <p:nvPr>
            <p:ph idx="1"/>
          </p:nvPr>
        </p:nvSpPr>
        <p:spPr/>
        <p:txBody>
          <a:bodyPr/>
          <a:lstStyle/>
          <a:p>
            <a:r>
              <a:rPr lang="en-US" dirty="0"/>
              <a:t>Encrypt Applications</a:t>
            </a:r>
          </a:p>
          <a:p>
            <a:r>
              <a:rPr lang="en-US" dirty="0"/>
              <a:t>Secure REST Fabrics Client-Facing</a:t>
            </a:r>
          </a:p>
          <a:p>
            <a:r>
              <a:rPr lang="en-US" dirty="0"/>
              <a:t>Secure REST Fabrics Network-Facing</a:t>
            </a:r>
          </a:p>
          <a:p>
            <a:r>
              <a:rPr lang="en-US" dirty="0"/>
              <a:t>Secure Browser Temporary Spaces</a:t>
            </a:r>
          </a:p>
          <a:p>
            <a:pPr lvl="1"/>
            <a:r>
              <a:rPr lang="en-US" dirty="0"/>
              <a:t>(Cookies, Local Storage, Session Storage)</a:t>
            </a:r>
          </a:p>
          <a:p>
            <a:r>
              <a:rPr lang="en-US" dirty="0"/>
              <a:t>Automate the Auditing of the Network.</a:t>
            </a:r>
          </a:p>
        </p:txBody>
      </p:sp>
    </p:spTree>
    <p:extLst>
      <p:ext uri="{BB962C8B-B14F-4D97-AF65-F5344CB8AC3E}">
        <p14:creationId xmlns:p14="http://schemas.microsoft.com/office/powerpoint/2010/main" val="66051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2472</Words>
  <Application>Microsoft Office PowerPoint</Application>
  <PresentationFormat>Widescreen</PresentationFormat>
  <Paragraphs>276</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Georgia</vt:lpstr>
      <vt:lpstr>Office Theme</vt:lpstr>
      <vt:lpstr>Sprint2</vt:lpstr>
      <vt:lpstr>Cocky Cipher Suite</vt:lpstr>
      <vt:lpstr>Cocky Cipher Suite Overview w/o Proxy</vt:lpstr>
      <vt:lpstr>Application Basics</vt:lpstr>
      <vt:lpstr>Laws and Compliance</vt:lpstr>
      <vt:lpstr>Cocky Cipher Suite w Proxy – Simple Transport  Model</vt:lpstr>
      <vt:lpstr>Hub and Spoke Internet Models With Encryption Models</vt:lpstr>
      <vt:lpstr>Encryption - Per Session Models</vt:lpstr>
      <vt:lpstr>Some Perspective… Chrome Defaults to AES128</vt:lpstr>
      <vt:lpstr>Cipher Operations</vt:lpstr>
      <vt:lpstr>The BASICS OF THE COCKEY CIPHER</vt:lpstr>
      <vt:lpstr>Encrypt(m) – Standard Form.</vt:lpstr>
      <vt:lpstr>Encrypt(m) – Advanced Form</vt:lpstr>
      <vt:lpstr>Engima (A Four Wheeled Device)</vt:lpstr>
      <vt:lpstr>Classifying Our Algorithm?</vt:lpstr>
      <vt:lpstr>Securing… One App</vt:lpstr>
      <vt:lpstr>The End Goal… Clients Running Cocky Analytics Securely…. And Storage Areas Encrypted</vt:lpstr>
      <vt:lpstr>API Layer on Azure…  Running over Azure HTTPS with TwoFactor</vt:lpstr>
      <vt:lpstr>New CockyAuditor Platform</vt:lpstr>
      <vt:lpstr>And All PCI Data Masked</vt:lpstr>
      <vt:lpstr>Market Trends</vt:lpstr>
      <vt:lpstr>Object Oriented Programming to REST APIs</vt:lpstr>
      <vt:lpstr>Sockets Programming… Eliminated…</vt:lpstr>
      <vt:lpstr>Commercial Database Layers Moving To REST</vt:lpstr>
      <vt:lpstr>Database Models Moving Behind MVC &gt; 90%</vt:lpstr>
      <vt:lpstr>Clients Low Effective Security Compliance</vt:lpstr>
      <vt:lpstr>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Stewart</dc:creator>
  <cp:lastModifiedBy>Stritzinger, John</cp:lastModifiedBy>
  <cp:revision>43</cp:revision>
  <dcterms:created xsi:type="dcterms:W3CDTF">2026-09-26T19:43:52Z</dcterms:created>
  <dcterms:modified xsi:type="dcterms:W3CDTF">2026-09-30T13:29:42Z</dcterms:modified>
</cp:coreProperties>
</file>