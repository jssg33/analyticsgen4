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4" r:id="rId9"/>
    <p:sldId id="263" r:id="rId10"/>
    <p:sldId id="265" r:id="rId11"/>
    <p:sldId id="268" r:id="rId12"/>
    <p:sldId id="266" r:id="rId13"/>
    <p:sldId id="267"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BDA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02" d="100"/>
          <a:sy n="102" d="100"/>
        </p:scale>
        <p:origin x="14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98064-9A28-C344-56A6-F3FE4ADF3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E4B76DD-FD11-06AF-7261-706ECCBFA5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96DFFD-07B6-9480-4A93-FFD3151F31F0}"/>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5" name="Footer Placeholder 4">
            <a:extLst>
              <a:ext uri="{FF2B5EF4-FFF2-40B4-BE49-F238E27FC236}">
                <a16:creationId xmlns:a16="http://schemas.microsoft.com/office/drawing/2014/main" id="{67B2882C-962C-D2BF-C399-DC4989EA6C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FCA7F-7E26-CBCB-322D-58BD42F2DB0F}"/>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50217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658BE-488F-AF87-23E2-A456C2123A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C77747-491C-4193-E852-AEF50BFBE2F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4E5ABE-A730-AC59-5519-B54997331CB3}"/>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5" name="Footer Placeholder 4">
            <a:extLst>
              <a:ext uri="{FF2B5EF4-FFF2-40B4-BE49-F238E27FC236}">
                <a16:creationId xmlns:a16="http://schemas.microsoft.com/office/drawing/2014/main" id="{32D4078C-C761-0B95-82BF-2516FF33F3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7506AA-A2BA-2D26-AA04-C07F1A248CE5}"/>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601105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D0744-A8E8-4F18-EE92-5AA9E133DB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C0C6C96-C9D6-9ABA-578B-4A026E9E87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DAEAAC-D30A-4F62-98B9-8709DD7B8FFE}"/>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5" name="Footer Placeholder 4">
            <a:extLst>
              <a:ext uri="{FF2B5EF4-FFF2-40B4-BE49-F238E27FC236}">
                <a16:creationId xmlns:a16="http://schemas.microsoft.com/office/drawing/2014/main" id="{B9A2C38E-8986-1DA3-7235-CFAD26EAF4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60B42C-5891-58A6-1DD7-3F96E4D472E9}"/>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3152648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3D964-7EC5-9C2B-541D-0D740CF2BB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D7ABC2-5DF6-6E15-3632-FEDC147FAC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9BE5D7-0C35-9512-A530-4A25D2D7C1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EBFE6B5-9E81-0E3E-1D7F-02045FF7F131}"/>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6" name="Footer Placeholder 5">
            <a:extLst>
              <a:ext uri="{FF2B5EF4-FFF2-40B4-BE49-F238E27FC236}">
                <a16:creationId xmlns:a16="http://schemas.microsoft.com/office/drawing/2014/main" id="{2069F0DF-3AC5-B25C-AA84-6154D4267FB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DC6698-9F54-9635-7CE8-5CAF40BB49C2}"/>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2438237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66666-399F-55BD-1136-8E0D62BE3CF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8EDC19C-5935-4A2E-CE69-837FA64646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BE44674-F63B-B668-EA5F-DAC38D230B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4485FED-FC4E-9594-C7EE-EC4372FBD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114690F-265A-7C82-0BE6-2C78C65CAB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072B2-0764-BA83-560B-A1A244C720F1}"/>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8" name="Footer Placeholder 7">
            <a:extLst>
              <a:ext uri="{FF2B5EF4-FFF2-40B4-BE49-F238E27FC236}">
                <a16:creationId xmlns:a16="http://schemas.microsoft.com/office/drawing/2014/main" id="{6E1840F4-E491-DADF-2803-9866FE5FC72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C025D-743D-A672-2C32-70F50C7F06A2}"/>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19474003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A3A40-235D-FFB1-3080-5E6DA672D11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3C51BEA-3109-0698-4CA5-738257999E22}"/>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4" name="Footer Placeholder 3">
            <a:extLst>
              <a:ext uri="{FF2B5EF4-FFF2-40B4-BE49-F238E27FC236}">
                <a16:creationId xmlns:a16="http://schemas.microsoft.com/office/drawing/2014/main" id="{9C40D0E7-AE8F-56EF-D581-2B2FA61471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21579A9-E374-ABD0-3A86-A10C732A721B}"/>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2988290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2B8C31-D175-158C-859C-9E9DCDA10816}"/>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3" name="Footer Placeholder 2">
            <a:extLst>
              <a:ext uri="{FF2B5EF4-FFF2-40B4-BE49-F238E27FC236}">
                <a16:creationId xmlns:a16="http://schemas.microsoft.com/office/drawing/2014/main" id="{2F8AB7C3-2EA2-E499-9978-264234FFED7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C2EA3BE-834F-2BF7-9409-ACD11547E606}"/>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1119358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A55CA-7885-AA60-33FB-A1BB4CDE6D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7F1C456-D61F-49C9-F3B6-69EA43935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376AE51-B003-85C1-A9FE-2C9F0D2378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1A9333-C539-473D-53D1-5E1377F8D82D}"/>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6" name="Footer Placeholder 5">
            <a:extLst>
              <a:ext uri="{FF2B5EF4-FFF2-40B4-BE49-F238E27FC236}">
                <a16:creationId xmlns:a16="http://schemas.microsoft.com/office/drawing/2014/main" id="{78C85171-35B9-32DD-BBC2-EE44E3A0A8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A472911-156F-08E7-C7A6-7FED8AB8461C}"/>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34405818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A6146-8985-5028-64F5-9964022115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2106DB-6A27-7B47-BAC9-CC8328E325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8DE6347-E818-55EC-69E6-0C3A2558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8A9A15-B04D-350F-7B06-ED85F781E03D}"/>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6" name="Footer Placeholder 5">
            <a:extLst>
              <a:ext uri="{FF2B5EF4-FFF2-40B4-BE49-F238E27FC236}">
                <a16:creationId xmlns:a16="http://schemas.microsoft.com/office/drawing/2014/main" id="{7BD94496-34D7-851D-2C4E-1ABE8FAC008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C162ED-D595-D184-20D2-51CA76A5C6A9}"/>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115265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571A5-A19C-E227-8C3A-21A5C33AD11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C516416-55FA-EA07-46DE-F5D99571EE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42F185-4C3E-8526-6B18-6321CDAB6520}"/>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5" name="Footer Placeholder 4">
            <a:extLst>
              <a:ext uri="{FF2B5EF4-FFF2-40B4-BE49-F238E27FC236}">
                <a16:creationId xmlns:a16="http://schemas.microsoft.com/office/drawing/2014/main" id="{05CAE2B6-A6D5-1E65-6BC3-CADC1702F1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D0BB13-15DD-6A77-6CA7-083096280B5F}"/>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10236429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E356DA-BFBE-A2C1-2AB3-9A7304A736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8DE1BD-6731-0863-0A78-39A075FA82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E7E929-F593-4111-B392-A7E995BF6BE8}"/>
              </a:ext>
            </a:extLst>
          </p:cNvPr>
          <p:cNvSpPr>
            <a:spLocks noGrp="1"/>
          </p:cNvSpPr>
          <p:nvPr>
            <p:ph type="dt" sz="half" idx="10"/>
          </p:nvPr>
        </p:nvSpPr>
        <p:spPr/>
        <p:txBody>
          <a:bodyPr/>
          <a:lstStyle/>
          <a:p>
            <a:fld id="{23E2E9C1-F6EF-4CDF-862A-C7D7900EFC22}" type="datetimeFigureOut">
              <a:rPr lang="en-US" smtClean="0"/>
              <a:t>9/26/2026</a:t>
            </a:fld>
            <a:endParaRPr lang="en-US"/>
          </a:p>
        </p:txBody>
      </p:sp>
      <p:sp>
        <p:nvSpPr>
          <p:cNvPr id="5" name="Footer Placeholder 4">
            <a:extLst>
              <a:ext uri="{FF2B5EF4-FFF2-40B4-BE49-F238E27FC236}">
                <a16:creationId xmlns:a16="http://schemas.microsoft.com/office/drawing/2014/main" id="{7512BCD5-9F43-7730-2DD7-5CD82F6E68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CBD13-EDF1-4155-4A19-51C40C3D92D7}"/>
              </a:ext>
            </a:extLst>
          </p:cNvPr>
          <p:cNvSpPr>
            <a:spLocks noGrp="1"/>
          </p:cNvSpPr>
          <p:nvPr>
            <p:ph type="sldNum" sz="quarter" idx="12"/>
          </p:nvPr>
        </p:nvSpPr>
        <p:spPr/>
        <p:txBody>
          <a:bodyPr/>
          <a:lstStyle/>
          <a:p>
            <a:fld id="{C99EA985-7DC8-4609-82D8-FF37B108545B}" type="slidenum">
              <a:rPr lang="en-US" smtClean="0"/>
              <a:t>‹#›</a:t>
            </a:fld>
            <a:endParaRPr lang="en-US"/>
          </a:p>
        </p:txBody>
      </p:sp>
    </p:spTree>
    <p:extLst>
      <p:ext uri="{BB962C8B-B14F-4D97-AF65-F5344CB8AC3E}">
        <p14:creationId xmlns:p14="http://schemas.microsoft.com/office/powerpoint/2010/main" val="15382387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E5DE1C-B889-0DD6-3B68-1CC1FAAF73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2BDC04-2761-3DE6-5D46-90CBDB8D6F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CE83C4-45DA-F82F-405C-DDFC7C37A78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3E2E9C1-F6EF-4CDF-862A-C7D7900EFC22}" type="datetimeFigureOut">
              <a:rPr lang="en-US" smtClean="0"/>
              <a:t>9/26/2026</a:t>
            </a:fld>
            <a:endParaRPr lang="en-US"/>
          </a:p>
        </p:txBody>
      </p:sp>
      <p:sp>
        <p:nvSpPr>
          <p:cNvPr id="5" name="Footer Placeholder 4">
            <a:extLst>
              <a:ext uri="{FF2B5EF4-FFF2-40B4-BE49-F238E27FC236}">
                <a16:creationId xmlns:a16="http://schemas.microsoft.com/office/drawing/2014/main" id="{BB4BE9DB-F6D1-E067-C554-BE8A719FF4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8A7F27F-F179-1DFE-1B2D-B3A2BBF713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9EA985-7DC8-4609-82D8-FF37B108545B}" type="slidenum">
              <a:rPr lang="en-US" smtClean="0"/>
              <a:t>‹#›</a:t>
            </a:fld>
            <a:endParaRPr lang="en-US"/>
          </a:p>
        </p:txBody>
      </p:sp>
    </p:spTree>
    <p:extLst>
      <p:ext uri="{BB962C8B-B14F-4D97-AF65-F5344CB8AC3E}">
        <p14:creationId xmlns:p14="http://schemas.microsoft.com/office/powerpoint/2010/main" val="8442732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835B93FC-CF12-C431-39D4-54174FFA8C9F}"/>
              </a:ext>
            </a:extLst>
          </p:cNvPr>
          <p:cNvSpPr/>
          <p:nvPr/>
        </p:nvSpPr>
        <p:spPr>
          <a:xfrm>
            <a:off x="546755" y="886120"/>
            <a:ext cx="6042396" cy="4025245"/>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79517B9-6DF6-323F-208B-73A0B38485EE}"/>
              </a:ext>
            </a:extLst>
          </p:cNvPr>
          <p:cNvSpPr>
            <a:spLocks noGrp="1"/>
          </p:cNvSpPr>
          <p:nvPr>
            <p:ph type="title"/>
          </p:nvPr>
        </p:nvSpPr>
        <p:spPr>
          <a:xfrm>
            <a:off x="753358" y="174049"/>
            <a:ext cx="10515600" cy="388145"/>
          </a:xfrm>
        </p:spPr>
        <p:txBody>
          <a:bodyPr>
            <a:normAutofit fontScale="90000"/>
          </a:bodyPr>
          <a:lstStyle/>
          <a:p>
            <a:r>
              <a:rPr lang="en-US" dirty="0"/>
              <a:t>Cocky Cipher Suite Overview w/o Proxy</a:t>
            </a:r>
          </a:p>
        </p:txBody>
      </p:sp>
      <p:sp>
        <p:nvSpPr>
          <p:cNvPr id="5" name="Rectangle 4">
            <a:extLst>
              <a:ext uri="{FF2B5EF4-FFF2-40B4-BE49-F238E27FC236}">
                <a16:creationId xmlns:a16="http://schemas.microsoft.com/office/drawing/2014/main" id="{C9454927-DCE8-C93E-43B0-000583965237}"/>
              </a:ext>
            </a:extLst>
          </p:cNvPr>
          <p:cNvSpPr/>
          <p:nvPr/>
        </p:nvSpPr>
        <p:spPr>
          <a:xfrm>
            <a:off x="8932266" y="1521573"/>
            <a:ext cx="1846730" cy="38611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a:p>
            <a:pPr algn="ctr"/>
            <a:r>
              <a:rPr lang="en-US" dirty="0"/>
              <a:t>OS</a:t>
            </a:r>
          </a:p>
        </p:txBody>
      </p:sp>
      <p:sp>
        <p:nvSpPr>
          <p:cNvPr id="6" name="Rectangle: Rounded Corners 5">
            <a:extLst>
              <a:ext uri="{FF2B5EF4-FFF2-40B4-BE49-F238E27FC236}">
                <a16:creationId xmlns:a16="http://schemas.microsoft.com/office/drawing/2014/main" id="{49D1F3DE-D6AB-CC68-7D8D-24F5FA14346A}"/>
              </a:ext>
            </a:extLst>
          </p:cNvPr>
          <p:cNvSpPr/>
          <p:nvPr/>
        </p:nvSpPr>
        <p:spPr>
          <a:xfrm>
            <a:off x="1084729" y="1954306"/>
            <a:ext cx="1201271" cy="34962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 Memory Other</a:t>
            </a:r>
          </a:p>
        </p:txBody>
      </p:sp>
      <p:sp>
        <p:nvSpPr>
          <p:cNvPr id="7" name="Rectangle: Rounded Corners 6">
            <a:extLst>
              <a:ext uri="{FF2B5EF4-FFF2-40B4-BE49-F238E27FC236}">
                <a16:creationId xmlns:a16="http://schemas.microsoft.com/office/drawing/2014/main" id="{B38385BA-9373-8F42-D858-40C2752FBDEB}"/>
              </a:ext>
            </a:extLst>
          </p:cNvPr>
          <p:cNvSpPr/>
          <p:nvPr/>
        </p:nvSpPr>
        <p:spPr>
          <a:xfrm>
            <a:off x="1084729" y="2407630"/>
            <a:ext cx="1201271" cy="3854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SQLite Cookies</a:t>
            </a:r>
          </a:p>
        </p:txBody>
      </p:sp>
      <p:sp>
        <p:nvSpPr>
          <p:cNvPr id="8" name="Rectangle: Rounded Corners 7">
            <a:extLst>
              <a:ext uri="{FF2B5EF4-FFF2-40B4-BE49-F238E27FC236}">
                <a16:creationId xmlns:a16="http://schemas.microsoft.com/office/drawing/2014/main" id="{DD051F7C-EE95-9D7A-BBDE-ACC3D8CDD707}"/>
              </a:ext>
            </a:extLst>
          </p:cNvPr>
          <p:cNvSpPr/>
          <p:nvPr/>
        </p:nvSpPr>
        <p:spPr>
          <a:xfrm>
            <a:off x="1084729" y="2868706"/>
            <a:ext cx="1201271" cy="3944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a:t>
            </a:r>
          </a:p>
          <a:p>
            <a:pPr algn="ctr"/>
            <a:r>
              <a:rPr lang="en-US" sz="1200" dirty="0"/>
              <a:t>Session</a:t>
            </a:r>
          </a:p>
        </p:txBody>
      </p:sp>
      <p:sp>
        <p:nvSpPr>
          <p:cNvPr id="9" name="Rectangle: Rounded Corners 8">
            <a:extLst>
              <a:ext uri="{FF2B5EF4-FFF2-40B4-BE49-F238E27FC236}">
                <a16:creationId xmlns:a16="http://schemas.microsoft.com/office/drawing/2014/main" id="{FED0978F-172A-7256-82B0-C9A39510165E}"/>
              </a:ext>
            </a:extLst>
          </p:cNvPr>
          <p:cNvSpPr/>
          <p:nvPr/>
        </p:nvSpPr>
        <p:spPr>
          <a:xfrm>
            <a:off x="1084729" y="3338747"/>
            <a:ext cx="1201271" cy="3944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a:t>
            </a:r>
          </a:p>
          <a:p>
            <a:pPr algn="ctr"/>
            <a:r>
              <a:rPr lang="en-US" sz="1200" dirty="0"/>
              <a:t>Local Storage</a:t>
            </a:r>
          </a:p>
        </p:txBody>
      </p:sp>
      <p:sp>
        <p:nvSpPr>
          <p:cNvPr id="10" name="Rectangle: Rounded Corners 9">
            <a:extLst>
              <a:ext uri="{FF2B5EF4-FFF2-40B4-BE49-F238E27FC236}">
                <a16:creationId xmlns:a16="http://schemas.microsoft.com/office/drawing/2014/main" id="{D60F9934-F51D-CB61-B6EE-84E1B37EAF83}"/>
              </a:ext>
            </a:extLst>
          </p:cNvPr>
          <p:cNvSpPr/>
          <p:nvPr/>
        </p:nvSpPr>
        <p:spPr>
          <a:xfrm>
            <a:off x="1084729" y="1521574"/>
            <a:ext cx="1201271" cy="34962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 </a:t>
            </a:r>
          </a:p>
          <a:p>
            <a:pPr algn="ctr"/>
            <a:r>
              <a:rPr lang="en-US" sz="1200" dirty="0"/>
              <a:t>RAM Disk</a:t>
            </a:r>
          </a:p>
        </p:txBody>
      </p:sp>
      <p:sp>
        <p:nvSpPr>
          <p:cNvPr id="11" name="Rectangle 10">
            <a:extLst>
              <a:ext uri="{FF2B5EF4-FFF2-40B4-BE49-F238E27FC236}">
                <a16:creationId xmlns:a16="http://schemas.microsoft.com/office/drawing/2014/main" id="{0608DDD0-3746-3353-0537-AD18F786B1FE}"/>
              </a:ext>
            </a:extLst>
          </p:cNvPr>
          <p:cNvSpPr/>
          <p:nvPr/>
        </p:nvSpPr>
        <p:spPr>
          <a:xfrm>
            <a:off x="8932266" y="1499500"/>
            <a:ext cx="1846730" cy="583925"/>
          </a:xfrm>
          <a:prstGeom prst="rect">
            <a:avLst/>
          </a:prstGeom>
          <a:solidFill>
            <a:schemeClr val="accent5">
              <a:lumMod val="75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Web Service</a:t>
            </a:r>
          </a:p>
        </p:txBody>
      </p:sp>
      <p:sp>
        <p:nvSpPr>
          <p:cNvPr id="12" name="Rectangle: Rounded Corners 11">
            <a:extLst>
              <a:ext uri="{FF2B5EF4-FFF2-40B4-BE49-F238E27FC236}">
                <a16:creationId xmlns:a16="http://schemas.microsoft.com/office/drawing/2014/main" id="{DF84DF22-8BD3-5840-CC7F-66D6119F0B4D}"/>
              </a:ext>
            </a:extLst>
          </p:cNvPr>
          <p:cNvSpPr/>
          <p:nvPr/>
        </p:nvSpPr>
        <p:spPr>
          <a:xfrm>
            <a:off x="1084729" y="3863788"/>
            <a:ext cx="1201271" cy="322730"/>
          </a:xfrm>
          <a:prstGeom prst="round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OS Mem</a:t>
            </a:r>
          </a:p>
        </p:txBody>
      </p:sp>
      <p:sp>
        <p:nvSpPr>
          <p:cNvPr id="13" name="Rectangle: Rounded Corners 12">
            <a:extLst>
              <a:ext uri="{FF2B5EF4-FFF2-40B4-BE49-F238E27FC236}">
                <a16:creationId xmlns:a16="http://schemas.microsoft.com/office/drawing/2014/main" id="{20E1C5BC-AD89-0BDA-77AC-6DFD17560E31}"/>
              </a:ext>
            </a:extLst>
          </p:cNvPr>
          <p:cNvSpPr/>
          <p:nvPr/>
        </p:nvSpPr>
        <p:spPr>
          <a:xfrm>
            <a:off x="1084729" y="4276165"/>
            <a:ext cx="1201271" cy="322730"/>
          </a:xfrm>
          <a:prstGeom prst="round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Gen Disk</a:t>
            </a:r>
          </a:p>
        </p:txBody>
      </p:sp>
      <p:sp>
        <p:nvSpPr>
          <p:cNvPr id="14" name="Rectangle: Rounded Corners 13">
            <a:extLst>
              <a:ext uri="{FF2B5EF4-FFF2-40B4-BE49-F238E27FC236}">
                <a16:creationId xmlns:a16="http://schemas.microsoft.com/office/drawing/2014/main" id="{37DE2362-AB02-882F-1A2B-2F66C8D96DDA}"/>
              </a:ext>
            </a:extLst>
          </p:cNvPr>
          <p:cNvSpPr/>
          <p:nvPr/>
        </p:nvSpPr>
        <p:spPr>
          <a:xfrm>
            <a:off x="1084729" y="1048871"/>
            <a:ext cx="1201271" cy="424004"/>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Cloud Disk</a:t>
            </a:r>
          </a:p>
        </p:txBody>
      </p:sp>
      <p:sp>
        <p:nvSpPr>
          <p:cNvPr id="15" name="Rectangle 14">
            <a:extLst>
              <a:ext uri="{FF2B5EF4-FFF2-40B4-BE49-F238E27FC236}">
                <a16:creationId xmlns:a16="http://schemas.microsoft.com/office/drawing/2014/main" id="{32AA7DD2-B28C-1DCD-36BA-9D4363162136}"/>
              </a:ext>
            </a:extLst>
          </p:cNvPr>
          <p:cNvSpPr/>
          <p:nvPr/>
        </p:nvSpPr>
        <p:spPr>
          <a:xfrm>
            <a:off x="8932266" y="443061"/>
            <a:ext cx="1846730" cy="1078514"/>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Cloud Extension</a:t>
            </a:r>
          </a:p>
        </p:txBody>
      </p:sp>
      <p:sp>
        <p:nvSpPr>
          <p:cNvPr id="17" name="TextBox 16">
            <a:extLst>
              <a:ext uri="{FF2B5EF4-FFF2-40B4-BE49-F238E27FC236}">
                <a16:creationId xmlns:a16="http://schemas.microsoft.com/office/drawing/2014/main" id="{A2E4B28E-FD78-576B-926D-E0B83CAAA760}"/>
              </a:ext>
            </a:extLst>
          </p:cNvPr>
          <p:cNvSpPr txBox="1"/>
          <p:nvPr/>
        </p:nvSpPr>
        <p:spPr>
          <a:xfrm>
            <a:off x="2286000" y="2351493"/>
            <a:ext cx="2008920" cy="646331"/>
          </a:xfrm>
          <a:prstGeom prst="rect">
            <a:avLst/>
          </a:prstGeom>
          <a:noFill/>
        </p:spPr>
        <p:txBody>
          <a:bodyPr wrap="square" rtlCol="0">
            <a:spAutoFit/>
          </a:bodyPr>
          <a:lstStyle/>
          <a:p>
            <a:r>
              <a:rPr lang="en-US" dirty="0">
                <a:solidFill>
                  <a:schemeClr val="bg1"/>
                </a:solidFill>
              </a:rPr>
              <a:t>Use of Cocky Cipher Technology</a:t>
            </a:r>
          </a:p>
        </p:txBody>
      </p:sp>
      <p:sp>
        <p:nvSpPr>
          <p:cNvPr id="18" name="Rectangle 17">
            <a:extLst>
              <a:ext uri="{FF2B5EF4-FFF2-40B4-BE49-F238E27FC236}">
                <a16:creationId xmlns:a16="http://schemas.microsoft.com/office/drawing/2014/main" id="{E34AB024-42B3-7CDB-A9E9-E9A259ED9EEF}"/>
              </a:ext>
            </a:extLst>
          </p:cNvPr>
          <p:cNvSpPr/>
          <p:nvPr/>
        </p:nvSpPr>
        <p:spPr>
          <a:xfrm>
            <a:off x="2647175" y="5891478"/>
            <a:ext cx="1620764" cy="8675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Router</a:t>
            </a:r>
          </a:p>
        </p:txBody>
      </p:sp>
      <p:pic>
        <p:nvPicPr>
          <p:cNvPr id="19" name="Picture 18">
            <a:extLst>
              <a:ext uri="{FF2B5EF4-FFF2-40B4-BE49-F238E27FC236}">
                <a16:creationId xmlns:a16="http://schemas.microsoft.com/office/drawing/2014/main" id="{820A9083-8B55-0CFD-A21D-62B836378544}"/>
              </a:ext>
            </a:extLst>
          </p:cNvPr>
          <p:cNvPicPr>
            <a:picLocks noChangeAspect="1"/>
          </p:cNvPicPr>
          <p:nvPr/>
        </p:nvPicPr>
        <p:blipFill>
          <a:blip r:embed="rId2"/>
          <a:stretch>
            <a:fillRect/>
          </a:stretch>
        </p:blipFill>
        <p:spPr>
          <a:xfrm>
            <a:off x="8932267" y="5935988"/>
            <a:ext cx="1846730" cy="823031"/>
          </a:xfrm>
          <a:prstGeom prst="rect">
            <a:avLst/>
          </a:prstGeom>
        </p:spPr>
      </p:pic>
      <p:pic>
        <p:nvPicPr>
          <p:cNvPr id="20" name="Picture 19">
            <a:extLst>
              <a:ext uri="{FF2B5EF4-FFF2-40B4-BE49-F238E27FC236}">
                <a16:creationId xmlns:a16="http://schemas.microsoft.com/office/drawing/2014/main" id="{98B46A7C-4491-09DB-3F6B-E73EED0EEEFC}"/>
              </a:ext>
            </a:extLst>
          </p:cNvPr>
          <p:cNvPicPr>
            <a:picLocks noChangeAspect="1"/>
          </p:cNvPicPr>
          <p:nvPr/>
        </p:nvPicPr>
        <p:blipFill>
          <a:blip r:embed="rId3"/>
          <a:stretch>
            <a:fillRect/>
          </a:stretch>
        </p:blipFill>
        <p:spPr>
          <a:xfrm>
            <a:off x="4230142" y="1048871"/>
            <a:ext cx="1908213" cy="3517697"/>
          </a:xfrm>
          <a:prstGeom prst="rect">
            <a:avLst/>
          </a:prstGeom>
        </p:spPr>
      </p:pic>
      <p:sp>
        <p:nvSpPr>
          <p:cNvPr id="21" name="Rectangle: Rounded Corners 20">
            <a:extLst>
              <a:ext uri="{FF2B5EF4-FFF2-40B4-BE49-F238E27FC236}">
                <a16:creationId xmlns:a16="http://schemas.microsoft.com/office/drawing/2014/main" id="{36981E86-959B-F635-E63C-D35DBB384AB5}"/>
              </a:ext>
            </a:extLst>
          </p:cNvPr>
          <p:cNvSpPr/>
          <p:nvPr/>
        </p:nvSpPr>
        <p:spPr>
          <a:xfrm>
            <a:off x="8932266" y="2083425"/>
            <a:ext cx="1846730" cy="914399"/>
          </a:xfrm>
          <a:prstGeom prst="round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Rest Service</a:t>
            </a:r>
          </a:p>
        </p:txBody>
      </p:sp>
      <p:cxnSp>
        <p:nvCxnSpPr>
          <p:cNvPr id="23" name="Straight Connector 22">
            <a:extLst>
              <a:ext uri="{FF2B5EF4-FFF2-40B4-BE49-F238E27FC236}">
                <a16:creationId xmlns:a16="http://schemas.microsoft.com/office/drawing/2014/main" id="{1A7E3577-D0A4-3B48-9B2F-B752F41056D7}"/>
              </a:ext>
            </a:extLst>
          </p:cNvPr>
          <p:cNvCxnSpPr>
            <a:cxnSpLocks/>
            <a:stCxn id="18" idx="3"/>
            <a:endCxn id="19" idx="1"/>
          </p:cNvCxnSpPr>
          <p:nvPr/>
        </p:nvCxnSpPr>
        <p:spPr>
          <a:xfrm>
            <a:off x="4267939" y="6325249"/>
            <a:ext cx="4664328" cy="22255"/>
          </a:xfrm>
          <a:prstGeom prst="line">
            <a:avLst/>
          </a:prstGeom>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15BE6D0-CDA6-7E7E-A371-4CDF6BB776C7}"/>
              </a:ext>
            </a:extLst>
          </p:cNvPr>
          <p:cNvSpPr txBox="1"/>
          <p:nvPr/>
        </p:nvSpPr>
        <p:spPr>
          <a:xfrm>
            <a:off x="4580231" y="5673480"/>
            <a:ext cx="3824722" cy="646331"/>
          </a:xfrm>
          <a:prstGeom prst="rect">
            <a:avLst/>
          </a:prstGeom>
          <a:noFill/>
        </p:spPr>
        <p:txBody>
          <a:bodyPr wrap="square" rtlCol="0">
            <a:spAutoFit/>
          </a:bodyPr>
          <a:lstStyle/>
          <a:p>
            <a:pPr algn="ctr"/>
            <a:r>
              <a:rPr lang="en-US" sz="1200" dirty="0"/>
              <a:t>Internet Or Enterprise</a:t>
            </a:r>
          </a:p>
          <a:p>
            <a:pPr algn="ctr"/>
            <a:r>
              <a:rPr lang="en-US" sz="1200" dirty="0"/>
              <a:t>IP Connectivity Over X</a:t>
            </a:r>
          </a:p>
          <a:p>
            <a:pPr algn="ctr"/>
            <a:r>
              <a:rPr lang="en-US" sz="1200" dirty="0"/>
              <a:t>Std Ports 80,443, 8443, 8080 Web</a:t>
            </a:r>
          </a:p>
        </p:txBody>
      </p:sp>
      <p:cxnSp>
        <p:nvCxnSpPr>
          <p:cNvPr id="28" name="Straight Arrow Connector 27">
            <a:extLst>
              <a:ext uri="{FF2B5EF4-FFF2-40B4-BE49-F238E27FC236}">
                <a16:creationId xmlns:a16="http://schemas.microsoft.com/office/drawing/2014/main" id="{576B3B14-C562-8A36-8157-B14FA46D0F60}"/>
              </a:ext>
            </a:extLst>
          </p:cNvPr>
          <p:cNvCxnSpPr>
            <a:cxnSpLocks/>
            <a:endCxn id="11" idx="1"/>
          </p:cNvCxnSpPr>
          <p:nvPr/>
        </p:nvCxnSpPr>
        <p:spPr>
          <a:xfrm flipV="1">
            <a:off x="6138355" y="1791463"/>
            <a:ext cx="2793911" cy="951300"/>
          </a:xfrm>
          <a:prstGeom prst="straightConnector1">
            <a:avLst/>
          </a:prstGeom>
          <a:ln>
            <a:solidFill>
              <a:schemeClr val="tx1">
                <a:lumMod val="85000"/>
                <a:lumOff val="15000"/>
              </a:schemeClr>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BA7DFE8-D5BE-C58A-68DC-265EC1D91418}"/>
              </a:ext>
            </a:extLst>
          </p:cNvPr>
          <p:cNvSpPr txBox="1"/>
          <p:nvPr/>
        </p:nvSpPr>
        <p:spPr>
          <a:xfrm>
            <a:off x="7038739" y="1153910"/>
            <a:ext cx="1701987" cy="830997"/>
          </a:xfrm>
          <a:prstGeom prst="rect">
            <a:avLst/>
          </a:prstGeom>
          <a:noFill/>
        </p:spPr>
        <p:txBody>
          <a:bodyPr wrap="square" rtlCol="0">
            <a:spAutoFit/>
          </a:bodyPr>
          <a:lstStyle/>
          <a:p>
            <a:r>
              <a:rPr lang="en-US" sz="1200" dirty="0"/>
              <a:t>Under Steady State Clients Access Web Pages Over HTTP/HTPPS</a:t>
            </a:r>
          </a:p>
        </p:txBody>
      </p:sp>
      <p:cxnSp>
        <p:nvCxnSpPr>
          <p:cNvPr id="35" name="Straight Arrow Connector 34">
            <a:extLst>
              <a:ext uri="{FF2B5EF4-FFF2-40B4-BE49-F238E27FC236}">
                <a16:creationId xmlns:a16="http://schemas.microsoft.com/office/drawing/2014/main" id="{B3E3D37D-CA0E-F72A-58B8-F2E50A1BA444}"/>
              </a:ext>
            </a:extLst>
          </p:cNvPr>
          <p:cNvCxnSpPr>
            <a:endCxn id="19" idx="0"/>
          </p:cNvCxnSpPr>
          <p:nvPr/>
        </p:nvCxnSpPr>
        <p:spPr>
          <a:xfrm>
            <a:off x="9855631" y="5382704"/>
            <a:ext cx="1" cy="55328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0B5F250-B719-D493-6F47-DF0544777146}"/>
              </a:ext>
            </a:extLst>
          </p:cNvPr>
          <p:cNvCxnSpPr/>
          <p:nvPr/>
        </p:nvCxnSpPr>
        <p:spPr>
          <a:xfrm flipV="1">
            <a:off x="3457557" y="5052767"/>
            <a:ext cx="0" cy="75414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D4DCCA86-DD27-68A0-BBCE-0D547609DD35}"/>
              </a:ext>
            </a:extLst>
          </p:cNvPr>
          <p:cNvCxnSpPr/>
          <p:nvPr/>
        </p:nvCxnSpPr>
        <p:spPr>
          <a:xfrm flipV="1">
            <a:off x="2931736" y="1187041"/>
            <a:ext cx="0" cy="10800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D5E2F1FF-B346-6A4F-6A94-828E44E2D715}"/>
              </a:ext>
            </a:extLst>
          </p:cNvPr>
          <p:cNvCxnSpPr/>
          <p:nvPr/>
        </p:nvCxnSpPr>
        <p:spPr>
          <a:xfrm>
            <a:off x="2931736" y="3065929"/>
            <a:ext cx="0" cy="15753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724BADB7-0643-00D8-C309-2303788768AC}"/>
              </a:ext>
            </a:extLst>
          </p:cNvPr>
          <p:cNvCxnSpPr/>
          <p:nvPr/>
        </p:nvCxnSpPr>
        <p:spPr>
          <a:xfrm flipV="1">
            <a:off x="6096000" y="2674658"/>
            <a:ext cx="2836266" cy="391271"/>
          </a:xfrm>
          <a:prstGeom prst="straightConnector1">
            <a:avLst/>
          </a:prstGeom>
          <a:ln>
            <a:solidFill>
              <a:schemeClr val="tx1">
                <a:lumMod val="65000"/>
                <a:lumOff val="35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6CCF9E07-4D73-08AF-C551-B30989E3CBBD}"/>
              </a:ext>
            </a:extLst>
          </p:cNvPr>
          <p:cNvSpPr txBox="1"/>
          <p:nvPr/>
        </p:nvSpPr>
        <p:spPr>
          <a:xfrm>
            <a:off x="6831306" y="2930410"/>
            <a:ext cx="1701987" cy="600164"/>
          </a:xfrm>
          <a:prstGeom prst="rect">
            <a:avLst/>
          </a:prstGeom>
          <a:noFill/>
        </p:spPr>
        <p:txBody>
          <a:bodyPr wrap="square" rtlCol="0">
            <a:spAutoFit/>
          </a:bodyPr>
          <a:lstStyle/>
          <a:p>
            <a:r>
              <a:rPr lang="en-US" sz="1100" dirty="0"/>
              <a:t>REST Ports Usually run on 50000-60000 ports default by MS Compilers</a:t>
            </a:r>
          </a:p>
        </p:txBody>
      </p:sp>
      <p:sp>
        <p:nvSpPr>
          <p:cNvPr id="48" name="TextBox 47">
            <a:extLst>
              <a:ext uri="{FF2B5EF4-FFF2-40B4-BE49-F238E27FC236}">
                <a16:creationId xmlns:a16="http://schemas.microsoft.com/office/drawing/2014/main" id="{55685F2D-C895-2B56-448D-D56E1FE96177}"/>
              </a:ext>
            </a:extLst>
          </p:cNvPr>
          <p:cNvSpPr txBox="1"/>
          <p:nvPr/>
        </p:nvSpPr>
        <p:spPr>
          <a:xfrm>
            <a:off x="5184248" y="6341003"/>
            <a:ext cx="2909003" cy="461665"/>
          </a:xfrm>
          <a:prstGeom prst="rect">
            <a:avLst/>
          </a:prstGeom>
          <a:noFill/>
        </p:spPr>
        <p:txBody>
          <a:bodyPr wrap="square" rtlCol="0">
            <a:spAutoFit/>
          </a:bodyPr>
          <a:lstStyle/>
          <a:p>
            <a:r>
              <a:rPr lang="en-US" sz="1200" dirty="0"/>
              <a:t>Ports 50000-60000 Dynamic Rest UDP-QUIC/TCP Traffic with HTTPS/HTTP</a:t>
            </a:r>
          </a:p>
        </p:txBody>
      </p:sp>
    </p:spTree>
    <p:extLst>
      <p:ext uri="{BB962C8B-B14F-4D97-AF65-F5344CB8AC3E}">
        <p14:creationId xmlns:p14="http://schemas.microsoft.com/office/powerpoint/2010/main" val="34302271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8892B-306A-0A27-F1AC-A149D167D0AD}"/>
              </a:ext>
            </a:extLst>
          </p:cNvPr>
          <p:cNvSpPr>
            <a:spLocks noGrp="1"/>
          </p:cNvSpPr>
          <p:nvPr>
            <p:ph type="title"/>
          </p:nvPr>
        </p:nvSpPr>
        <p:spPr/>
        <p:txBody>
          <a:bodyPr/>
          <a:lstStyle/>
          <a:p>
            <a:r>
              <a:rPr lang="en-US" dirty="0"/>
              <a:t>Application Basics</a:t>
            </a:r>
          </a:p>
        </p:txBody>
      </p:sp>
      <p:sp>
        <p:nvSpPr>
          <p:cNvPr id="3" name="Content Placeholder 2">
            <a:extLst>
              <a:ext uri="{FF2B5EF4-FFF2-40B4-BE49-F238E27FC236}">
                <a16:creationId xmlns:a16="http://schemas.microsoft.com/office/drawing/2014/main" id="{8BC4E3D6-57AA-22FB-8F42-CCB80B2D6620}"/>
              </a:ext>
            </a:extLst>
          </p:cNvPr>
          <p:cNvSpPr>
            <a:spLocks noGrp="1"/>
          </p:cNvSpPr>
          <p:nvPr>
            <p:ph idx="1"/>
          </p:nvPr>
        </p:nvSpPr>
        <p:spPr>
          <a:xfrm>
            <a:off x="838199" y="1825625"/>
            <a:ext cx="11228109" cy="4351338"/>
          </a:xfrm>
        </p:spPr>
        <p:txBody>
          <a:bodyPr>
            <a:normAutofit fontScale="77500" lnSpcReduction="20000"/>
          </a:bodyPr>
          <a:lstStyle/>
          <a:p>
            <a:r>
              <a:rPr lang="en-US" dirty="0"/>
              <a:t>Web Pages and Web Data Run out of band from each other in a REST model.</a:t>
            </a:r>
          </a:p>
          <a:p>
            <a:r>
              <a:rPr lang="en-US" dirty="0"/>
              <a:t>This means there are 4 options – (16 Combinations)</a:t>
            </a:r>
          </a:p>
          <a:p>
            <a:pPr lvl="1"/>
            <a:r>
              <a:rPr lang="en-US" dirty="0"/>
              <a:t>With or Without Application Encryption (Clients-Server Other)</a:t>
            </a:r>
          </a:p>
          <a:p>
            <a:pPr lvl="1"/>
            <a:r>
              <a:rPr lang="en-US" dirty="0"/>
              <a:t>With or Without Network Encryption for Web. (Web Service)</a:t>
            </a:r>
          </a:p>
          <a:p>
            <a:pPr lvl="1"/>
            <a:r>
              <a:rPr lang="en-US" dirty="0"/>
              <a:t>With or Without Network Encryption for Data (REST Service)</a:t>
            </a:r>
          </a:p>
          <a:p>
            <a:pPr lvl="1"/>
            <a:r>
              <a:rPr lang="en-US" dirty="0"/>
              <a:t>With or Without Other Network Encryptors/Hardware, etc.</a:t>
            </a:r>
          </a:p>
          <a:p>
            <a:r>
              <a:rPr lang="en-US" dirty="0"/>
              <a:t>With a Proxy there are 5 variables (32 Combinations)</a:t>
            </a:r>
          </a:p>
          <a:p>
            <a:pPr lvl="1"/>
            <a:r>
              <a:rPr lang="en-US" dirty="0"/>
              <a:t>With Or Without Network Encryption to the Web Server TO URL1 TO WWW</a:t>
            </a:r>
          </a:p>
          <a:p>
            <a:pPr lvl="1"/>
            <a:r>
              <a:rPr lang="en-US" dirty="0"/>
              <a:t>With Or Without Network Encryption to the Web Proxy TO URL2 TO REST</a:t>
            </a:r>
          </a:p>
          <a:p>
            <a:pPr lvl="1"/>
            <a:r>
              <a:rPr lang="en-US" dirty="0"/>
              <a:t>With Or Without Application Encryption</a:t>
            </a:r>
          </a:p>
          <a:p>
            <a:pPr lvl="1"/>
            <a:r>
              <a:rPr lang="en-US" dirty="0"/>
              <a:t>With Or With Other Network Encryptors/Hardware.</a:t>
            </a:r>
          </a:p>
          <a:p>
            <a:pPr lvl="1"/>
            <a:r>
              <a:rPr lang="en-US" dirty="0"/>
              <a:t>AND New With or Without SSL From Web Proxy to REST Service.</a:t>
            </a:r>
          </a:p>
          <a:p>
            <a:pPr lvl="1"/>
            <a:endParaRPr lang="en-US" dirty="0"/>
          </a:p>
          <a:p>
            <a:r>
              <a:rPr lang="en-US" dirty="0"/>
              <a:t>If all 4 types of security are enabled using modern tools it would require a state/gov actor and a court order to decrypt client-server traffic in transit or in stored form.</a:t>
            </a:r>
          </a:p>
        </p:txBody>
      </p:sp>
    </p:spTree>
    <p:extLst>
      <p:ext uri="{BB962C8B-B14F-4D97-AF65-F5344CB8AC3E}">
        <p14:creationId xmlns:p14="http://schemas.microsoft.com/office/powerpoint/2010/main" val="1692737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7C1EE7-B538-A5B6-28C0-50BAECB09491}"/>
              </a:ext>
            </a:extLst>
          </p:cNvPr>
          <p:cNvSpPr>
            <a:spLocks noGrp="1"/>
          </p:cNvSpPr>
          <p:nvPr>
            <p:ph type="title"/>
          </p:nvPr>
        </p:nvSpPr>
        <p:spPr/>
        <p:txBody>
          <a:bodyPr/>
          <a:lstStyle/>
          <a:p>
            <a:r>
              <a:rPr lang="en-US" dirty="0"/>
              <a:t>Laws and Compliance</a:t>
            </a:r>
          </a:p>
        </p:txBody>
      </p:sp>
      <p:sp>
        <p:nvSpPr>
          <p:cNvPr id="4" name="Content Placeholder 3">
            <a:extLst>
              <a:ext uri="{FF2B5EF4-FFF2-40B4-BE49-F238E27FC236}">
                <a16:creationId xmlns:a16="http://schemas.microsoft.com/office/drawing/2014/main" id="{7CF92060-249B-3B8D-0945-C1AE87E66833}"/>
              </a:ext>
            </a:extLst>
          </p:cNvPr>
          <p:cNvSpPr>
            <a:spLocks noGrp="1"/>
          </p:cNvSpPr>
          <p:nvPr>
            <p:ph idx="1"/>
          </p:nvPr>
        </p:nvSpPr>
        <p:spPr>
          <a:xfrm>
            <a:off x="838199" y="1825624"/>
            <a:ext cx="10728489" cy="4528041"/>
          </a:xfrm>
        </p:spPr>
        <p:txBody>
          <a:bodyPr>
            <a:normAutofit fontScale="70000" lnSpcReduction="20000"/>
          </a:bodyPr>
          <a:lstStyle/>
          <a:p>
            <a:r>
              <a:rPr lang="en-US" dirty="0"/>
              <a:t>Most Countries Differentiate Laws For</a:t>
            </a:r>
          </a:p>
          <a:p>
            <a:pPr lvl="1"/>
            <a:r>
              <a:rPr lang="en-US" dirty="0"/>
              <a:t>Stored Communications (Already on Disk or in Databases)</a:t>
            </a:r>
          </a:p>
          <a:p>
            <a:pPr lvl="1"/>
            <a:r>
              <a:rPr lang="en-US" dirty="0"/>
              <a:t>Network Communications (Real Time Distribution of Streams)</a:t>
            </a:r>
          </a:p>
          <a:p>
            <a:r>
              <a:rPr lang="en-US" dirty="0"/>
              <a:t>In the United States</a:t>
            </a:r>
          </a:p>
          <a:p>
            <a:pPr lvl="1"/>
            <a:r>
              <a:rPr lang="en-US" b="0" i="0" dirty="0">
                <a:solidFill>
                  <a:srgbClr val="101A2D"/>
                </a:solidFill>
                <a:effectLst/>
                <a:latin typeface="Georgia" panose="02040502050405020303" pitchFamily="18" charset="0"/>
              </a:rPr>
              <a:t>Stored Communications Act Governs Requirements for reviewing data on Disk.</a:t>
            </a:r>
          </a:p>
          <a:p>
            <a:pPr lvl="1"/>
            <a:r>
              <a:rPr lang="en-US" b="0" i="0" dirty="0">
                <a:solidFill>
                  <a:srgbClr val="101A2D"/>
                </a:solidFill>
                <a:effectLst/>
                <a:latin typeface="Georgia" panose="02040502050405020303" pitchFamily="18" charset="0"/>
              </a:rPr>
              <a:t>Real Time Surveillance Seen to be a 4</a:t>
            </a:r>
            <a:r>
              <a:rPr lang="en-US" b="0" i="0" baseline="30000" dirty="0">
                <a:solidFill>
                  <a:srgbClr val="101A2D"/>
                </a:solidFill>
                <a:effectLst/>
                <a:latin typeface="Georgia" panose="02040502050405020303" pitchFamily="18" charset="0"/>
              </a:rPr>
              <a:t>th</a:t>
            </a:r>
            <a:r>
              <a:rPr lang="en-US" b="0" i="0" dirty="0">
                <a:solidFill>
                  <a:srgbClr val="101A2D"/>
                </a:solidFill>
                <a:effectLst/>
                <a:latin typeface="Georgia" panose="02040502050405020303" pitchFamily="18" charset="0"/>
              </a:rPr>
              <a:t> Amendment violation (See Katz v US) by Supreme Court of US. Prosecuted under Color of Law Statutes.</a:t>
            </a:r>
          </a:p>
          <a:p>
            <a:pPr lvl="1"/>
            <a:r>
              <a:rPr lang="en-US" b="0" i="0" dirty="0">
                <a:solidFill>
                  <a:srgbClr val="101A2D"/>
                </a:solidFill>
                <a:effectLst/>
                <a:latin typeface="Georgia" panose="02040502050405020303" pitchFamily="18" charset="0"/>
              </a:rPr>
              <a:t>Other State Laws and Provisions.</a:t>
            </a:r>
          </a:p>
          <a:p>
            <a:pPr lvl="1"/>
            <a:endParaRPr lang="en-US" dirty="0">
              <a:solidFill>
                <a:srgbClr val="101A2D"/>
              </a:solidFill>
              <a:latin typeface="Georgia" panose="02040502050405020303" pitchFamily="18" charset="0"/>
            </a:endParaRPr>
          </a:p>
          <a:p>
            <a:r>
              <a:rPr lang="en-US" b="0" i="0" dirty="0">
                <a:solidFill>
                  <a:srgbClr val="101A2D"/>
                </a:solidFill>
                <a:effectLst/>
                <a:latin typeface="Georgia" panose="02040502050405020303" pitchFamily="18" charset="0"/>
              </a:rPr>
              <a:t>Crimes Have To Be Proven Based on Criminal Intent</a:t>
            </a:r>
          </a:p>
          <a:p>
            <a:pPr lvl="1"/>
            <a:r>
              <a:rPr lang="en-US" dirty="0">
                <a:solidFill>
                  <a:srgbClr val="101A2D"/>
                </a:solidFill>
                <a:latin typeface="Georgia" panose="02040502050405020303" pitchFamily="18" charset="0"/>
              </a:rPr>
              <a:t>An Encrypted Block of Text even a Caesar Encoded one… establishes intent for a criminal process.</a:t>
            </a:r>
          </a:p>
          <a:p>
            <a:pPr lvl="1"/>
            <a:r>
              <a:rPr lang="en-US" b="0" i="0" dirty="0">
                <a:solidFill>
                  <a:srgbClr val="101A2D"/>
                </a:solidFill>
                <a:effectLst/>
                <a:latin typeface="Georgia" panose="02040502050405020303" pitchFamily="18" charset="0"/>
              </a:rPr>
              <a:t>Without Application Encryption No Basis for Criminal Prosecution exists. </a:t>
            </a:r>
            <a:r>
              <a:rPr lang="en-US" dirty="0">
                <a:solidFill>
                  <a:srgbClr val="101A2D"/>
                </a:solidFill>
                <a:latin typeface="Georgia" panose="02040502050405020303" pitchFamily="18" charset="0"/>
              </a:rPr>
              <a:t>Users can argue they happened on the materials in question by accident.</a:t>
            </a:r>
          </a:p>
          <a:p>
            <a:endParaRPr lang="en-US" b="0" i="0" dirty="0">
              <a:solidFill>
                <a:srgbClr val="101A2D"/>
              </a:solidFill>
              <a:effectLst/>
              <a:latin typeface="Georgia" panose="02040502050405020303" pitchFamily="18" charset="0"/>
            </a:endParaRPr>
          </a:p>
          <a:p>
            <a:r>
              <a:rPr lang="en-US" b="0" i="0" dirty="0">
                <a:solidFill>
                  <a:srgbClr val="FF0000"/>
                </a:solidFill>
                <a:effectLst/>
                <a:latin typeface="Georgia" panose="02040502050405020303" pitchFamily="18" charset="0"/>
              </a:rPr>
              <a:t>Most Large Companies Have a Different Shared Service IT Leader From Business Unit CIOs who set Risk &amp; Compliance policies for their division. That means network and BU’s have different constraints.</a:t>
            </a:r>
          </a:p>
          <a:p>
            <a:pPr marL="457200" lvl="1" indent="0">
              <a:buNone/>
            </a:pPr>
            <a:endParaRPr lang="en-US" dirty="0"/>
          </a:p>
        </p:txBody>
      </p:sp>
    </p:spTree>
    <p:extLst>
      <p:ext uri="{BB962C8B-B14F-4D97-AF65-F5344CB8AC3E}">
        <p14:creationId xmlns:p14="http://schemas.microsoft.com/office/powerpoint/2010/main" val="2412071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835B93FC-CF12-C431-39D4-54174FFA8C9F}"/>
              </a:ext>
            </a:extLst>
          </p:cNvPr>
          <p:cNvSpPr/>
          <p:nvPr/>
        </p:nvSpPr>
        <p:spPr>
          <a:xfrm>
            <a:off x="546755" y="886120"/>
            <a:ext cx="6042396" cy="4025245"/>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79517B9-6DF6-323F-208B-73A0B38485EE}"/>
              </a:ext>
            </a:extLst>
          </p:cNvPr>
          <p:cNvSpPr>
            <a:spLocks noGrp="1"/>
          </p:cNvSpPr>
          <p:nvPr>
            <p:ph type="title"/>
          </p:nvPr>
        </p:nvSpPr>
        <p:spPr>
          <a:xfrm>
            <a:off x="838200" y="365125"/>
            <a:ext cx="11194168" cy="388145"/>
          </a:xfrm>
        </p:spPr>
        <p:txBody>
          <a:bodyPr>
            <a:normAutofit fontScale="90000"/>
          </a:bodyPr>
          <a:lstStyle/>
          <a:p>
            <a:r>
              <a:rPr lang="en-US" dirty="0"/>
              <a:t>Cocky Cipher Suite w Proxy – Simple Transport  Model</a:t>
            </a:r>
          </a:p>
        </p:txBody>
      </p:sp>
      <p:sp>
        <p:nvSpPr>
          <p:cNvPr id="5" name="Rectangle 4">
            <a:extLst>
              <a:ext uri="{FF2B5EF4-FFF2-40B4-BE49-F238E27FC236}">
                <a16:creationId xmlns:a16="http://schemas.microsoft.com/office/drawing/2014/main" id="{C9454927-DCE8-C93E-43B0-000583965237}"/>
              </a:ext>
            </a:extLst>
          </p:cNvPr>
          <p:cNvSpPr/>
          <p:nvPr/>
        </p:nvSpPr>
        <p:spPr>
          <a:xfrm>
            <a:off x="8058548" y="2235998"/>
            <a:ext cx="1846730" cy="2264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a:p>
            <a:pPr algn="ctr"/>
            <a:r>
              <a:rPr lang="en-US" dirty="0"/>
              <a:t>OS</a:t>
            </a:r>
          </a:p>
        </p:txBody>
      </p:sp>
      <p:sp>
        <p:nvSpPr>
          <p:cNvPr id="6" name="Rectangle: Rounded Corners 5">
            <a:extLst>
              <a:ext uri="{FF2B5EF4-FFF2-40B4-BE49-F238E27FC236}">
                <a16:creationId xmlns:a16="http://schemas.microsoft.com/office/drawing/2014/main" id="{49D1F3DE-D6AB-CC68-7D8D-24F5FA14346A}"/>
              </a:ext>
            </a:extLst>
          </p:cNvPr>
          <p:cNvSpPr/>
          <p:nvPr/>
        </p:nvSpPr>
        <p:spPr>
          <a:xfrm>
            <a:off x="1084729" y="1954306"/>
            <a:ext cx="1201271" cy="34962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 Memory Other</a:t>
            </a:r>
          </a:p>
        </p:txBody>
      </p:sp>
      <p:sp>
        <p:nvSpPr>
          <p:cNvPr id="7" name="Rectangle: Rounded Corners 6">
            <a:extLst>
              <a:ext uri="{FF2B5EF4-FFF2-40B4-BE49-F238E27FC236}">
                <a16:creationId xmlns:a16="http://schemas.microsoft.com/office/drawing/2014/main" id="{B38385BA-9373-8F42-D858-40C2752FBDEB}"/>
              </a:ext>
            </a:extLst>
          </p:cNvPr>
          <p:cNvSpPr/>
          <p:nvPr/>
        </p:nvSpPr>
        <p:spPr>
          <a:xfrm>
            <a:off x="1084729" y="2407630"/>
            <a:ext cx="1201271" cy="3854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SQLite Cookies</a:t>
            </a:r>
          </a:p>
        </p:txBody>
      </p:sp>
      <p:sp>
        <p:nvSpPr>
          <p:cNvPr id="8" name="Rectangle: Rounded Corners 7">
            <a:extLst>
              <a:ext uri="{FF2B5EF4-FFF2-40B4-BE49-F238E27FC236}">
                <a16:creationId xmlns:a16="http://schemas.microsoft.com/office/drawing/2014/main" id="{DD051F7C-EE95-9D7A-BBDE-ACC3D8CDD707}"/>
              </a:ext>
            </a:extLst>
          </p:cNvPr>
          <p:cNvSpPr/>
          <p:nvPr/>
        </p:nvSpPr>
        <p:spPr>
          <a:xfrm>
            <a:off x="1084729" y="2868706"/>
            <a:ext cx="1201271" cy="3944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a:t>
            </a:r>
          </a:p>
          <a:p>
            <a:pPr algn="ctr"/>
            <a:r>
              <a:rPr lang="en-US" sz="1200" dirty="0"/>
              <a:t>Session</a:t>
            </a:r>
          </a:p>
        </p:txBody>
      </p:sp>
      <p:sp>
        <p:nvSpPr>
          <p:cNvPr id="9" name="Rectangle: Rounded Corners 8">
            <a:extLst>
              <a:ext uri="{FF2B5EF4-FFF2-40B4-BE49-F238E27FC236}">
                <a16:creationId xmlns:a16="http://schemas.microsoft.com/office/drawing/2014/main" id="{FED0978F-172A-7256-82B0-C9A39510165E}"/>
              </a:ext>
            </a:extLst>
          </p:cNvPr>
          <p:cNvSpPr/>
          <p:nvPr/>
        </p:nvSpPr>
        <p:spPr>
          <a:xfrm>
            <a:off x="1084729" y="3338747"/>
            <a:ext cx="1201271" cy="3944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a:t>
            </a:r>
          </a:p>
          <a:p>
            <a:pPr algn="ctr"/>
            <a:r>
              <a:rPr lang="en-US" sz="1200" dirty="0"/>
              <a:t>Local Storage</a:t>
            </a:r>
          </a:p>
        </p:txBody>
      </p:sp>
      <p:sp>
        <p:nvSpPr>
          <p:cNvPr id="10" name="Rectangle: Rounded Corners 9">
            <a:extLst>
              <a:ext uri="{FF2B5EF4-FFF2-40B4-BE49-F238E27FC236}">
                <a16:creationId xmlns:a16="http://schemas.microsoft.com/office/drawing/2014/main" id="{D60F9934-F51D-CB61-B6EE-84E1B37EAF83}"/>
              </a:ext>
            </a:extLst>
          </p:cNvPr>
          <p:cNvSpPr/>
          <p:nvPr/>
        </p:nvSpPr>
        <p:spPr>
          <a:xfrm>
            <a:off x="1084729" y="1521574"/>
            <a:ext cx="1201271" cy="34962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Browser </a:t>
            </a:r>
          </a:p>
          <a:p>
            <a:pPr algn="ctr"/>
            <a:r>
              <a:rPr lang="en-US" sz="1200" dirty="0"/>
              <a:t>RAM Disk</a:t>
            </a:r>
          </a:p>
        </p:txBody>
      </p:sp>
      <p:sp>
        <p:nvSpPr>
          <p:cNvPr id="11" name="Rectangle 10">
            <a:extLst>
              <a:ext uri="{FF2B5EF4-FFF2-40B4-BE49-F238E27FC236}">
                <a16:creationId xmlns:a16="http://schemas.microsoft.com/office/drawing/2014/main" id="{0608DDD0-3746-3353-0537-AD18F786B1FE}"/>
              </a:ext>
            </a:extLst>
          </p:cNvPr>
          <p:cNvSpPr/>
          <p:nvPr/>
        </p:nvSpPr>
        <p:spPr>
          <a:xfrm>
            <a:off x="8059270" y="2155772"/>
            <a:ext cx="1846730" cy="583925"/>
          </a:xfrm>
          <a:prstGeom prst="rect">
            <a:avLst/>
          </a:prstGeom>
          <a:solidFill>
            <a:schemeClr val="accent5">
              <a:lumMod val="75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Web Service</a:t>
            </a:r>
          </a:p>
        </p:txBody>
      </p:sp>
      <p:sp>
        <p:nvSpPr>
          <p:cNvPr id="12" name="Rectangle: Rounded Corners 11">
            <a:extLst>
              <a:ext uri="{FF2B5EF4-FFF2-40B4-BE49-F238E27FC236}">
                <a16:creationId xmlns:a16="http://schemas.microsoft.com/office/drawing/2014/main" id="{DF84DF22-8BD3-5840-CC7F-66D6119F0B4D}"/>
              </a:ext>
            </a:extLst>
          </p:cNvPr>
          <p:cNvSpPr/>
          <p:nvPr/>
        </p:nvSpPr>
        <p:spPr>
          <a:xfrm>
            <a:off x="1084729" y="3863788"/>
            <a:ext cx="1201271" cy="322730"/>
          </a:xfrm>
          <a:prstGeom prst="round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OS Mem</a:t>
            </a:r>
          </a:p>
        </p:txBody>
      </p:sp>
      <p:sp>
        <p:nvSpPr>
          <p:cNvPr id="13" name="Rectangle: Rounded Corners 12">
            <a:extLst>
              <a:ext uri="{FF2B5EF4-FFF2-40B4-BE49-F238E27FC236}">
                <a16:creationId xmlns:a16="http://schemas.microsoft.com/office/drawing/2014/main" id="{20E1C5BC-AD89-0BDA-77AC-6DFD17560E31}"/>
              </a:ext>
            </a:extLst>
          </p:cNvPr>
          <p:cNvSpPr/>
          <p:nvPr/>
        </p:nvSpPr>
        <p:spPr>
          <a:xfrm>
            <a:off x="1084729" y="4276165"/>
            <a:ext cx="1201271" cy="322730"/>
          </a:xfrm>
          <a:prstGeom prst="round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Gen Disk</a:t>
            </a:r>
          </a:p>
        </p:txBody>
      </p:sp>
      <p:sp>
        <p:nvSpPr>
          <p:cNvPr id="14" name="Rectangle: Rounded Corners 13">
            <a:extLst>
              <a:ext uri="{FF2B5EF4-FFF2-40B4-BE49-F238E27FC236}">
                <a16:creationId xmlns:a16="http://schemas.microsoft.com/office/drawing/2014/main" id="{37DE2362-AB02-882F-1A2B-2F66C8D96DDA}"/>
              </a:ext>
            </a:extLst>
          </p:cNvPr>
          <p:cNvSpPr/>
          <p:nvPr/>
        </p:nvSpPr>
        <p:spPr>
          <a:xfrm>
            <a:off x="1084729" y="1048871"/>
            <a:ext cx="1201271" cy="424004"/>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Cloud Disk</a:t>
            </a:r>
          </a:p>
        </p:txBody>
      </p:sp>
      <p:sp>
        <p:nvSpPr>
          <p:cNvPr id="15" name="Rectangle 14">
            <a:extLst>
              <a:ext uri="{FF2B5EF4-FFF2-40B4-BE49-F238E27FC236}">
                <a16:creationId xmlns:a16="http://schemas.microsoft.com/office/drawing/2014/main" id="{32AA7DD2-B28C-1DCD-36BA-9D4363162136}"/>
              </a:ext>
            </a:extLst>
          </p:cNvPr>
          <p:cNvSpPr/>
          <p:nvPr/>
        </p:nvSpPr>
        <p:spPr>
          <a:xfrm>
            <a:off x="8059270" y="1075420"/>
            <a:ext cx="1846730" cy="1078514"/>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Cloud Extension</a:t>
            </a:r>
          </a:p>
        </p:txBody>
      </p:sp>
      <p:sp>
        <p:nvSpPr>
          <p:cNvPr id="17" name="TextBox 16">
            <a:extLst>
              <a:ext uri="{FF2B5EF4-FFF2-40B4-BE49-F238E27FC236}">
                <a16:creationId xmlns:a16="http://schemas.microsoft.com/office/drawing/2014/main" id="{A2E4B28E-FD78-576B-926D-E0B83CAAA760}"/>
              </a:ext>
            </a:extLst>
          </p:cNvPr>
          <p:cNvSpPr txBox="1"/>
          <p:nvPr/>
        </p:nvSpPr>
        <p:spPr>
          <a:xfrm>
            <a:off x="2286000" y="2351493"/>
            <a:ext cx="2008920" cy="646331"/>
          </a:xfrm>
          <a:prstGeom prst="rect">
            <a:avLst/>
          </a:prstGeom>
          <a:noFill/>
        </p:spPr>
        <p:txBody>
          <a:bodyPr wrap="square" rtlCol="0">
            <a:spAutoFit/>
          </a:bodyPr>
          <a:lstStyle/>
          <a:p>
            <a:r>
              <a:rPr lang="en-US" dirty="0">
                <a:solidFill>
                  <a:schemeClr val="bg1"/>
                </a:solidFill>
              </a:rPr>
              <a:t>Use of Cocky Cipher Technology</a:t>
            </a:r>
          </a:p>
        </p:txBody>
      </p:sp>
      <p:sp>
        <p:nvSpPr>
          <p:cNvPr id="18" name="Rectangle 17">
            <a:extLst>
              <a:ext uri="{FF2B5EF4-FFF2-40B4-BE49-F238E27FC236}">
                <a16:creationId xmlns:a16="http://schemas.microsoft.com/office/drawing/2014/main" id="{E34AB024-42B3-7CDB-A9E9-E9A259ED9EEF}"/>
              </a:ext>
            </a:extLst>
          </p:cNvPr>
          <p:cNvSpPr/>
          <p:nvPr/>
        </p:nvSpPr>
        <p:spPr>
          <a:xfrm>
            <a:off x="2647175" y="5891478"/>
            <a:ext cx="1620764" cy="8675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Router</a:t>
            </a:r>
          </a:p>
        </p:txBody>
      </p:sp>
      <p:pic>
        <p:nvPicPr>
          <p:cNvPr id="19" name="Picture 18">
            <a:extLst>
              <a:ext uri="{FF2B5EF4-FFF2-40B4-BE49-F238E27FC236}">
                <a16:creationId xmlns:a16="http://schemas.microsoft.com/office/drawing/2014/main" id="{820A9083-8B55-0CFD-A21D-62B836378544}"/>
              </a:ext>
            </a:extLst>
          </p:cNvPr>
          <p:cNvPicPr>
            <a:picLocks noChangeAspect="1"/>
          </p:cNvPicPr>
          <p:nvPr/>
        </p:nvPicPr>
        <p:blipFill>
          <a:blip r:embed="rId2"/>
          <a:stretch>
            <a:fillRect/>
          </a:stretch>
        </p:blipFill>
        <p:spPr>
          <a:xfrm>
            <a:off x="8127381" y="5947008"/>
            <a:ext cx="1846730" cy="823031"/>
          </a:xfrm>
          <a:prstGeom prst="rect">
            <a:avLst/>
          </a:prstGeom>
        </p:spPr>
      </p:pic>
      <p:pic>
        <p:nvPicPr>
          <p:cNvPr id="20" name="Picture 19">
            <a:extLst>
              <a:ext uri="{FF2B5EF4-FFF2-40B4-BE49-F238E27FC236}">
                <a16:creationId xmlns:a16="http://schemas.microsoft.com/office/drawing/2014/main" id="{98B46A7C-4491-09DB-3F6B-E73EED0EEEFC}"/>
              </a:ext>
            </a:extLst>
          </p:cNvPr>
          <p:cNvPicPr>
            <a:picLocks noChangeAspect="1"/>
          </p:cNvPicPr>
          <p:nvPr/>
        </p:nvPicPr>
        <p:blipFill>
          <a:blip r:embed="rId3"/>
          <a:stretch>
            <a:fillRect/>
          </a:stretch>
        </p:blipFill>
        <p:spPr>
          <a:xfrm>
            <a:off x="4230142" y="1048871"/>
            <a:ext cx="1908213" cy="3517697"/>
          </a:xfrm>
          <a:prstGeom prst="rect">
            <a:avLst/>
          </a:prstGeom>
        </p:spPr>
      </p:pic>
      <p:sp>
        <p:nvSpPr>
          <p:cNvPr id="21" name="Rectangle: Rounded Corners 20">
            <a:extLst>
              <a:ext uri="{FF2B5EF4-FFF2-40B4-BE49-F238E27FC236}">
                <a16:creationId xmlns:a16="http://schemas.microsoft.com/office/drawing/2014/main" id="{36981E86-959B-F635-E63C-D35DBB384AB5}"/>
              </a:ext>
            </a:extLst>
          </p:cNvPr>
          <p:cNvSpPr/>
          <p:nvPr/>
        </p:nvSpPr>
        <p:spPr>
          <a:xfrm>
            <a:off x="10675232" y="2207555"/>
            <a:ext cx="1357136" cy="858374"/>
          </a:xfrm>
          <a:prstGeom prst="round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Rest Service</a:t>
            </a:r>
          </a:p>
          <a:p>
            <a:pPr algn="ctr"/>
            <a:r>
              <a:rPr lang="en-US" sz="1200" dirty="0"/>
              <a:t>Dedicated</a:t>
            </a:r>
          </a:p>
          <a:p>
            <a:pPr algn="ctr"/>
            <a:r>
              <a:rPr lang="en-US" sz="1200" dirty="0"/>
              <a:t>Machine</a:t>
            </a:r>
          </a:p>
        </p:txBody>
      </p:sp>
      <p:cxnSp>
        <p:nvCxnSpPr>
          <p:cNvPr id="23" name="Straight Connector 22">
            <a:extLst>
              <a:ext uri="{FF2B5EF4-FFF2-40B4-BE49-F238E27FC236}">
                <a16:creationId xmlns:a16="http://schemas.microsoft.com/office/drawing/2014/main" id="{1A7E3577-D0A4-3B48-9B2F-B752F41056D7}"/>
              </a:ext>
            </a:extLst>
          </p:cNvPr>
          <p:cNvCxnSpPr>
            <a:cxnSpLocks/>
            <a:stCxn id="18" idx="3"/>
            <a:endCxn id="19" idx="1"/>
          </p:cNvCxnSpPr>
          <p:nvPr/>
        </p:nvCxnSpPr>
        <p:spPr>
          <a:xfrm>
            <a:off x="4267939" y="6325249"/>
            <a:ext cx="3859442" cy="33275"/>
          </a:xfrm>
          <a:prstGeom prst="line">
            <a:avLst/>
          </a:prstGeom>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15BE6D0-CDA6-7E7E-A371-4CDF6BB776C7}"/>
              </a:ext>
            </a:extLst>
          </p:cNvPr>
          <p:cNvSpPr txBox="1"/>
          <p:nvPr/>
        </p:nvSpPr>
        <p:spPr>
          <a:xfrm>
            <a:off x="4580231" y="5673480"/>
            <a:ext cx="3824722" cy="646331"/>
          </a:xfrm>
          <a:prstGeom prst="rect">
            <a:avLst/>
          </a:prstGeom>
          <a:noFill/>
        </p:spPr>
        <p:txBody>
          <a:bodyPr wrap="square" rtlCol="0">
            <a:spAutoFit/>
          </a:bodyPr>
          <a:lstStyle/>
          <a:p>
            <a:pPr algn="ctr"/>
            <a:r>
              <a:rPr lang="en-US" sz="1200" dirty="0"/>
              <a:t>Internet Or Enterprise</a:t>
            </a:r>
          </a:p>
          <a:p>
            <a:pPr algn="ctr"/>
            <a:r>
              <a:rPr lang="en-US" sz="1200" dirty="0"/>
              <a:t>IP Connectivity Over X</a:t>
            </a:r>
          </a:p>
          <a:p>
            <a:pPr algn="ctr"/>
            <a:r>
              <a:rPr lang="en-US" sz="1200" dirty="0"/>
              <a:t>Std Ports 80,443, 8443, 8080 Web</a:t>
            </a:r>
          </a:p>
        </p:txBody>
      </p:sp>
      <p:cxnSp>
        <p:nvCxnSpPr>
          <p:cNvPr id="28" name="Straight Arrow Connector 27">
            <a:extLst>
              <a:ext uri="{FF2B5EF4-FFF2-40B4-BE49-F238E27FC236}">
                <a16:creationId xmlns:a16="http://schemas.microsoft.com/office/drawing/2014/main" id="{576B3B14-C562-8A36-8157-B14FA46D0F60}"/>
              </a:ext>
            </a:extLst>
          </p:cNvPr>
          <p:cNvCxnSpPr>
            <a:cxnSpLocks/>
            <a:endCxn id="11" idx="1"/>
          </p:cNvCxnSpPr>
          <p:nvPr/>
        </p:nvCxnSpPr>
        <p:spPr>
          <a:xfrm flipV="1">
            <a:off x="5265359" y="2447735"/>
            <a:ext cx="2793911" cy="951300"/>
          </a:xfrm>
          <a:prstGeom prst="straightConnector1">
            <a:avLst/>
          </a:prstGeom>
          <a:ln>
            <a:solidFill>
              <a:schemeClr val="tx1">
                <a:lumMod val="85000"/>
                <a:lumOff val="15000"/>
              </a:schemeClr>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BA7DFE8-D5BE-C58A-68DC-265EC1D91418}"/>
              </a:ext>
            </a:extLst>
          </p:cNvPr>
          <p:cNvSpPr txBox="1"/>
          <p:nvPr/>
        </p:nvSpPr>
        <p:spPr>
          <a:xfrm>
            <a:off x="6638749" y="2507637"/>
            <a:ext cx="1295159" cy="646331"/>
          </a:xfrm>
          <a:prstGeom prst="rect">
            <a:avLst/>
          </a:prstGeom>
          <a:noFill/>
        </p:spPr>
        <p:txBody>
          <a:bodyPr wrap="square" rtlCol="0">
            <a:spAutoFit/>
          </a:bodyPr>
          <a:lstStyle/>
          <a:p>
            <a:r>
              <a:rPr lang="en-US" sz="900" dirty="0"/>
              <a:t>Under Steady State Clients Access Web Pages Over HTTP/HTPPS</a:t>
            </a:r>
          </a:p>
        </p:txBody>
      </p:sp>
      <p:cxnSp>
        <p:nvCxnSpPr>
          <p:cNvPr id="35" name="Straight Arrow Connector 34">
            <a:extLst>
              <a:ext uri="{FF2B5EF4-FFF2-40B4-BE49-F238E27FC236}">
                <a16:creationId xmlns:a16="http://schemas.microsoft.com/office/drawing/2014/main" id="{B3E3D37D-CA0E-F72A-58B8-F2E50A1BA444}"/>
              </a:ext>
            </a:extLst>
          </p:cNvPr>
          <p:cNvCxnSpPr>
            <a:cxnSpLocks/>
            <a:endCxn id="19" idx="0"/>
          </p:cNvCxnSpPr>
          <p:nvPr/>
        </p:nvCxnSpPr>
        <p:spPr>
          <a:xfrm>
            <a:off x="9050746" y="4464280"/>
            <a:ext cx="0" cy="1482728"/>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0B5F250-B719-D493-6F47-DF0544777146}"/>
              </a:ext>
            </a:extLst>
          </p:cNvPr>
          <p:cNvCxnSpPr/>
          <p:nvPr/>
        </p:nvCxnSpPr>
        <p:spPr>
          <a:xfrm flipV="1">
            <a:off x="3457557" y="5052767"/>
            <a:ext cx="0" cy="75414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D4DCCA86-DD27-68A0-BBCE-0D547609DD35}"/>
              </a:ext>
            </a:extLst>
          </p:cNvPr>
          <p:cNvCxnSpPr/>
          <p:nvPr/>
        </p:nvCxnSpPr>
        <p:spPr>
          <a:xfrm flipV="1">
            <a:off x="2931736" y="1187041"/>
            <a:ext cx="0" cy="10800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D5E2F1FF-B346-6A4F-6A94-828E44E2D715}"/>
              </a:ext>
            </a:extLst>
          </p:cNvPr>
          <p:cNvCxnSpPr/>
          <p:nvPr/>
        </p:nvCxnSpPr>
        <p:spPr>
          <a:xfrm>
            <a:off x="2931736" y="3065929"/>
            <a:ext cx="0" cy="15753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724BADB7-0643-00D8-C309-2303788768AC}"/>
              </a:ext>
            </a:extLst>
          </p:cNvPr>
          <p:cNvCxnSpPr>
            <a:cxnSpLocks/>
            <a:endCxn id="43" idx="1"/>
          </p:cNvCxnSpPr>
          <p:nvPr/>
        </p:nvCxnSpPr>
        <p:spPr>
          <a:xfrm>
            <a:off x="9905278" y="2735350"/>
            <a:ext cx="749275" cy="877900"/>
          </a:xfrm>
          <a:prstGeom prst="straightConnector1">
            <a:avLst/>
          </a:prstGeom>
          <a:ln>
            <a:solidFill>
              <a:schemeClr val="tx1">
                <a:lumMod val="65000"/>
                <a:lumOff val="35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6CCF9E07-4D73-08AF-C551-B30989E3CBBD}"/>
              </a:ext>
            </a:extLst>
          </p:cNvPr>
          <p:cNvSpPr txBox="1"/>
          <p:nvPr/>
        </p:nvSpPr>
        <p:spPr>
          <a:xfrm>
            <a:off x="10204403" y="4305633"/>
            <a:ext cx="1846729" cy="769441"/>
          </a:xfrm>
          <a:prstGeom prst="rect">
            <a:avLst/>
          </a:prstGeom>
          <a:noFill/>
        </p:spPr>
        <p:txBody>
          <a:bodyPr wrap="square" rtlCol="0">
            <a:spAutoFit/>
          </a:bodyPr>
          <a:lstStyle/>
          <a:p>
            <a:r>
              <a:rPr lang="en-US" sz="1100" dirty="0"/>
              <a:t>REST Ports Usually run on 50000-60000 ports default by MS Compilers</a:t>
            </a:r>
          </a:p>
          <a:p>
            <a:r>
              <a:rPr lang="en-US" sz="1100" dirty="0"/>
              <a:t>But are often load balanced</a:t>
            </a:r>
          </a:p>
        </p:txBody>
      </p:sp>
      <p:pic>
        <p:nvPicPr>
          <p:cNvPr id="43" name="Picture 42">
            <a:extLst>
              <a:ext uri="{FF2B5EF4-FFF2-40B4-BE49-F238E27FC236}">
                <a16:creationId xmlns:a16="http://schemas.microsoft.com/office/drawing/2014/main" id="{6D171BFF-9C1C-5AE7-E148-68A3295A833A}"/>
              </a:ext>
            </a:extLst>
          </p:cNvPr>
          <p:cNvPicPr>
            <a:picLocks noChangeAspect="1"/>
          </p:cNvPicPr>
          <p:nvPr/>
        </p:nvPicPr>
        <p:blipFill>
          <a:blip r:embed="rId4"/>
          <a:stretch>
            <a:fillRect/>
          </a:stretch>
        </p:blipFill>
        <p:spPr>
          <a:xfrm>
            <a:off x="10654553" y="3174300"/>
            <a:ext cx="1377815" cy="877900"/>
          </a:xfrm>
          <a:prstGeom prst="rect">
            <a:avLst/>
          </a:prstGeom>
        </p:spPr>
      </p:pic>
      <p:pic>
        <p:nvPicPr>
          <p:cNvPr id="45" name="Picture 44">
            <a:extLst>
              <a:ext uri="{FF2B5EF4-FFF2-40B4-BE49-F238E27FC236}">
                <a16:creationId xmlns:a16="http://schemas.microsoft.com/office/drawing/2014/main" id="{09997870-6F2D-3AC3-355D-213F203BC392}"/>
              </a:ext>
            </a:extLst>
          </p:cNvPr>
          <p:cNvPicPr>
            <a:picLocks noChangeAspect="1"/>
          </p:cNvPicPr>
          <p:nvPr/>
        </p:nvPicPr>
        <p:blipFill>
          <a:blip r:embed="rId5"/>
          <a:stretch>
            <a:fillRect/>
          </a:stretch>
        </p:blipFill>
        <p:spPr>
          <a:xfrm flipV="1">
            <a:off x="9905279" y="2209305"/>
            <a:ext cx="769232" cy="300697"/>
          </a:xfrm>
          <a:prstGeom prst="rect">
            <a:avLst/>
          </a:prstGeom>
        </p:spPr>
      </p:pic>
    </p:spTree>
    <p:extLst>
      <p:ext uri="{BB962C8B-B14F-4D97-AF65-F5344CB8AC3E}">
        <p14:creationId xmlns:p14="http://schemas.microsoft.com/office/powerpoint/2010/main" val="3313772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BD439-070F-0270-B2D9-0A502233E0F2}"/>
              </a:ext>
            </a:extLst>
          </p:cNvPr>
          <p:cNvSpPr>
            <a:spLocks noGrp="1"/>
          </p:cNvSpPr>
          <p:nvPr>
            <p:ph type="title"/>
          </p:nvPr>
        </p:nvSpPr>
        <p:spPr/>
        <p:txBody>
          <a:bodyPr>
            <a:normAutofit/>
          </a:bodyPr>
          <a:lstStyle/>
          <a:p>
            <a:r>
              <a:rPr lang="en-US" sz="3200" dirty="0"/>
              <a:t>Hub and Spoke Internet Models With Encryption Models</a:t>
            </a:r>
          </a:p>
        </p:txBody>
      </p:sp>
      <p:sp>
        <p:nvSpPr>
          <p:cNvPr id="3" name="Oval 2">
            <a:extLst>
              <a:ext uri="{FF2B5EF4-FFF2-40B4-BE49-F238E27FC236}">
                <a16:creationId xmlns:a16="http://schemas.microsoft.com/office/drawing/2014/main" id="{99D6497F-2EF0-6708-5065-4354834C77CE}"/>
              </a:ext>
            </a:extLst>
          </p:cNvPr>
          <p:cNvSpPr/>
          <p:nvPr/>
        </p:nvSpPr>
        <p:spPr>
          <a:xfrm>
            <a:off x="1540889" y="1682685"/>
            <a:ext cx="2856321" cy="115007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Hub1</a:t>
            </a:r>
          </a:p>
          <a:p>
            <a:pPr algn="ctr"/>
            <a:r>
              <a:rPr lang="en-US" dirty="0"/>
              <a:t>West</a:t>
            </a:r>
          </a:p>
          <a:p>
            <a:pPr algn="ctr"/>
            <a:r>
              <a:rPr lang="en-US" dirty="0"/>
              <a:t>Web/Rest</a:t>
            </a:r>
          </a:p>
        </p:txBody>
      </p:sp>
      <p:sp>
        <p:nvSpPr>
          <p:cNvPr id="4" name="Oval 3">
            <a:extLst>
              <a:ext uri="{FF2B5EF4-FFF2-40B4-BE49-F238E27FC236}">
                <a16:creationId xmlns:a16="http://schemas.microsoft.com/office/drawing/2014/main" id="{65A2E8E7-2D47-CE8B-F38B-00BEA68F5E4D}"/>
              </a:ext>
            </a:extLst>
          </p:cNvPr>
          <p:cNvSpPr/>
          <p:nvPr/>
        </p:nvSpPr>
        <p:spPr>
          <a:xfrm>
            <a:off x="6249184" y="1686687"/>
            <a:ext cx="2736917" cy="1150070"/>
          </a:xfrm>
          <a:prstGeom prst="ellipse">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Hub2</a:t>
            </a:r>
          </a:p>
          <a:p>
            <a:pPr algn="ctr"/>
            <a:r>
              <a:rPr lang="en-US" dirty="0"/>
              <a:t>East</a:t>
            </a:r>
          </a:p>
          <a:p>
            <a:pPr algn="ctr"/>
            <a:r>
              <a:rPr lang="en-US" dirty="0"/>
              <a:t>Web/Rest</a:t>
            </a:r>
          </a:p>
        </p:txBody>
      </p:sp>
      <p:sp>
        <p:nvSpPr>
          <p:cNvPr id="5" name="Rectangle: Rounded Corners 4">
            <a:extLst>
              <a:ext uri="{FF2B5EF4-FFF2-40B4-BE49-F238E27FC236}">
                <a16:creationId xmlns:a16="http://schemas.microsoft.com/office/drawing/2014/main" id="{A9326D18-D78B-4097-18E0-D60C5B19FED0}"/>
              </a:ext>
            </a:extLst>
          </p:cNvPr>
          <p:cNvSpPr/>
          <p:nvPr/>
        </p:nvSpPr>
        <p:spPr>
          <a:xfrm>
            <a:off x="5976594" y="5356784"/>
            <a:ext cx="1405379" cy="744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C4</a:t>
            </a:r>
          </a:p>
        </p:txBody>
      </p:sp>
      <p:sp>
        <p:nvSpPr>
          <p:cNvPr id="6" name="Rectangle: Rounded Corners 5">
            <a:extLst>
              <a:ext uri="{FF2B5EF4-FFF2-40B4-BE49-F238E27FC236}">
                <a16:creationId xmlns:a16="http://schemas.microsoft.com/office/drawing/2014/main" id="{FD611F86-81A2-2BB1-619F-BD69F53847D2}"/>
              </a:ext>
            </a:extLst>
          </p:cNvPr>
          <p:cNvSpPr/>
          <p:nvPr/>
        </p:nvSpPr>
        <p:spPr>
          <a:xfrm>
            <a:off x="7579936" y="5356784"/>
            <a:ext cx="1225485" cy="744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C5</a:t>
            </a:r>
          </a:p>
        </p:txBody>
      </p:sp>
      <p:sp>
        <p:nvSpPr>
          <p:cNvPr id="7" name="Rectangle: Rounded Corners 6">
            <a:extLst>
              <a:ext uri="{FF2B5EF4-FFF2-40B4-BE49-F238E27FC236}">
                <a16:creationId xmlns:a16="http://schemas.microsoft.com/office/drawing/2014/main" id="{931EE08D-1045-DEBE-3B13-A92F1F06DF88}"/>
              </a:ext>
            </a:extLst>
          </p:cNvPr>
          <p:cNvSpPr/>
          <p:nvPr/>
        </p:nvSpPr>
        <p:spPr>
          <a:xfrm>
            <a:off x="9003384" y="5356783"/>
            <a:ext cx="1329179" cy="744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C6</a:t>
            </a:r>
          </a:p>
        </p:txBody>
      </p:sp>
      <p:cxnSp>
        <p:nvCxnSpPr>
          <p:cNvPr id="13" name="Straight Arrow Connector 12">
            <a:extLst>
              <a:ext uri="{FF2B5EF4-FFF2-40B4-BE49-F238E27FC236}">
                <a16:creationId xmlns:a16="http://schemas.microsoft.com/office/drawing/2014/main" id="{6FDC2A2C-B81C-0204-AEFC-F10E662B64B9}"/>
              </a:ext>
            </a:extLst>
          </p:cNvPr>
          <p:cNvCxnSpPr/>
          <p:nvPr/>
        </p:nvCxnSpPr>
        <p:spPr>
          <a:xfrm>
            <a:off x="3591612" y="3563332"/>
            <a:ext cx="805598" cy="161198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AEE76C1-EBC6-BD0C-B009-7C335C94C584}"/>
              </a:ext>
            </a:extLst>
          </p:cNvPr>
          <p:cNvCxnSpPr/>
          <p:nvPr/>
        </p:nvCxnSpPr>
        <p:spPr>
          <a:xfrm>
            <a:off x="2960016" y="3563332"/>
            <a:ext cx="0" cy="161198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55BD20-8BE3-708C-BB20-9DAD3C8B767E}"/>
              </a:ext>
            </a:extLst>
          </p:cNvPr>
          <p:cNvCxnSpPr/>
          <p:nvPr/>
        </p:nvCxnSpPr>
        <p:spPr>
          <a:xfrm flipH="1">
            <a:off x="1310326" y="3497344"/>
            <a:ext cx="848412" cy="167797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2BCB80E2-0E1B-18CF-E2FB-D700ABC2394B}"/>
              </a:ext>
            </a:extLst>
          </p:cNvPr>
          <p:cNvPicPr>
            <a:picLocks noChangeAspect="1"/>
          </p:cNvPicPr>
          <p:nvPr/>
        </p:nvPicPr>
        <p:blipFill>
          <a:blip r:embed="rId2"/>
          <a:stretch>
            <a:fillRect/>
          </a:stretch>
        </p:blipFill>
        <p:spPr>
          <a:xfrm>
            <a:off x="854969" y="5309647"/>
            <a:ext cx="4371211" cy="762066"/>
          </a:xfrm>
          <a:prstGeom prst="rect">
            <a:avLst/>
          </a:prstGeom>
        </p:spPr>
      </p:pic>
      <p:cxnSp>
        <p:nvCxnSpPr>
          <p:cNvPr id="20" name="Straight Arrow Connector 19">
            <a:extLst>
              <a:ext uri="{FF2B5EF4-FFF2-40B4-BE49-F238E27FC236}">
                <a16:creationId xmlns:a16="http://schemas.microsoft.com/office/drawing/2014/main" id="{AD5E9B0F-BF91-6973-D008-F0A706047AF4}"/>
              </a:ext>
            </a:extLst>
          </p:cNvPr>
          <p:cNvCxnSpPr>
            <a:cxnSpLocks/>
          </p:cNvCxnSpPr>
          <p:nvPr/>
        </p:nvCxnSpPr>
        <p:spPr>
          <a:xfrm flipH="1">
            <a:off x="6584229" y="3676454"/>
            <a:ext cx="598996" cy="163319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D85EE201-AEFC-FB86-1409-778639EF52A6}"/>
              </a:ext>
            </a:extLst>
          </p:cNvPr>
          <p:cNvCxnSpPr>
            <a:cxnSpLocks/>
            <a:endCxn id="6" idx="0"/>
          </p:cNvCxnSpPr>
          <p:nvPr/>
        </p:nvCxnSpPr>
        <p:spPr>
          <a:xfrm>
            <a:off x="7748046" y="3563332"/>
            <a:ext cx="444633" cy="1793452"/>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CE5A1FE-C84D-7594-6EE0-61D6D22E9DEB}"/>
              </a:ext>
            </a:extLst>
          </p:cNvPr>
          <p:cNvCxnSpPr>
            <a:cxnSpLocks/>
          </p:cNvCxnSpPr>
          <p:nvPr/>
        </p:nvCxnSpPr>
        <p:spPr>
          <a:xfrm>
            <a:off x="8352148" y="3429000"/>
            <a:ext cx="1187778" cy="1880647"/>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86BA5EA-1476-AD57-10AA-1AB7416244BA}"/>
              </a:ext>
            </a:extLst>
          </p:cNvPr>
          <p:cNvCxnSpPr/>
          <p:nvPr/>
        </p:nvCxnSpPr>
        <p:spPr>
          <a:xfrm>
            <a:off x="4543720" y="2092751"/>
            <a:ext cx="1432874"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B676DBB-6C84-0A0C-DB72-49C77152EA0A}"/>
              </a:ext>
            </a:extLst>
          </p:cNvPr>
          <p:cNvCxnSpPr/>
          <p:nvPr/>
        </p:nvCxnSpPr>
        <p:spPr>
          <a:xfrm>
            <a:off x="4543720" y="2384982"/>
            <a:ext cx="1552280"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Rectangle: Rounded Corners 31">
            <a:extLst>
              <a:ext uri="{FF2B5EF4-FFF2-40B4-BE49-F238E27FC236}">
                <a16:creationId xmlns:a16="http://schemas.microsoft.com/office/drawing/2014/main" id="{DCB7EE95-ED9B-65B0-4C36-9EE54B0674E8}"/>
              </a:ext>
            </a:extLst>
          </p:cNvPr>
          <p:cNvSpPr/>
          <p:nvPr/>
        </p:nvSpPr>
        <p:spPr>
          <a:xfrm>
            <a:off x="6584229" y="2925763"/>
            <a:ext cx="2111604" cy="525544"/>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Conc Router2</a:t>
            </a:r>
          </a:p>
        </p:txBody>
      </p:sp>
      <p:pic>
        <p:nvPicPr>
          <p:cNvPr id="33" name="Picture 32">
            <a:extLst>
              <a:ext uri="{FF2B5EF4-FFF2-40B4-BE49-F238E27FC236}">
                <a16:creationId xmlns:a16="http://schemas.microsoft.com/office/drawing/2014/main" id="{4107665F-BD3A-36A0-CEB4-C199163C90BB}"/>
              </a:ext>
            </a:extLst>
          </p:cNvPr>
          <p:cNvPicPr>
            <a:picLocks noChangeAspect="1"/>
          </p:cNvPicPr>
          <p:nvPr/>
        </p:nvPicPr>
        <p:blipFill>
          <a:blip r:embed="rId3"/>
          <a:stretch>
            <a:fillRect/>
          </a:stretch>
        </p:blipFill>
        <p:spPr>
          <a:xfrm>
            <a:off x="1976730" y="2875394"/>
            <a:ext cx="2127688" cy="554784"/>
          </a:xfrm>
          <a:prstGeom prst="rect">
            <a:avLst/>
          </a:prstGeom>
        </p:spPr>
      </p:pic>
      <p:sp>
        <p:nvSpPr>
          <p:cNvPr id="34" name="TextBox 33">
            <a:extLst>
              <a:ext uri="{FF2B5EF4-FFF2-40B4-BE49-F238E27FC236}">
                <a16:creationId xmlns:a16="http://schemas.microsoft.com/office/drawing/2014/main" id="{CE76DD29-4EAF-7E0E-E5D1-4BD89437DDA7}"/>
              </a:ext>
            </a:extLst>
          </p:cNvPr>
          <p:cNvSpPr txBox="1"/>
          <p:nvPr/>
        </p:nvSpPr>
        <p:spPr>
          <a:xfrm>
            <a:off x="2580329" y="6333305"/>
            <a:ext cx="7337710" cy="369332"/>
          </a:xfrm>
          <a:prstGeom prst="rect">
            <a:avLst/>
          </a:prstGeom>
          <a:noFill/>
        </p:spPr>
        <p:txBody>
          <a:bodyPr wrap="square" rtlCol="0">
            <a:spAutoFit/>
          </a:bodyPr>
          <a:lstStyle/>
          <a:p>
            <a:r>
              <a:rPr lang="en-US" dirty="0"/>
              <a:t>C1-C6 Receive the Same Encryption Keys in Caesarian Models</a:t>
            </a:r>
          </a:p>
        </p:txBody>
      </p:sp>
    </p:spTree>
    <p:extLst>
      <p:ext uri="{BB962C8B-B14F-4D97-AF65-F5344CB8AC3E}">
        <p14:creationId xmlns:p14="http://schemas.microsoft.com/office/powerpoint/2010/main" val="1192540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BD439-070F-0270-B2D9-0A502233E0F2}"/>
              </a:ext>
            </a:extLst>
          </p:cNvPr>
          <p:cNvSpPr>
            <a:spLocks noGrp="1"/>
          </p:cNvSpPr>
          <p:nvPr>
            <p:ph type="title"/>
          </p:nvPr>
        </p:nvSpPr>
        <p:spPr/>
        <p:txBody>
          <a:bodyPr/>
          <a:lstStyle/>
          <a:p>
            <a:r>
              <a:rPr lang="en-US" dirty="0"/>
              <a:t>Encryption - Per Session Models</a:t>
            </a:r>
          </a:p>
        </p:txBody>
      </p:sp>
      <p:sp>
        <p:nvSpPr>
          <p:cNvPr id="3" name="Oval 2">
            <a:extLst>
              <a:ext uri="{FF2B5EF4-FFF2-40B4-BE49-F238E27FC236}">
                <a16:creationId xmlns:a16="http://schemas.microsoft.com/office/drawing/2014/main" id="{99D6497F-2EF0-6708-5065-4354834C77CE}"/>
              </a:ext>
            </a:extLst>
          </p:cNvPr>
          <p:cNvSpPr/>
          <p:nvPr/>
        </p:nvSpPr>
        <p:spPr>
          <a:xfrm>
            <a:off x="1540889" y="1682685"/>
            <a:ext cx="2856321" cy="115007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Hub1</a:t>
            </a:r>
          </a:p>
          <a:p>
            <a:pPr algn="ctr"/>
            <a:r>
              <a:rPr lang="en-US" dirty="0"/>
              <a:t>West</a:t>
            </a:r>
          </a:p>
          <a:p>
            <a:pPr algn="ctr"/>
            <a:r>
              <a:rPr lang="en-US" dirty="0"/>
              <a:t>Web/Rest</a:t>
            </a:r>
          </a:p>
        </p:txBody>
      </p:sp>
      <p:sp>
        <p:nvSpPr>
          <p:cNvPr id="4" name="Oval 3">
            <a:extLst>
              <a:ext uri="{FF2B5EF4-FFF2-40B4-BE49-F238E27FC236}">
                <a16:creationId xmlns:a16="http://schemas.microsoft.com/office/drawing/2014/main" id="{65A2E8E7-2D47-CE8B-F38B-00BEA68F5E4D}"/>
              </a:ext>
            </a:extLst>
          </p:cNvPr>
          <p:cNvSpPr/>
          <p:nvPr/>
        </p:nvSpPr>
        <p:spPr>
          <a:xfrm>
            <a:off x="6249184" y="1686687"/>
            <a:ext cx="2736917" cy="1150070"/>
          </a:xfrm>
          <a:prstGeom prst="ellipse">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Hub2</a:t>
            </a:r>
          </a:p>
          <a:p>
            <a:pPr algn="ctr"/>
            <a:r>
              <a:rPr lang="en-US" dirty="0"/>
              <a:t>East</a:t>
            </a:r>
          </a:p>
          <a:p>
            <a:pPr algn="ctr"/>
            <a:r>
              <a:rPr lang="en-US" dirty="0"/>
              <a:t>Web/Rest</a:t>
            </a:r>
          </a:p>
        </p:txBody>
      </p:sp>
      <p:sp>
        <p:nvSpPr>
          <p:cNvPr id="5" name="Rectangle: Rounded Corners 4">
            <a:extLst>
              <a:ext uri="{FF2B5EF4-FFF2-40B4-BE49-F238E27FC236}">
                <a16:creationId xmlns:a16="http://schemas.microsoft.com/office/drawing/2014/main" id="{A9326D18-D78B-4097-18E0-D60C5B19FED0}"/>
              </a:ext>
            </a:extLst>
          </p:cNvPr>
          <p:cNvSpPr/>
          <p:nvPr/>
        </p:nvSpPr>
        <p:spPr>
          <a:xfrm>
            <a:off x="5976594" y="5356784"/>
            <a:ext cx="1405379" cy="744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C4</a:t>
            </a:r>
          </a:p>
        </p:txBody>
      </p:sp>
      <p:sp>
        <p:nvSpPr>
          <p:cNvPr id="6" name="Rectangle: Rounded Corners 5">
            <a:extLst>
              <a:ext uri="{FF2B5EF4-FFF2-40B4-BE49-F238E27FC236}">
                <a16:creationId xmlns:a16="http://schemas.microsoft.com/office/drawing/2014/main" id="{FD611F86-81A2-2BB1-619F-BD69F53847D2}"/>
              </a:ext>
            </a:extLst>
          </p:cNvPr>
          <p:cNvSpPr/>
          <p:nvPr/>
        </p:nvSpPr>
        <p:spPr>
          <a:xfrm>
            <a:off x="7579936" y="5356784"/>
            <a:ext cx="1225485" cy="744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C5</a:t>
            </a:r>
          </a:p>
        </p:txBody>
      </p:sp>
      <p:sp>
        <p:nvSpPr>
          <p:cNvPr id="7" name="Rectangle: Rounded Corners 6">
            <a:extLst>
              <a:ext uri="{FF2B5EF4-FFF2-40B4-BE49-F238E27FC236}">
                <a16:creationId xmlns:a16="http://schemas.microsoft.com/office/drawing/2014/main" id="{931EE08D-1045-DEBE-3B13-A92F1F06DF88}"/>
              </a:ext>
            </a:extLst>
          </p:cNvPr>
          <p:cNvSpPr/>
          <p:nvPr/>
        </p:nvSpPr>
        <p:spPr>
          <a:xfrm>
            <a:off x="9003384" y="5356783"/>
            <a:ext cx="1329179" cy="744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C6</a:t>
            </a:r>
          </a:p>
        </p:txBody>
      </p:sp>
      <p:cxnSp>
        <p:nvCxnSpPr>
          <p:cNvPr id="13" name="Straight Arrow Connector 12">
            <a:extLst>
              <a:ext uri="{FF2B5EF4-FFF2-40B4-BE49-F238E27FC236}">
                <a16:creationId xmlns:a16="http://schemas.microsoft.com/office/drawing/2014/main" id="{6FDC2A2C-B81C-0204-AEFC-F10E662B64B9}"/>
              </a:ext>
            </a:extLst>
          </p:cNvPr>
          <p:cNvCxnSpPr/>
          <p:nvPr/>
        </p:nvCxnSpPr>
        <p:spPr>
          <a:xfrm>
            <a:off x="3591612" y="3563332"/>
            <a:ext cx="805598" cy="161198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AEE76C1-EBC6-BD0C-B009-7C335C94C584}"/>
              </a:ext>
            </a:extLst>
          </p:cNvPr>
          <p:cNvCxnSpPr/>
          <p:nvPr/>
        </p:nvCxnSpPr>
        <p:spPr>
          <a:xfrm>
            <a:off x="2960016" y="3563332"/>
            <a:ext cx="0" cy="161198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55BD20-8BE3-708C-BB20-9DAD3C8B767E}"/>
              </a:ext>
            </a:extLst>
          </p:cNvPr>
          <p:cNvCxnSpPr/>
          <p:nvPr/>
        </p:nvCxnSpPr>
        <p:spPr>
          <a:xfrm flipH="1">
            <a:off x="1310326" y="3497344"/>
            <a:ext cx="848412" cy="167797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2BCB80E2-0E1B-18CF-E2FB-D700ABC2394B}"/>
              </a:ext>
            </a:extLst>
          </p:cNvPr>
          <p:cNvPicPr>
            <a:picLocks noChangeAspect="1"/>
          </p:cNvPicPr>
          <p:nvPr/>
        </p:nvPicPr>
        <p:blipFill>
          <a:blip r:embed="rId2"/>
          <a:stretch>
            <a:fillRect/>
          </a:stretch>
        </p:blipFill>
        <p:spPr>
          <a:xfrm>
            <a:off x="854969" y="5309647"/>
            <a:ext cx="4371211" cy="762066"/>
          </a:xfrm>
          <a:prstGeom prst="rect">
            <a:avLst/>
          </a:prstGeom>
        </p:spPr>
      </p:pic>
      <p:cxnSp>
        <p:nvCxnSpPr>
          <p:cNvPr id="20" name="Straight Arrow Connector 19">
            <a:extLst>
              <a:ext uri="{FF2B5EF4-FFF2-40B4-BE49-F238E27FC236}">
                <a16:creationId xmlns:a16="http://schemas.microsoft.com/office/drawing/2014/main" id="{AD5E9B0F-BF91-6973-D008-F0A706047AF4}"/>
              </a:ext>
            </a:extLst>
          </p:cNvPr>
          <p:cNvCxnSpPr>
            <a:cxnSpLocks/>
          </p:cNvCxnSpPr>
          <p:nvPr/>
        </p:nvCxnSpPr>
        <p:spPr>
          <a:xfrm flipH="1">
            <a:off x="6584229" y="3676454"/>
            <a:ext cx="598996" cy="163319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D85EE201-AEFC-FB86-1409-778639EF52A6}"/>
              </a:ext>
            </a:extLst>
          </p:cNvPr>
          <p:cNvCxnSpPr>
            <a:cxnSpLocks/>
            <a:endCxn id="6" idx="0"/>
          </p:cNvCxnSpPr>
          <p:nvPr/>
        </p:nvCxnSpPr>
        <p:spPr>
          <a:xfrm>
            <a:off x="7748046" y="3563332"/>
            <a:ext cx="444633" cy="1793452"/>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CE5A1FE-C84D-7594-6EE0-61D6D22E9DEB}"/>
              </a:ext>
            </a:extLst>
          </p:cNvPr>
          <p:cNvCxnSpPr>
            <a:cxnSpLocks/>
          </p:cNvCxnSpPr>
          <p:nvPr/>
        </p:nvCxnSpPr>
        <p:spPr>
          <a:xfrm>
            <a:off x="8352148" y="3429000"/>
            <a:ext cx="1187778" cy="1880647"/>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86BA5EA-1476-AD57-10AA-1AB7416244BA}"/>
              </a:ext>
            </a:extLst>
          </p:cNvPr>
          <p:cNvCxnSpPr/>
          <p:nvPr/>
        </p:nvCxnSpPr>
        <p:spPr>
          <a:xfrm>
            <a:off x="4543720" y="2092751"/>
            <a:ext cx="1432874"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B676DBB-6C84-0A0C-DB72-49C77152EA0A}"/>
              </a:ext>
            </a:extLst>
          </p:cNvPr>
          <p:cNvCxnSpPr/>
          <p:nvPr/>
        </p:nvCxnSpPr>
        <p:spPr>
          <a:xfrm>
            <a:off x="4543720" y="2384982"/>
            <a:ext cx="1552280"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Rectangle: Rounded Corners 31">
            <a:extLst>
              <a:ext uri="{FF2B5EF4-FFF2-40B4-BE49-F238E27FC236}">
                <a16:creationId xmlns:a16="http://schemas.microsoft.com/office/drawing/2014/main" id="{DCB7EE95-ED9B-65B0-4C36-9EE54B0674E8}"/>
              </a:ext>
            </a:extLst>
          </p:cNvPr>
          <p:cNvSpPr/>
          <p:nvPr/>
        </p:nvSpPr>
        <p:spPr>
          <a:xfrm>
            <a:off x="6584229" y="2925763"/>
            <a:ext cx="2111604" cy="525544"/>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Conc Router2</a:t>
            </a:r>
          </a:p>
        </p:txBody>
      </p:sp>
      <p:pic>
        <p:nvPicPr>
          <p:cNvPr id="33" name="Picture 32">
            <a:extLst>
              <a:ext uri="{FF2B5EF4-FFF2-40B4-BE49-F238E27FC236}">
                <a16:creationId xmlns:a16="http://schemas.microsoft.com/office/drawing/2014/main" id="{4107665F-BD3A-36A0-CEB4-C199163C90BB}"/>
              </a:ext>
            </a:extLst>
          </p:cNvPr>
          <p:cNvPicPr>
            <a:picLocks noChangeAspect="1"/>
          </p:cNvPicPr>
          <p:nvPr/>
        </p:nvPicPr>
        <p:blipFill>
          <a:blip r:embed="rId3"/>
          <a:stretch>
            <a:fillRect/>
          </a:stretch>
        </p:blipFill>
        <p:spPr>
          <a:xfrm>
            <a:off x="1976730" y="2875394"/>
            <a:ext cx="2127688" cy="554784"/>
          </a:xfrm>
          <a:prstGeom prst="rect">
            <a:avLst/>
          </a:prstGeom>
        </p:spPr>
      </p:pic>
      <p:sp>
        <p:nvSpPr>
          <p:cNvPr id="34" name="TextBox 33">
            <a:extLst>
              <a:ext uri="{FF2B5EF4-FFF2-40B4-BE49-F238E27FC236}">
                <a16:creationId xmlns:a16="http://schemas.microsoft.com/office/drawing/2014/main" id="{CE76DD29-4EAF-7E0E-E5D1-4BD89437DDA7}"/>
              </a:ext>
            </a:extLst>
          </p:cNvPr>
          <p:cNvSpPr txBox="1"/>
          <p:nvPr/>
        </p:nvSpPr>
        <p:spPr>
          <a:xfrm>
            <a:off x="2825425" y="6314757"/>
            <a:ext cx="7337710" cy="369332"/>
          </a:xfrm>
          <a:prstGeom prst="rect">
            <a:avLst/>
          </a:prstGeom>
          <a:noFill/>
        </p:spPr>
        <p:txBody>
          <a:bodyPr wrap="square" rtlCol="0">
            <a:spAutoFit/>
          </a:bodyPr>
          <a:lstStyle/>
          <a:p>
            <a:r>
              <a:rPr lang="en-US" dirty="0"/>
              <a:t>C1-C6 Receive Different Keys in Per Session Models</a:t>
            </a:r>
          </a:p>
        </p:txBody>
      </p:sp>
      <p:cxnSp>
        <p:nvCxnSpPr>
          <p:cNvPr id="9" name="Straight Arrow Connector 8">
            <a:extLst>
              <a:ext uri="{FF2B5EF4-FFF2-40B4-BE49-F238E27FC236}">
                <a16:creationId xmlns:a16="http://schemas.microsoft.com/office/drawing/2014/main" id="{498269E0-208E-D868-4513-D2246260D741}"/>
              </a:ext>
            </a:extLst>
          </p:cNvPr>
          <p:cNvCxnSpPr>
            <a:cxnSpLocks/>
          </p:cNvCxnSpPr>
          <p:nvPr/>
        </p:nvCxnSpPr>
        <p:spPr>
          <a:xfrm flipV="1">
            <a:off x="1072101" y="2516957"/>
            <a:ext cx="548031" cy="2792690"/>
          </a:xfrm>
          <a:prstGeom prst="straightConnector1">
            <a:avLst/>
          </a:prstGeom>
          <a:ln>
            <a:solidFill>
              <a:srgbClr val="FF0000"/>
            </a:solidFill>
            <a:prstDash val="sysDash"/>
            <a:tailEnd type="triangle"/>
          </a:ln>
        </p:spPr>
        <p:style>
          <a:lnRef idx="2">
            <a:schemeClr val="accent1"/>
          </a:lnRef>
          <a:fillRef idx="0">
            <a:schemeClr val="accent1"/>
          </a:fillRef>
          <a:effectRef idx="1">
            <a:schemeClr val="accent1"/>
          </a:effectRef>
          <a:fontRef idx="minor">
            <a:schemeClr val="tx1"/>
          </a:fontRef>
        </p:style>
      </p:cxnSp>
      <p:pic>
        <p:nvPicPr>
          <p:cNvPr id="16" name="Picture 15">
            <a:extLst>
              <a:ext uri="{FF2B5EF4-FFF2-40B4-BE49-F238E27FC236}">
                <a16:creationId xmlns:a16="http://schemas.microsoft.com/office/drawing/2014/main" id="{F8C7E167-BE1A-1404-8486-DB64C7A3949F}"/>
              </a:ext>
            </a:extLst>
          </p:cNvPr>
          <p:cNvPicPr>
            <a:picLocks noChangeAspect="1"/>
          </p:cNvPicPr>
          <p:nvPr/>
        </p:nvPicPr>
        <p:blipFill>
          <a:blip r:embed="rId4"/>
          <a:stretch>
            <a:fillRect/>
          </a:stretch>
        </p:blipFill>
        <p:spPr>
          <a:xfrm>
            <a:off x="510671" y="3360656"/>
            <a:ext cx="1103472" cy="499915"/>
          </a:xfrm>
          <a:prstGeom prst="rect">
            <a:avLst/>
          </a:prstGeom>
        </p:spPr>
      </p:pic>
      <p:cxnSp>
        <p:nvCxnSpPr>
          <p:cNvPr id="21" name="Straight Arrow Connector 20">
            <a:extLst>
              <a:ext uri="{FF2B5EF4-FFF2-40B4-BE49-F238E27FC236}">
                <a16:creationId xmlns:a16="http://schemas.microsoft.com/office/drawing/2014/main" id="{F4AE18BF-8EFB-ED8E-81D9-6BF3F61F255B}"/>
              </a:ext>
            </a:extLst>
          </p:cNvPr>
          <p:cNvCxnSpPr/>
          <p:nvPr/>
        </p:nvCxnSpPr>
        <p:spPr>
          <a:xfrm flipH="1" flipV="1">
            <a:off x="8805421" y="2516957"/>
            <a:ext cx="1112618" cy="2792690"/>
          </a:xfrm>
          <a:prstGeom prst="straightConnector1">
            <a:avLst/>
          </a:prstGeom>
          <a:ln>
            <a:solidFill>
              <a:srgbClr val="FF0000"/>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BC9CAC7B-A177-14D5-0125-55DBB665959A}"/>
              </a:ext>
            </a:extLst>
          </p:cNvPr>
          <p:cNvSpPr/>
          <p:nvPr/>
        </p:nvSpPr>
        <p:spPr>
          <a:xfrm>
            <a:off x="8909116" y="3548711"/>
            <a:ext cx="1084083" cy="48076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What Are My Keys - Bootstrap</a:t>
            </a:r>
          </a:p>
        </p:txBody>
      </p:sp>
    </p:spTree>
    <p:extLst>
      <p:ext uri="{BB962C8B-B14F-4D97-AF65-F5344CB8AC3E}">
        <p14:creationId xmlns:p14="http://schemas.microsoft.com/office/powerpoint/2010/main" val="2831735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0FEF2-4A2A-A5B1-792F-64A82DC04E94}"/>
              </a:ext>
            </a:extLst>
          </p:cNvPr>
          <p:cNvSpPr>
            <a:spLocks noGrp="1"/>
          </p:cNvSpPr>
          <p:nvPr>
            <p:ph type="title"/>
          </p:nvPr>
        </p:nvSpPr>
        <p:spPr>
          <a:xfrm>
            <a:off x="481945" y="327417"/>
            <a:ext cx="11228109" cy="1325563"/>
          </a:xfrm>
        </p:spPr>
        <p:txBody>
          <a:bodyPr/>
          <a:lstStyle/>
          <a:p>
            <a:r>
              <a:rPr lang="en-US" dirty="0"/>
              <a:t>Some Perspective… Chrome Defaults to AES128</a:t>
            </a:r>
          </a:p>
        </p:txBody>
      </p:sp>
      <p:pic>
        <p:nvPicPr>
          <p:cNvPr id="4" name="Picture 3">
            <a:extLst>
              <a:ext uri="{FF2B5EF4-FFF2-40B4-BE49-F238E27FC236}">
                <a16:creationId xmlns:a16="http://schemas.microsoft.com/office/drawing/2014/main" id="{1D198226-9AA6-0A87-9AF3-DA6ED72F430B}"/>
              </a:ext>
            </a:extLst>
          </p:cNvPr>
          <p:cNvPicPr>
            <a:picLocks noChangeAspect="1"/>
          </p:cNvPicPr>
          <p:nvPr/>
        </p:nvPicPr>
        <p:blipFill>
          <a:blip r:embed="rId2"/>
          <a:stretch>
            <a:fillRect/>
          </a:stretch>
        </p:blipFill>
        <p:spPr>
          <a:xfrm>
            <a:off x="306436" y="1652980"/>
            <a:ext cx="5035420" cy="4146449"/>
          </a:xfrm>
          <a:prstGeom prst="rect">
            <a:avLst/>
          </a:prstGeom>
        </p:spPr>
      </p:pic>
      <p:pic>
        <p:nvPicPr>
          <p:cNvPr id="6" name="Picture 5">
            <a:extLst>
              <a:ext uri="{FF2B5EF4-FFF2-40B4-BE49-F238E27FC236}">
                <a16:creationId xmlns:a16="http://schemas.microsoft.com/office/drawing/2014/main" id="{EB33DA8A-207F-635F-8378-F6B82359D5A7}"/>
              </a:ext>
            </a:extLst>
          </p:cNvPr>
          <p:cNvPicPr>
            <a:picLocks noChangeAspect="1"/>
          </p:cNvPicPr>
          <p:nvPr/>
        </p:nvPicPr>
        <p:blipFill>
          <a:blip r:embed="rId3"/>
          <a:stretch>
            <a:fillRect/>
          </a:stretch>
        </p:blipFill>
        <p:spPr>
          <a:xfrm>
            <a:off x="6466788" y="1385740"/>
            <a:ext cx="4964326" cy="2394408"/>
          </a:xfrm>
          <a:prstGeom prst="rect">
            <a:avLst/>
          </a:prstGeom>
        </p:spPr>
      </p:pic>
      <p:sp>
        <p:nvSpPr>
          <p:cNvPr id="7" name="TextBox 6">
            <a:extLst>
              <a:ext uri="{FF2B5EF4-FFF2-40B4-BE49-F238E27FC236}">
                <a16:creationId xmlns:a16="http://schemas.microsoft.com/office/drawing/2014/main" id="{E3C337DB-7F4C-B057-7638-0F1B1E508873}"/>
              </a:ext>
            </a:extLst>
          </p:cNvPr>
          <p:cNvSpPr txBox="1"/>
          <p:nvPr/>
        </p:nvSpPr>
        <p:spPr>
          <a:xfrm>
            <a:off x="10162095" y="2432115"/>
            <a:ext cx="1269019" cy="923330"/>
          </a:xfrm>
          <a:prstGeom prst="rect">
            <a:avLst/>
          </a:prstGeom>
          <a:noFill/>
        </p:spPr>
        <p:txBody>
          <a:bodyPr wrap="square" rtlCol="0">
            <a:spAutoFit/>
          </a:bodyPr>
          <a:lstStyle/>
          <a:p>
            <a:r>
              <a:rPr lang="en-US" dirty="0"/>
              <a:t>SC.EDU TO BING… AES256</a:t>
            </a:r>
          </a:p>
        </p:txBody>
      </p:sp>
      <p:pic>
        <p:nvPicPr>
          <p:cNvPr id="9" name="Picture 8">
            <a:extLst>
              <a:ext uri="{FF2B5EF4-FFF2-40B4-BE49-F238E27FC236}">
                <a16:creationId xmlns:a16="http://schemas.microsoft.com/office/drawing/2014/main" id="{DF02CD48-8002-6289-CE0F-BBC5B1113DA5}"/>
              </a:ext>
            </a:extLst>
          </p:cNvPr>
          <p:cNvPicPr>
            <a:picLocks noChangeAspect="1"/>
          </p:cNvPicPr>
          <p:nvPr/>
        </p:nvPicPr>
        <p:blipFill>
          <a:blip r:embed="rId4"/>
          <a:stretch>
            <a:fillRect/>
          </a:stretch>
        </p:blipFill>
        <p:spPr>
          <a:xfrm>
            <a:off x="6336904" y="4015819"/>
            <a:ext cx="5373150" cy="2670790"/>
          </a:xfrm>
          <a:prstGeom prst="rect">
            <a:avLst/>
          </a:prstGeom>
        </p:spPr>
      </p:pic>
      <p:sp>
        <p:nvSpPr>
          <p:cNvPr id="10" name="TextBox 9">
            <a:extLst>
              <a:ext uri="{FF2B5EF4-FFF2-40B4-BE49-F238E27FC236}">
                <a16:creationId xmlns:a16="http://schemas.microsoft.com/office/drawing/2014/main" id="{201497F4-1C05-1F6C-2B3F-E673C807D10D}"/>
              </a:ext>
            </a:extLst>
          </p:cNvPr>
          <p:cNvSpPr txBox="1"/>
          <p:nvPr/>
        </p:nvSpPr>
        <p:spPr>
          <a:xfrm>
            <a:off x="10011266" y="5213023"/>
            <a:ext cx="1419848" cy="923330"/>
          </a:xfrm>
          <a:prstGeom prst="rect">
            <a:avLst/>
          </a:prstGeom>
          <a:noFill/>
        </p:spPr>
        <p:txBody>
          <a:bodyPr wrap="square" rtlCol="0">
            <a:spAutoFit/>
          </a:bodyPr>
          <a:lstStyle/>
          <a:p>
            <a:r>
              <a:rPr lang="en-US" dirty="0"/>
              <a:t>SC.EDU</a:t>
            </a:r>
          </a:p>
          <a:p>
            <a:r>
              <a:rPr lang="en-US" dirty="0"/>
              <a:t>TO RENDER</a:t>
            </a:r>
          </a:p>
          <a:p>
            <a:r>
              <a:rPr lang="en-US" dirty="0"/>
              <a:t>AES128</a:t>
            </a:r>
          </a:p>
        </p:txBody>
      </p:sp>
    </p:spTree>
    <p:extLst>
      <p:ext uri="{BB962C8B-B14F-4D97-AF65-F5344CB8AC3E}">
        <p14:creationId xmlns:p14="http://schemas.microsoft.com/office/powerpoint/2010/main" val="2242735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E6F2B-A36B-8259-A9C4-C2C47D21CCEA}"/>
              </a:ext>
            </a:extLst>
          </p:cNvPr>
          <p:cNvSpPr>
            <a:spLocks noGrp="1"/>
          </p:cNvSpPr>
          <p:nvPr>
            <p:ph type="title"/>
          </p:nvPr>
        </p:nvSpPr>
        <p:spPr/>
        <p:txBody>
          <a:bodyPr/>
          <a:lstStyle/>
          <a:p>
            <a:r>
              <a:rPr lang="en-US" dirty="0"/>
              <a:t>Cipher Operations</a:t>
            </a:r>
          </a:p>
        </p:txBody>
      </p:sp>
      <p:sp>
        <p:nvSpPr>
          <p:cNvPr id="3" name="TextBox 2">
            <a:extLst>
              <a:ext uri="{FF2B5EF4-FFF2-40B4-BE49-F238E27FC236}">
                <a16:creationId xmlns:a16="http://schemas.microsoft.com/office/drawing/2014/main" id="{73610474-3129-F1F0-2A5D-70823BBF0C97}"/>
              </a:ext>
            </a:extLst>
          </p:cNvPr>
          <p:cNvSpPr txBox="1"/>
          <p:nvPr/>
        </p:nvSpPr>
        <p:spPr>
          <a:xfrm>
            <a:off x="8248473" y="4128940"/>
            <a:ext cx="3318235" cy="646331"/>
          </a:xfrm>
          <a:prstGeom prst="rect">
            <a:avLst/>
          </a:prstGeom>
          <a:noFill/>
        </p:spPr>
        <p:txBody>
          <a:bodyPr wrap="square" rtlCol="0">
            <a:spAutoFit/>
          </a:bodyPr>
          <a:lstStyle/>
          <a:p>
            <a:r>
              <a:rPr lang="en-US" dirty="0"/>
              <a:t>Plain Text Block Assumed to be 1460 Bytes/characters at Base</a:t>
            </a:r>
          </a:p>
        </p:txBody>
      </p:sp>
      <p:pic>
        <p:nvPicPr>
          <p:cNvPr id="5" name="Picture 4">
            <a:extLst>
              <a:ext uri="{FF2B5EF4-FFF2-40B4-BE49-F238E27FC236}">
                <a16:creationId xmlns:a16="http://schemas.microsoft.com/office/drawing/2014/main" id="{6AA63445-3BE0-90ED-8E04-79674F4DEF39}"/>
              </a:ext>
            </a:extLst>
          </p:cNvPr>
          <p:cNvPicPr>
            <a:picLocks noChangeAspect="1"/>
          </p:cNvPicPr>
          <p:nvPr/>
        </p:nvPicPr>
        <p:blipFill>
          <a:blip r:embed="rId2"/>
          <a:stretch>
            <a:fillRect/>
          </a:stretch>
        </p:blipFill>
        <p:spPr>
          <a:xfrm>
            <a:off x="7880808" y="474423"/>
            <a:ext cx="4053567" cy="3334296"/>
          </a:xfrm>
          <a:prstGeom prst="rect">
            <a:avLst/>
          </a:prstGeom>
          <a:solidFill>
            <a:schemeClr val="bg1"/>
          </a:solidFill>
          <a:ln w="60325">
            <a:solidFill>
              <a:schemeClr val="accent2">
                <a:lumMod val="60000"/>
                <a:lumOff val="40000"/>
              </a:schemeClr>
            </a:solidFill>
          </a:ln>
        </p:spPr>
      </p:pic>
      <p:sp>
        <p:nvSpPr>
          <p:cNvPr id="6" name="TextBox 5">
            <a:extLst>
              <a:ext uri="{FF2B5EF4-FFF2-40B4-BE49-F238E27FC236}">
                <a16:creationId xmlns:a16="http://schemas.microsoft.com/office/drawing/2014/main" id="{C93E5FAA-4EA5-FB9E-86D2-A109CA9146F9}"/>
              </a:ext>
            </a:extLst>
          </p:cNvPr>
          <p:cNvSpPr txBox="1"/>
          <p:nvPr/>
        </p:nvSpPr>
        <p:spPr>
          <a:xfrm>
            <a:off x="339366" y="2141571"/>
            <a:ext cx="1197204" cy="369332"/>
          </a:xfrm>
          <a:prstGeom prst="rect">
            <a:avLst/>
          </a:prstGeom>
          <a:noFill/>
        </p:spPr>
        <p:txBody>
          <a:bodyPr wrap="square" rtlCol="0">
            <a:spAutoFit/>
          </a:bodyPr>
          <a:lstStyle/>
          <a:p>
            <a:r>
              <a:rPr lang="en-US" dirty="0"/>
              <a:t>Plain Text</a:t>
            </a:r>
          </a:p>
        </p:txBody>
      </p:sp>
      <p:cxnSp>
        <p:nvCxnSpPr>
          <p:cNvPr id="8" name="Straight Arrow Connector 7">
            <a:extLst>
              <a:ext uri="{FF2B5EF4-FFF2-40B4-BE49-F238E27FC236}">
                <a16:creationId xmlns:a16="http://schemas.microsoft.com/office/drawing/2014/main" id="{411E9719-89A2-2D33-993F-5A053A346193}"/>
              </a:ext>
            </a:extLst>
          </p:cNvPr>
          <p:cNvCxnSpPr>
            <a:stCxn id="6" idx="3"/>
          </p:cNvCxnSpPr>
          <p:nvPr/>
        </p:nvCxnSpPr>
        <p:spPr>
          <a:xfrm flipV="1">
            <a:off x="1536570" y="2309567"/>
            <a:ext cx="801277" cy="166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7DAC8E0-2D77-F858-AC3B-8B38CDC41BC8}"/>
              </a:ext>
            </a:extLst>
          </p:cNvPr>
          <p:cNvSpPr txBox="1"/>
          <p:nvPr/>
        </p:nvSpPr>
        <p:spPr>
          <a:xfrm>
            <a:off x="2554664" y="2055043"/>
            <a:ext cx="1894787" cy="646331"/>
          </a:xfrm>
          <a:prstGeom prst="rect">
            <a:avLst/>
          </a:prstGeom>
          <a:noFill/>
          <a:ln>
            <a:solidFill>
              <a:schemeClr val="accent1"/>
            </a:solidFill>
          </a:ln>
        </p:spPr>
        <p:txBody>
          <a:bodyPr wrap="square" rtlCol="0">
            <a:spAutoFit/>
          </a:bodyPr>
          <a:lstStyle/>
          <a:p>
            <a:r>
              <a:rPr lang="en-US" dirty="0"/>
              <a:t>ASCII Text</a:t>
            </a:r>
          </a:p>
          <a:p>
            <a:r>
              <a:rPr lang="en-US" dirty="0"/>
              <a:t>8 bit encoding</a:t>
            </a:r>
          </a:p>
        </p:txBody>
      </p:sp>
      <p:cxnSp>
        <p:nvCxnSpPr>
          <p:cNvPr id="11" name="Straight Arrow Connector 10">
            <a:extLst>
              <a:ext uri="{FF2B5EF4-FFF2-40B4-BE49-F238E27FC236}">
                <a16:creationId xmlns:a16="http://schemas.microsoft.com/office/drawing/2014/main" id="{16FD5F50-ADCD-0FC9-23FA-34D5B7ABEEDF}"/>
              </a:ext>
            </a:extLst>
          </p:cNvPr>
          <p:cNvCxnSpPr>
            <a:cxnSpLocks/>
            <a:stCxn id="9" idx="3"/>
            <a:endCxn id="12" idx="1"/>
          </p:cNvCxnSpPr>
          <p:nvPr/>
        </p:nvCxnSpPr>
        <p:spPr>
          <a:xfrm flipV="1">
            <a:off x="4449451" y="1812946"/>
            <a:ext cx="735290" cy="5652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709E1142-9625-4D61-4134-2D8BA15AEEA8}"/>
              </a:ext>
            </a:extLst>
          </p:cNvPr>
          <p:cNvSpPr txBox="1"/>
          <p:nvPr/>
        </p:nvSpPr>
        <p:spPr>
          <a:xfrm>
            <a:off x="5184741" y="1351281"/>
            <a:ext cx="2441543" cy="923330"/>
          </a:xfrm>
          <a:prstGeom prst="rect">
            <a:avLst/>
          </a:prstGeom>
          <a:noFill/>
        </p:spPr>
        <p:txBody>
          <a:bodyPr wrap="square" rtlCol="0">
            <a:spAutoFit/>
          </a:bodyPr>
          <a:lstStyle/>
          <a:p>
            <a:r>
              <a:rPr lang="en-US" dirty="0"/>
              <a:t>Key0 – Generates A0 of Key Text Shifted 96 positions to the right.</a:t>
            </a:r>
          </a:p>
        </p:txBody>
      </p:sp>
      <p:cxnSp>
        <p:nvCxnSpPr>
          <p:cNvPr id="14" name="Straight Arrow Connector 13">
            <a:extLst>
              <a:ext uri="{FF2B5EF4-FFF2-40B4-BE49-F238E27FC236}">
                <a16:creationId xmlns:a16="http://schemas.microsoft.com/office/drawing/2014/main" id="{5FD2B54E-31B1-2379-36EF-D92E9D1C6636}"/>
              </a:ext>
            </a:extLst>
          </p:cNvPr>
          <p:cNvCxnSpPr>
            <a:cxnSpLocks/>
          </p:cNvCxnSpPr>
          <p:nvPr/>
        </p:nvCxnSpPr>
        <p:spPr>
          <a:xfrm flipV="1">
            <a:off x="4449451" y="2644081"/>
            <a:ext cx="707009" cy="57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CB699B6-4096-CF5A-55DD-89B40FF1598B}"/>
              </a:ext>
            </a:extLst>
          </p:cNvPr>
          <p:cNvSpPr txBox="1"/>
          <p:nvPr/>
        </p:nvSpPr>
        <p:spPr>
          <a:xfrm>
            <a:off x="5326142" y="2326237"/>
            <a:ext cx="2121031" cy="1200329"/>
          </a:xfrm>
          <a:prstGeom prst="rect">
            <a:avLst/>
          </a:prstGeom>
          <a:noFill/>
        </p:spPr>
        <p:txBody>
          <a:bodyPr wrap="square" rtlCol="0">
            <a:spAutoFit/>
          </a:bodyPr>
          <a:lstStyle/>
          <a:p>
            <a:r>
              <a:rPr lang="en-US" dirty="0"/>
              <a:t>Key1 – Generates A1 or Key Text Shifted </a:t>
            </a:r>
            <a:r>
              <a:rPr lang="en-US" dirty="0" err="1"/>
              <a:t>BaseShift</a:t>
            </a:r>
            <a:r>
              <a:rPr lang="en-US" dirty="0"/>
              <a:t> + NTP(MOY)</a:t>
            </a:r>
          </a:p>
        </p:txBody>
      </p:sp>
      <p:cxnSp>
        <p:nvCxnSpPr>
          <p:cNvPr id="17" name="Straight Arrow Connector 16">
            <a:extLst>
              <a:ext uri="{FF2B5EF4-FFF2-40B4-BE49-F238E27FC236}">
                <a16:creationId xmlns:a16="http://schemas.microsoft.com/office/drawing/2014/main" id="{8452C989-7D22-232E-F677-9E203238FFE2}"/>
              </a:ext>
            </a:extLst>
          </p:cNvPr>
          <p:cNvCxnSpPr>
            <a:cxnSpLocks/>
          </p:cNvCxnSpPr>
          <p:nvPr/>
        </p:nvCxnSpPr>
        <p:spPr>
          <a:xfrm>
            <a:off x="4374037" y="2809188"/>
            <a:ext cx="952105" cy="9832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7341AEC6-975A-10FC-CC0E-AC33403A7652}"/>
              </a:ext>
            </a:extLst>
          </p:cNvPr>
          <p:cNvSpPr txBox="1"/>
          <p:nvPr/>
        </p:nvSpPr>
        <p:spPr>
          <a:xfrm>
            <a:off x="5388989" y="3578192"/>
            <a:ext cx="2337847" cy="646331"/>
          </a:xfrm>
          <a:prstGeom prst="rect">
            <a:avLst/>
          </a:prstGeom>
          <a:noFill/>
        </p:spPr>
        <p:txBody>
          <a:bodyPr wrap="square" rtlCol="0">
            <a:spAutoFit/>
          </a:bodyPr>
          <a:lstStyle/>
          <a:p>
            <a:r>
              <a:rPr lang="en-US" dirty="0"/>
              <a:t>Key2 – Generates A2 = K1 + NTP(DOM)</a:t>
            </a:r>
          </a:p>
        </p:txBody>
      </p:sp>
      <p:cxnSp>
        <p:nvCxnSpPr>
          <p:cNvPr id="20" name="Straight Arrow Connector 19">
            <a:extLst>
              <a:ext uri="{FF2B5EF4-FFF2-40B4-BE49-F238E27FC236}">
                <a16:creationId xmlns:a16="http://schemas.microsoft.com/office/drawing/2014/main" id="{A7D8C971-DFD0-77EF-1A94-C6951B87F90E}"/>
              </a:ext>
            </a:extLst>
          </p:cNvPr>
          <p:cNvCxnSpPr>
            <a:cxnSpLocks/>
          </p:cNvCxnSpPr>
          <p:nvPr/>
        </p:nvCxnSpPr>
        <p:spPr>
          <a:xfrm>
            <a:off x="4128940" y="2809188"/>
            <a:ext cx="1106077" cy="16118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1CB330BF-ED95-5D0F-A02B-2CF80CF16DB5}"/>
              </a:ext>
            </a:extLst>
          </p:cNvPr>
          <p:cNvSpPr txBox="1"/>
          <p:nvPr/>
        </p:nvSpPr>
        <p:spPr>
          <a:xfrm>
            <a:off x="5321429" y="4234798"/>
            <a:ext cx="2337847" cy="646331"/>
          </a:xfrm>
          <a:prstGeom prst="rect">
            <a:avLst/>
          </a:prstGeom>
          <a:noFill/>
        </p:spPr>
        <p:txBody>
          <a:bodyPr wrap="square" rtlCol="0">
            <a:spAutoFit/>
          </a:bodyPr>
          <a:lstStyle/>
          <a:p>
            <a:r>
              <a:rPr lang="en-US" dirty="0"/>
              <a:t>Key3 – Generates</a:t>
            </a:r>
          </a:p>
          <a:p>
            <a:r>
              <a:rPr lang="en-US" dirty="0"/>
              <a:t>A3 = K2 +3</a:t>
            </a:r>
          </a:p>
        </p:txBody>
      </p:sp>
      <p:sp>
        <p:nvSpPr>
          <p:cNvPr id="23" name="TextBox 22">
            <a:extLst>
              <a:ext uri="{FF2B5EF4-FFF2-40B4-BE49-F238E27FC236}">
                <a16:creationId xmlns:a16="http://schemas.microsoft.com/office/drawing/2014/main" id="{3387408B-9798-C1A1-A0C7-5C0FD7163BD2}"/>
              </a:ext>
            </a:extLst>
          </p:cNvPr>
          <p:cNvSpPr txBox="1"/>
          <p:nvPr/>
        </p:nvSpPr>
        <p:spPr>
          <a:xfrm>
            <a:off x="5439264" y="5029271"/>
            <a:ext cx="2007910" cy="646331"/>
          </a:xfrm>
          <a:prstGeom prst="rect">
            <a:avLst/>
          </a:prstGeom>
          <a:noFill/>
        </p:spPr>
        <p:txBody>
          <a:bodyPr wrap="square" rtlCol="0">
            <a:spAutoFit/>
          </a:bodyPr>
          <a:lstStyle/>
          <a:p>
            <a:r>
              <a:rPr lang="en-US" dirty="0"/>
              <a:t>Key4 – Generates</a:t>
            </a:r>
          </a:p>
          <a:p>
            <a:r>
              <a:rPr lang="en-US" dirty="0"/>
              <a:t>A4 = K3 + 4</a:t>
            </a:r>
          </a:p>
        </p:txBody>
      </p:sp>
      <p:sp>
        <p:nvSpPr>
          <p:cNvPr id="24" name="TextBox 23">
            <a:extLst>
              <a:ext uri="{FF2B5EF4-FFF2-40B4-BE49-F238E27FC236}">
                <a16:creationId xmlns:a16="http://schemas.microsoft.com/office/drawing/2014/main" id="{7A317B41-82A1-E87D-92CB-DE112565C9F4}"/>
              </a:ext>
            </a:extLst>
          </p:cNvPr>
          <p:cNvSpPr txBox="1"/>
          <p:nvPr/>
        </p:nvSpPr>
        <p:spPr>
          <a:xfrm>
            <a:off x="8521831" y="5646656"/>
            <a:ext cx="3516198" cy="646331"/>
          </a:xfrm>
          <a:prstGeom prst="rect">
            <a:avLst/>
          </a:prstGeom>
          <a:noFill/>
        </p:spPr>
        <p:txBody>
          <a:bodyPr wrap="square" rtlCol="0">
            <a:spAutoFit/>
          </a:bodyPr>
          <a:lstStyle/>
          <a:p>
            <a:r>
              <a:rPr lang="en-US" dirty="0"/>
              <a:t>Key Max in Default =</a:t>
            </a:r>
          </a:p>
          <a:p>
            <a:r>
              <a:rPr lang="en-US" dirty="0"/>
              <a:t>96+12+31+3+4+5</a:t>
            </a:r>
          </a:p>
        </p:txBody>
      </p:sp>
      <p:cxnSp>
        <p:nvCxnSpPr>
          <p:cNvPr id="26" name="Straight Arrow Connector 25">
            <a:extLst>
              <a:ext uri="{FF2B5EF4-FFF2-40B4-BE49-F238E27FC236}">
                <a16:creationId xmlns:a16="http://schemas.microsoft.com/office/drawing/2014/main" id="{988AC912-5E78-1E82-FC59-FC68CABACC60}"/>
              </a:ext>
            </a:extLst>
          </p:cNvPr>
          <p:cNvCxnSpPr>
            <a:cxnSpLocks/>
          </p:cNvCxnSpPr>
          <p:nvPr/>
        </p:nvCxnSpPr>
        <p:spPr>
          <a:xfrm>
            <a:off x="3817856" y="2809188"/>
            <a:ext cx="1503573" cy="24698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FB3AB810-F117-8A52-2235-F9C771F88EB2}"/>
              </a:ext>
            </a:extLst>
          </p:cNvPr>
          <p:cNvSpPr txBox="1"/>
          <p:nvPr/>
        </p:nvSpPr>
        <p:spPr>
          <a:xfrm>
            <a:off x="5448690" y="5788861"/>
            <a:ext cx="2083323" cy="646331"/>
          </a:xfrm>
          <a:prstGeom prst="rect">
            <a:avLst/>
          </a:prstGeom>
          <a:noFill/>
        </p:spPr>
        <p:txBody>
          <a:bodyPr wrap="square" rtlCol="0">
            <a:spAutoFit/>
          </a:bodyPr>
          <a:lstStyle/>
          <a:p>
            <a:r>
              <a:rPr lang="en-US" dirty="0"/>
              <a:t>Key(N) – Generates</a:t>
            </a:r>
          </a:p>
          <a:p>
            <a:r>
              <a:rPr lang="en-US" dirty="0"/>
              <a:t>AN-1 = KN-1 + N</a:t>
            </a:r>
          </a:p>
        </p:txBody>
      </p:sp>
      <p:sp>
        <p:nvSpPr>
          <p:cNvPr id="36" name="TextBox 35">
            <a:extLst>
              <a:ext uri="{FF2B5EF4-FFF2-40B4-BE49-F238E27FC236}">
                <a16:creationId xmlns:a16="http://schemas.microsoft.com/office/drawing/2014/main" id="{AFF2A619-9A48-68B5-B4CF-F7BD2606E744}"/>
              </a:ext>
            </a:extLst>
          </p:cNvPr>
          <p:cNvSpPr txBox="1"/>
          <p:nvPr/>
        </p:nvSpPr>
        <p:spPr>
          <a:xfrm>
            <a:off x="2438410" y="4289481"/>
            <a:ext cx="2758891" cy="1754326"/>
          </a:xfrm>
          <a:prstGeom prst="rect">
            <a:avLst/>
          </a:prstGeom>
          <a:noFill/>
        </p:spPr>
        <p:txBody>
          <a:bodyPr wrap="square" rtlCol="0">
            <a:spAutoFit/>
          </a:bodyPr>
          <a:lstStyle/>
          <a:p>
            <a:r>
              <a:rPr lang="en-US" dirty="0"/>
              <a:t>5 Arrays Are Built in Default Model on Client Bootstrap. These are essentially just binary values shifted in the Key Value.</a:t>
            </a:r>
          </a:p>
        </p:txBody>
      </p:sp>
    </p:spTree>
    <p:extLst>
      <p:ext uri="{BB962C8B-B14F-4D97-AF65-F5344CB8AC3E}">
        <p14:creationId xmlns:p14="http://schemas.microsoft.com/office/powerpoint/2010/main" val="1054189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D4C49-565B-F231-E84A-C79E64126BEC}"/>
              </a:ext>
            </a:extLst>
          </p:cNvPr>
          <p:cNvSpPr>
            <a:spLocks noGrp="1"/>
          </p:cNvSpPr>
          <p:nvPr>
            <p:ph type="title"/>
          </p:nvPr>
        </p:nvSpPr>
        <p:spPr>
          <a:xfrm>
            <a:off x="838200" y="365126"/>
            <a:ext cx="10515600" cy="369332"/>
          </a:xfrm>
        </p:spPr>
        <p:txBody>
          <a:bodyPr>
            <a:normAutofit fontScale="90000"/>
          </a:bodyPr>
          <a:lstStyle/>
          <a:p>
            <a:r>
              <a:rPr lang="en-US" dirty="0"/>
              <a:t>The BASICS OF THE COCKEY CIPHER</a:t>
            </a:r>
          </a:p>
        </p:txBody>
      </p:sp>
      <p:sp>
        <p:nvSpPr>
          <p:cNvPr id="3" name="Rectangle 2">
            <a:extLst>
              <a:ext uri="{FF2B5EF4-FFF2-40B4-BE49-F238E27FC236}">
                <a16:creationId xmlns:a16="http://schemas.microsoft.com/office/drawing/2014/main" id="{F8F76321-658B-9E64-AE08-B8D0DCCFE64D}"/>
              </a:ext>
            </a:extLst>
          </p:cNvPr>
          <p:cNvSpPr/>
          <p:nvPr/>
        </p:nvSpPr>
        <p:spPr>
          <a:xfrm>
            <a:off x="1498860" y="1414683"/>
            <a:ext cx="1065229" cy="7541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cxnSp>
        <p:nvCxnSpPr>
          <p:cNvPr id="5" name="Straight Arrow Connector 4">
            <a:extLst>
              <a:ext uri="{FF2B5EF4-FFF2-40B4-BE49-F238E27FC236}">
                <a16:creationId xmlns:a16="http://schemas.microsoft.com/office/drawing/2014/main" id="{7255C828-56A0-E206-CD3C-12DFEF0B3AAE}"/>
              </a:ext>
            </a:extLst>
          </p:cNvPr>
          <p:cNvCxnSpPr/>
          <p:nvPr/>
        </p:nvCxnSpPr>
        <p:spPr>
          <a:xfrm>
            <a:off x="2696065" y="1791755"/>
            <a:ext cx="60991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0CB862E1-4A85-AE76-0A5D-44D5EFF5C0AA}"/>
              </a:ext>
            </a:extLst>
          </p:cNvPr>
          <p:cNvSpPr/>
          <p:nvPr/>
        </p:nvSpPr>
        <p:spPr>
          <a:xfrm>
            <a:off x="8927183" y="1339276"/>
            <a:ext cx="1225484" cy="82955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256</a:t>
            </a:r>
          </a:p>
        </p:txBody>
      </p:sp>
      <p:pic>
        <p:nvPicPr>
          <p:cNvPr id="8" name="Picture 7">
            <a:extLst>
              <a:ext uri="{FF2B5EF4-FFF2-40B4-BE49-F238E27FC236}">
                <a16:creationId xmlns:a16="http://schemas.microsoft.com/office/drawing/2014/main" id="{CFC35269-3171-980F-070F-3A800D6BB490}"/>
              </a:ext>
            </a:extLst>
          </p:cNvPr>
          <p:cNvPicPr>
            <a:picLocks noChangeAspect="1"/>
          </p:cNvPicPr>
          <p:nvPr/>
        </p:nvPicPr>
        <p:blipFill>
          <a:blip r:embed="rId2"/>
          <a:stretch>
            <a:fillRect/>
          </a:stretch>
        </p:blipFill>
        <p:spPr>
          <a:xfrm>
            <a:off x="1498860" y="2487479"/>
            <a:ext cx="8675360" cy="847417"/>
          </a:xfrm>
          <a:prstGeom prst="rect">
            <a:avLst/>
          </a:prstGeom>
        </p:spPr>
      </p:pic>
      <p:pic>
        <p:nvPicPr>
          <p:cNvPr id="9" name="Picture 8">
            <a:extLst>
              <a:ext uri="{FF2B5EF4-FFF2-40B4-BE49-F238E27FC236}">
                <a16:creationId xmlns:a16="http://schemas.microsoft.com/office/drawing/2014/main" id="{CB6475BF-CACD-774A-619E-496546252593}"/>
              </a:ext>
            </a:extLst>
          </p:cNvPr>
          <p:cNvPicPr>
            <a:picLocks noChangeAspect="1"/>
          </p:cNvPicPr>
          <p:nvPr/>
        </p:nvPicPr>
        <p:blipFill>
          <a:blip r:embed="rId2"/>
          <a:stretch>
            <a:fillRect/>
          </a:stretch>
        </p:blipFill>
        <p:spPr>
          <a:xfrm>
            <a:off x="1477307" y="3606910"/>
            <a:ext cx="8675360" cy="847417"/>
          </a:xfrm>
          <a:prstGeom prst="rect">
            <a:avLst/>
          </a:prstGeom>
        </p:spPr>
      </p:pic>
      <p:pic>
        <p:nvPicPr>
          <p:cNvPr id="10" name="Picture 9">
            <a:extLst>
              <a:ext uri="{FF2B5EF4-FFF2-40B4-BE49-F238E27FC236}">
                <a16:creationId xmlns:a16="http://schemas.microsoft.com/office/drawing/2014/main" id="{84E6EBD4-1599-AB62-B161-7E9A43912E1B}"/>
              </a:ext>
            </a:extLst>
          </p:cNvPr>
          <p:cNvPicPr>
            <a:picLocks noChangeAspect="1"/>
          </p:cNvPicPr>
          <p:nvPr/>
        </p:nvPicPr>
        <p:blipFill>
          <a:blip r:embed="rId2"/>
          <a:stretch>
            <a:fillRect/>
          </a:stretch>
        </p:blipFill>
        <p:spPr>
          <a:xfrm>
            <a:off x="1498860" y="4626184"/>
            <a:ext cx="8675360" cy="847417"/>
          </a:xfrm>
          <a:prstGeom prst="rect">
            <a:avLst/>
          </a:prstGeom>
        </p:spPr>
      </p:pic>
      <p:pic>
        <p:nvPicPr>
          <p:cNvPr id="11" name="Picture 10">
            <a:extLst>
              <a:ext uri="{FF2B5EF4-FFF2-40B4-BE49-F238E27FC236}">
                <a16:creationId xmlns:a16="http://schemas.microsoft.com/office/drawing/2014/main" id="{6697102D-8792-C304-35EB-8B42C60B1C93}"/>
              </a:ext>
            </a:extLst>
          </p:cNvPr>
          <p:cNvPicPr>
            <a:picLocks noChangeAspect="1"/>
          </p:cNvPicPr>
          <p:nvPr/>
        </p:nvPicPr>
        <p:blipFill>
          <a:blip r:embed="rId2"/>
          <a:stretch>
            <a:fillRect/>
          </a:stretch>
        </p:blipFill>
        <p:spPr>
          <a:xfrm>
            <a:off x="1498860" y="5645458"/>
            <a:ext cx="8675360" cy="847417"/>
          </a:xfrm>
          <a:prstGeom prst="rect">
            <a:avLst/>
          </a:prstGeom>
        </p:spPr>
      </p:pic>
      <p:sp>
        <p:nvSpPr>
          <p:cNvPr id="12" name="TextBox 11">
            <a:extLst>
              <a:ext uri="{FF2B5EF4-FFF2-40B4-BE49-F238E27FC236}">
                <a16:creationId xmlns:a16="http://schemas.microsoft.com/office/drawing/2014/main" id="{78D72CE6-8175-5E40-8C79-6118045D01EC}"/>
              </a:ext>
            </a:extLst>
          </p:cNvPr>
          <p:cNvSpPr txBox="1"/>
          <p:nvPr/>
        </p:nvSpPr>
        <p:spPr>
          <a:xfrm>
            <a:off x="546361" y="1556556"/>
            <a:ext cx="1244338" cy="369332"/>
          </a:xfrm>
          <a:prstGeom prst="rect">
            <a:avLst/>
          </a:prstGeom>
          <a:noFill/>
        </p:spPr>
        <p:txBody>
          <a:bodyPr wrap="square" rtlCol="0">
            <a:spAutoFit/>
          </a:bodyPr>
          <a:lstStyle/>
          <a:p>
            <a:r>
              <a:rPr lang="en-US" dirty="0"/>
              <a:t>Key1</a:t>
            </a:r>
          </a:p>
        </p:txBody>
      </p:sp>
      <p:cxnSp>
        <p:nvCxnSpPr>
          <p:cNvPr id="14" name="Straight Arrow Connector 13">
            <a:extLst>
              <a:ext uri="{FF2B5EF4-FFF2-40B4-BE49-F238E27FC236}">
                <a16:creationId xmlns:a16="http://schemas.microsoft.com/office/drawing/2014/main" id="{AB7C4090-1E0B-EDBC-979E-920FE7F61358}"/>
              </a:ext>
            </a:extLst>
          </p:cNvPr>
          <p:cNvCxnSpPr/>
          <p:nvPr/>
        </p:nvCxnSpPr>
        <p:spPr>
          <a:xfrm>
            <a:off x="838200" y="1925888"/>
            <a:ext cx="0" cy="42863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F1B6AEA9-868A-F94D-54CC-116052B0B8F4}"/>
              </a:ext>
            </a:extLst>
          </p:cNvPr>
          <p:cNvSpPr txBox="1"/>
          <p:nvPr/>
        </p:nvSpPr>
        <p:spPr>
          <a:xfrm>
            <a:off x="443060" y="6212264"/>
            <a:ext cx="857839" cy="369332"/>
          </a:xfrm>
          <a:prstGeom prst="rect">
            <a:avLst/>
          </a:prstGeom>
          <a:noFill/>
        </p:spPr>
        <p:txBody>
          <a:bodyPr wrap="square" rtlCol="0">
            <a:spAutoFit/>
          </a:bodyPr>
          <a:lstStyle/>
          <a:p>
            <a:r>
              <a:rPr lang="en-US" dirty="0"/>
              <a:t>Key(n)</a:t>
            </a:r>
          </a:p>
        </p:txBody>
      </p:sp>
      <p:sp>
        <p:nvSpPr>
          <p:cNvPr id="16" name="TextBox 15">
            <a:extLst>
              <a:ext uri="{FF2B5EF4-FFF2-40B4-BE49-F238E27FC236}">
                <a16:creationId xmlns:a16="http://schemas.microsoft.com/office/drawing/2014/main" id="{1D6AE122-D820-3977-E431-D52C40E42EF2}"/>
              </a:ext>
            </a:extLst>
          </p:cNvPr>
          <p:cNvSpPr txBox="1"/>
          <p:nvPr/>
        </p:nvSpPr>
        <p:spPr>
          <a:xfrm>
            <a:off x="316752" y="852201"/>
            <a:ext cx="11039575" cy="369332"/>
          </a:xfrm>
          <a:prstGeom prst="rect">
            <a:avLst/>
          </a:prstGeom>
          <a:noFill/>
        </p:spPr>
        <p:txBody>
          <a:bodyPr wrap="square" rtlCol="0">
            <a:spAutoFit/>
          </a:bodyPr>
          <a:lstStyle/>
          <a:p>
            <a:r>
              <a:rPr lang="en-US" dirty="0"/>
              <a:t>Key0 is The base shift which defaults to 96 in Binary. Arrays are Now All Present in Memory on Client and Server.</a:t>
            </a:r>
          </a:p>
        </p:txBody>
      </p:sp>
    </p:spTree>
    <p:extLst>
      <p:ext uri="{BB962C8B-B14F-4D97-AF65-F5344CB8AC3E}">
        <p14:creationId xmlns:p14="http://schemas.microsoft.com/office/powerpoint/2010/main" val="7002577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30873-5D35-F89B-F7D7-B41046AE8452}"/>
              </a:ext>
            </a:extLst>
          </p:cNvPr>
          <p:cNvSpPr>
            <a:spLocks noGrp="1"/>
          </p:cNvSpPr>
          <p:nvPr>
            <p:ph type="title"/>
          </p:nvPr>
        </p:nvSpPr>
        <p:spPr/>
        <p:txBody>
          <a:bodyPr/>
          <a:lstStyle/>
          <a:p>
            <a:r>
              <a:rPr lang="en-US" dirty="0"/>
              <a:t>Encrypt(m) – Standard Form.</a:t>
            </a:r>
          </a:p>
        </p:txBody>
      </p:sp>
      <p:sp>
        <p:nvSpPr>
          <p:cNvPr id="3" name="TextBox 2">
            <a:extLst>
              <a:ext uri="{FF2B5EF4-FFF2-40B4-BE49-F238E27FC236}">
                <a16:creationId xmlns:a16="http://schemas.microsoft.com/office/drawing/2014/main" id="{AC6F5BE2-3EF9-6481-3F01-0D3C3DC994BE}"/>
              </a:ext>
            </a:extLst>
          </p:cNvPr>
          <p:cNvSpPr txBox="1"/>
          <p:nvPr/>
        </p:nvSpPr>
        <p:spPr>
          <a:xfrm>
            <a:off x="914400" y="1385740"/>
            <a:ext cx="10689996" cy="3139321"/>
          </a:xfrm>
          <a:prstGeom prst="rect">
            <a:avLst/>
          </a:prstGeom>
          <a:noFill/>
        </p:spPr>
        <p:txBody>
          <a:bodyPr wrap="square" rtlCol="0">
            <a:spAutoFit/>
          </a:bodyPr>
          <a:lstStyle/>
          <a:p>
            <a:r>
              <a:rPr lang="en-US" dirty="0"/>
              <a:t>(m) = Swearingen Is  the name of our Engineering Building</a:t>
            </a:r>
          </a:p>
          <a:p>
            <a:r>
              <a:rPr lang="en-US" dirty="0"/>
              <a:t>Pass 1 we inject a space at each 5</a:t>
            </a:r>
            <a:r>
              <a:rPr lang="en-US" baseline="30000" dirty="0"/>
              <a:t>th</a:t>
            </a:r>
            <a:r>
              <a:rPr lang="en-US" dirty="0"/>
              <a:t> position</a:t>
            </a:r>
          </a:p>
          <a:p>
            <a:endParaRPr lang="en-US" dirty="0"/>
          </a:p>
          <a:p>
            <a:r>
              <a:rPr lang="en-US" dirty="0"/>
              <a:t>(Md1) = </a:t>
            </a:r>
            <a:r>
              <a:rPr lang="en-US" dirty="0" err="1"/>
              <a:t>Swea</a:t>
            </a:r>
            <a:r>
              <a:rPr lang="en-US" dirty="0"/>
              <a:t> ring </a:t>
            </a:r>
            <a:r>
              <a:rPr lang="en-US" dirty="0" err="1"/>
              <a:t>en</a:t>
            </a:r>
            <a:r>
              <a:rPr lang="en-US" dirty="0"/>
              <a:t> is the name of our </a:t>
            </a:r>
            <a:r>
              <a:rPr lang="en-US" dirty="0" err="1"/>
              <a:t>Engi</a:t>
            </a:r>
            <a:r>
              <a:rPr lang="en-US" dirty="0"/>
              <a:t> </a:t>
            </a:r>
            <a:r>
              <a:rPr lang="en-US" dirty="0" err="1"/>
              <a:t>neer</a:t>
            </a:r>
            <a:r>
              <a:rPr lang="en-US" dirty="0"/>
              <a:t> </a:t>
            </a:r>
            <a:r>
              <a:rPr lang="en-US" dirty="0" err="1"/>
              <a:t>ing</a:t>
            </a:r>
            <a:r>
              <a:rPr lang="en-US" dirty="0"/>
              <a:t> Buil ding  </a:t>
            </a:r>
          </a:p>
          <a:p>
            <a:r>
              <a:rPr lang="en-US" dirty="0"/>
              <a:t>	(We add a space to every5th position – could be tuned to 3, 4, 6, any value.</a:t>
            </a:r>
          </a:p>
          <a:p>
            <a:endParaRPr lang="en-US" dirty="0"/>
          </a:p>
          <a:p>
            <a:r>
              <a:rPr lang="en-US" dirty="0"/>
              <a:t>(Md2) = Md1 to ASCII</a:t>
            </a:r>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391992B-A24A-D947-634C-C07230F1A23B}"/>
              </a:ext>
            </a:extLst>
          </p:cNvPr>
          <p:cNvPicPr>
            <a:picLocks noChangeAspect="1"/>
          </p:cNvPicPr>
          <p:nvPr/>
        </p:nvPicPr>
        <p:blipFill>
          <a:blip r:embed="rId2"/>
          <a:stretch>
            <a:fillRect/>
          </a:stretch>
        </p:blipFill>
        <p:spPr>
          <a:xfrm>
            <a:off x="1814554" y="3428999"/>
            <a:ext cx="5734850" cy="1428949"/>
          </a:xfrm>
          <a:prstGeom prst="rect">
            <a:avLst/>
          </a:prstGeom>
        </p:spPr>
      </p:pic>
      <p:pic>
        <p:nvPicPr>
          <p:cNvPr id="8" name="Picture 7">
            <a:extLst>
              <a:ext uri="{FF2B5EF4-FFF2-40B4-BE49-F238E27FC236}">
                <a16:creationId xmlns:a16="http://schemas.microsoft.com/office/drawing/2014/main" id="{5C32C928-5A72-3EC1-0FA8-C5283DD6D004}"/>
              </a:ext>
            </a:extLst>
          </p:cNvPr>
          <p:cNvPicPr>
            <a:picLocks noChangeAspect="1"/>
          </p:cNvPicPr>
          <p:nvPr/>
        </p:nvPicPr>
        <p:blipFill>
          <a:blip r:embed="rId3"/>
          <a:stretch>
            <a:fillRect/>
          </a:stretch>
        </p:blipFill>
        <p:spPr>
          <a:xfrm>
            <a:off x="7273067" y="3428999"/>
            <a:ext cx="4239217" cy="1428949"/>
          </a:xfrm>
          <a:prstGeom prst="rect">
            <a:avLst/>
          </a:prstGeom>
        </p:spPr>
      </p:pic>
      <p:sp>
        <p:nvSpPr>
          <p:cNvPr id="9" name="TextBox 8">
            <a:extLst>
              <a:ext uri="{FF2B5EF4-FFF2-40B4-BE49-F238E27FC236}">
                <a16:creationId xmlns:a16="http://schemas.microsoft.com/office/drawing/2014/main" id="{9E5155F1-ED80-DBEA-5A92-46AB8B890797}"/>
              </a:ext>
            </a:extLst>
          </p:cNvPr>
          <p:cNvSpPr txBox="1"/>
          <p:nvPr/>
        </p:nvSpPr>
        <p:spPr>
          <a:xfrm>
            <a:off x="1102935" y="5043340"/>
            <a:ext cx="10869106" cy="646331"/>
          </a:xfrm>
          <a:prstGeom prst="rect">
            <a:avLst/>
          </a:prstGeom>
          <a:noFill/>
        </p:spPr>
        <p:txBody>
          <a:bodyPr wrap="square" rtlCol="0">
            <a:spAutoFit/>
          </a:bodyPr>
          <a:lstStyle/>
          <a:p>
            <a:r>
              <a:rPr lang="en-US" dirty="0"/>
              <a:t>(Md3) Final – Codes based on their position are remapped to the encryption matrix in Linear time. A simple loop from (</a:t>
            </a:r>
            <a:r>
              <a:rPr lang="en-US" dirty="0" err="1"/>
              <a:t>i</a:t>
            </a:r>
            <a:r>
              <a:rPr lang="en-US" dirty="0"/>
              <a:t> to 1460). This is two assembler instructions or perhaps 1 and requires no multiplication. O(n).</a:t>
            </a:r>
          </a:p>
        </p:txBody>
      </p:sp>
      <p:sp>
        <p:nvSpPr>
          <p:cNvPr id="10" name="TextBox 9">
            <a:extLst>
              <a:ext uri="{FF2B5EF4-FFF2-40B4-BE49-F238E27FC236}">
                <a16:creationId xmlns:a16="http://schemas.microsoft.com/office/drawing/2014/main" id="{E0D433EF-B636-94F4-E683-92015D5D67EB}"/>
              </a:ext>
            </a:extLst>
          </p:cNvPr>
          <p:cNvSpPr txBox="1"/>
          <p:nvPr/>
        </p:nvSpPr>
        <p:spPr>
          <a:xfrm>
            <a:off x="1442301" y="5844619"/>
            <a:ext cx="5599522" cy="923330"/>
          </a:xfrm>
          <a:prstGeom prst="rect">
            <a:avLst/>
          </a:prstGeom>
          <a:noFill/>
        </p:spPr>
        <p:txBody>
          <a:bodyPr wrap="square" rtlCol="0">
            <a:spAutoFit/>
          </a:bodyPr>
          <a:lstStyle/>
          <a:p>
            <a:r>
              <a:rPr lang="en-US" dirty="0" err="1"/>
              <a:t>Eg</a:t>
            </a:r>
            <a:r>
              <a:rPr lang="en-US" dirty="0"/>
              <a:t> 83 -&gt; Key{0, 96+83}</a:t>
            </a:r>
          </a:p>
          <a:p>
            <a:r>
              <a:rPr lang="en-US" dirty="0" err="1"/>
              <a:t>Eg</a:t>
            </a:r>
            <a:r>
              <a:rPr lang="en-US" dirty="0"/>
              <a:t> 119 -&gt; Key(1, 96+119+MOY) = Key1</a:t>
            </a:r>
          </a:p>
          <a:p>
            <a:r>
              <a:rPr lang="en-US" dirty="0"/>
              <a:t>Ed 101 -&gt; Key(2, Key1 + DOM) = Key2</a:t>
            </a:r>
          </a:p>
        </p:txBody>
      </p:sp>
      <p:sp>
        <p:nvSpPr>
          <p:cNvPr id="11" name="TextBox 10">
            <a:extLst>
              <a:ext uri="{FF2B5EF4-FFF2-40B4-BE49-F238E27FC236}">
                <a16:creationId xmlns:a16="http://schemas.microsoft.com/office/drawing/2014/main" id="{32730C1D-E794-40D1-074F-1EA15559641A}"/>
              </a:ext>
            </a:extLst>
          </p:cNvPr>
          <p:cNvSpPr txBox="1"/>
          <p:nvPr/>
        </p:nvSpPr>
        <p:spPr>
          <a:xfrm>
            <a:off x="6096000" y="6033155"/>
            <a:ext cx="5599522" cy="646331"/>
          </a:xfrm>
          <a:prstGeom prst="rect">
            <a:avLst/>
          </a:prstGeom>
          <a:noFill/>
        </p:spPr>
        <p:txBody>
          <a:bodyPr wrap="square" rtlCol="0">
            <a:spAutoFit/>
          </a:bodyPr>
          <a:lstStyle/>
          <a:p>
            <a:r>
              <a:rPr lang="en-US" dirty="0">
                <a:solidFill>
                  <a:srgbClr val="FF0000"/>
                </a:solidFill>
              </a:rPr>
              <a:t>This is matrix shifted algorithm similar to the Enigma or Vigenère's Array of </a:t>
            </a:r>
            <a:r>
              <a:rPr lang="en-US" dirty="0" err="1">
                <a:solidFill>
                  <a:srgbClr val="FF0000"/>
                </a:solidFill>
              </a:rPr>
              <a:t>Subsitutions</a:t>
            </a:r>
            <a:r>
              <a:rPr lang="en-US" dirty="0">
                <a:solidFill>
                  <a:srgbClr val="FF0000"/>
                </a:solidFill>
              </a:rPr>
              <a:t> Model.</a:t>
            </a:r>
          </a:p>
        </p:txBody>
      </p:sp>
    </p:spTree>
    <p:extLst>
      <p:ext uri="{BB962C8B-B14F-4D97-AF65-F5344CB8AC3E}">
        <p14:creationId xmlns:p14="http://schemas.microsoft.com/office/powerpoint/2010/main" val="2937742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30873-5D35-F89B-F7D7-B41046AE8452}"/>
              </a:ext>
            </a:extLst>
          </p:cNvPr>
          <p:cNvSpPr>
            <a:spLocks noGrp="1"/>
          </p:cNvSpPr>
          <p:nvPr>
            <p:ph type="title"/>
          </p:nvPr>
        </p:nvSpPr>
        <p:spPr/>
        <p:txBody>
          <a:bodyPr/>
          <a:lstStyle/>
          <a:p>
            <a:r>
              <a:rPr lang="en-US" dirty="0"/>
              <a:t>Encrypt(m) – Advanced Form</a:t>
            </a:r>
          </a:p>
        </p:txBody>
      </p:sp>
      <p:sp>
        <p:nvSpPr>
          <p:cNvPr id="3" name="TextBox 2">
            <a:extLst>
              <a:ext uri="{FF2B5EF4-FFF2-40B4-BE49-F238E27FC236}">
                <a16:creationId xmlns:a16="http://schemas.microsoft.com/office/drawing/2014/main" id="{AC6F5BE2-3EF9-6481-3F01-0D3C3DC994BE}"/>
              </a:ext>
            </a:extLst>
          </p:cNvPr>
          <p:cNvSpPr txBox="1"/>
          <p:nvPr/>
        </p:nvSpPr>
        <p:spPr>
          <a:xfrm>
            <a:off x="914400" y="1385740"/>
            <a:ext cx="10689996" cy="3139321"/>
          </a:xfrm>
          <a:prstGeom prst="rect">
            <a:avLst/>
          </a:prstGeom>
          <a:noFill/>
        </p:spPr>
        <p:txBody>
          <a:bodyPr wrap="square" rtlCol="0">
            <a:spAutoFit/>
          </a:bodyPr>
          <a:lstStyle/>
          <a:p>
            <a:r>
              <a:rPr lang="en-US" dirty="0"/>
              <a:t>(m) = Swearingen Is  the name of our Engineering Building</a:t>
            </a:r>
          </a:p>
          <a:p>
            <a:r>
              <a:rPr lang="en-US" dirty="0"/>
              <a:t>Pass 1 we inject a space at each 5</a:t>
            </a:r>
            <a:r>
              <a:rPr lang="en-US" baseline="30000" dirty="0"/>
              <a:t>th</a:t>
            </a:r>
            <a:r>
              <a:rPr lang="en-US" dirty="0"/>
              <a:t> position</a:t>
            </a:r>
          </a:p>
          <a:p>
            <a:endParaRPr lang="en-US" dirty="0"/>
          </a:p>
          <a:p>
            <a:r>
              <a:rPr lang="en-US" dirty="0"/>
              <a:t>(Md1) = </a:t>
            </a:r>
            <a:r>
              <a:rPr lang="en-US" dirty="0" err="1"/>
              <a:t>Swea</a:t>
            </a:r>
            <a:r>
              <a:rPr lang="en-US" dirty="0"/>
              <a:t> ring </a:t>
            </a:r>
            <a:r>
              <a:rPr lang="en-US" dirty="0" err="1"/>
              <a:t>en</a:t>
            </a:r>
            <a:r>
              <a:rPr lang="en-US" dirty="0"/>
              <a:t> is the name of our </a:t>
            </a:r>
            <a:r>
              <a:rPr lang="en-US" dirty="0" err="1"/>
              <a:t>Engi</a:t>
            </a:r>
            <a:r>
              <a:rPr lang="en-US" dirty="0"/>
              <a:t> </a:t>
            </a:r>
            <a:r>
              <a:rPr lang="en-US" dirty="0" err="1"/>
              <a:t>neer</a:t>
            </a:r>
            <a:r>
              <a:rPr lang="en-US" dirty="0"/>
              <a:t> </a:t>
            </a:r>
            <a:r>
              <a:rPr lang="en-US" dirty="0" err="1"/>
              <a:t>ing</a:t>
            </a:r>
            <a:r>
              <a:rPr lang="en-US" dirty="0"/>
              <a:t> Buil ding  </a:t>
            </a:r>
          </a:p>
          <a:p>
            <a:r>
              <a:rPr lang="en-US" dirty="0"/>
              <a:t>	(We add a space to every5th position – could be tuned to 3, 4, 6, any value.</a:t>
            </a:r>
          </a:p>
          <a:p>
            <a:endParaRPr lang="en-US" dirty="0"/>
          </a:p>
          <a:p>
            <a:r>
              <a:rPr lang="en-US" dirty="0"/>
              <a:t>(Md2) = Md1 to ASCII</a:t>
            </a:r>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391992B-A24A-D947-634C-C07230F1A23B}"/>
              </a:ext>
            </a:extLst>
          </p:cNvPr>
          <p:cNvPicPr>
            <a:picLocks noChangeAspect="1"/>
          </p:cNvPicPr>
          <p:nvPr/>
        </p:nvPicPr>
        <p:blipFill>
          <a:blip r:embed="rId2"/>
          <a:stretch>
            <a:fillRect/>
          </a:stretch>
        </p:blipFill>
        <p:spPr>
          <a:xfrm>
            <a:off x="1814554" y="3428999"/>
            <a:ext cx="5734850" cy="1428949"/>
          </a:xfrm>
          <a:prstGeom prst="rect">
            <a:avLst/>
          </a:prstGeom>
        </p:spPr>
      </p:pic>
      <p:pic>
        <p:nvPicPr>
          <p:cNvPr id="8" name="Picture 7">
            <a:extLst>
              <a:ext uri="{FF2B5EF4-FFF2-40B4-BE49-F238E27FC236}">
                <a16:creationId xmlns:a16="http://schemas.microsoft.com/office/drawing/2014/main" id="{5C32C928-5A72-3EC1-0FA8-C5283DD6D004}"/>
              </a:ext>
            </a:extLst>
          </p:cNvPr>
          <p:cNvPicPr>
            <a:picLocks noChangeAspect="1"/>
          </p:cNvPicPr>
          <p:nvPr/>
        </p:nvPicPr>
        <p:blipFill>
          <a:blip r:embed="rId3"/>
          <a:stretch>
            <a:fillRect/>
          </a:stretch>
        </p:blipFill>
        <p:spPr>
          <a:xfrm>
            <a:off x="7273067" y="3428999"/>
            <a:ext cx="4239217" cy="1428949"/>
          </a:xfrm>
          <a:prstGeom prst="rect">
            <a:avLst/>
          </a:prstGeom>
        </p:spPr>
      </p:pic>
      <p:sp>
        <p:nvSpPr>
          <p:cNvPr id="9" name="TextBox 8">
            <a:extLst>
              <a:ext uri="{FF2B5EF4-FFF2-40B4-BE49-F238E27FC236}">
                <a16:creationId xmlns:a16="http://schemas.microsoft.com/office/drawing/2014/main" id="{9E5155F1-ED80-DBEA-5A92-46AB8B890797}"/>
              </a:ext>
            </a:extLst>
          </p:cNvPr>
          <p:cNvSpPr txBox="1"/>
          <p:nvPr/>
        </p:nvSpPr>
        <p:spPr>
          <a:xfrm>
            <a:off x="1102935" y="5043340"/>
            <a:ext cx="10869106" cy="646331"/>
          </a:xfrm>
          <a:prstGeom prst="rect">
            <a:avLst/>
          </a:prstGeom>
          <a:noFill/>
        </p:spPr>
        <p:txBody>
          <a:bodyPr wrap="square" rtlCol="0">
            <a:spAutoFit/>
          </a:bodyPr>
          <a:lstStyle/>
          <a:p>
            <a:r>
              <a:rPr lang="en-US" dirty="0"/>
              <a:t>(Md3) Final – Codes based on their position are remapped to the encryption matrix in Linear time. A simple loop from (</a:t>
            </a:r>
            <a:r>
              <a:rPr lang="en-US" dirty="0" err="1"/>
              <a:t>i</a:t>
            </a:r>
            <a:r>
              <a:rPr lang="en-US" dirty="0"/>
              <a:t> to 1460). This is two assembler instructions or perhaps 1 and requires no multiplication. O(n).</a:t>
            </a:r>
          </a:p>
        </p:txBody>
      </p:sp>
      <p:sp>
        <p:nvSpPr>
          <p:cNvPr id="10" name="TextBox 9">
            <a:extLst>
              <a:ext uri="{FF2B5EF4-FFF2-40B4-BE49-F238E27FC236}">
                <a16:creationId xmlns:a16="http://schemas.microsoft.com/office/drawing/2014/main" id="{E0D433EF-B636-94F4-E683-92015D5D67EB}"/>
              </a:ext>
            </a:extLst>
          </p:cNvPr>
          <p:cNvSpPr txBox="1"/>
          <p:nvPr/>
        </p:nvSpPr>
        <p:spPr>
          <a:xfrm>
            <a:off x="1442301" y="5844619"/>
            <a:ext cx="5599522" cy="923330"/>
          </a:xfrm>
          <a:prstGeom prst="rect">
            <a:avLst/>
          </a:prstGeom>
          <a:noFill/>
        </p:spPr>
        <p:txBody>
          <a:bodyPr wrap="square" rtlCol="0">
            <a:spAutoFit/>
          </a:bodyPr>
          <a:lstStyle/>
          <a:p>
            <a:r>
              <a:rPr lang="en-US" dirty="0" err="1"/>
              <a:t>Eg</a:t>
            </a:r>
            <a:r>
              <a:rPr lang="en-US" dirty="0"/>
              <a:t> 83 -&gt; Key{0, AO{83}</a:t>
            </a:r>
          </a:p>
          <a:p>
            <a:r>
              <a:rPr lang="en-US" dirty="0" err="1"/>
              <a:t>Eg</a:t>
            </a:r>
            <a:r>
              <a:rPr lang="en-US" dirty="0"/>
              <a:t> 119 -&gt; Key(1, A0{119) </a:t>
            </a:r>
          </a:p>
          <a:p>
            <a:r>
              <a:rPr lang="en-US" dirty="0"/>
              <a:t>Ed 101 -&gt; Key(2, A2{101))</a:t>
            </a:r>
          </a:p>
        </p:txBody>
      </p:sp>
      <p:sp>
        <p:nvSpPr>
          <p:cNvPr id="4" name="TextBox 3">
            <a:extLst>
              <a:ext uri="{FF2B5EF4-FFF2-40B4-BE49-F238E27FC236}">
                <a16:creationId xmlns:a16="http://schemas.microsoft.com/office/drawing/2014/main" id="{3BC7F135-EED3-5BA6-F7DA-868C5227A7ED}"/>
              </a:ext>
            </a:extLst>
          </p:cNvPr>
          <p:cNvSpPr txBox="1"/>
          <p:nvPr/>
        </p:nvSpPr>
        <p:spPr>
          <a:xfrm>
            <a:off x="4534293" y="5844619"/>
            <a:ext cx="6740165" cy="923330"/>
          </a:xfrm>
          <a:prstGeom prst="rect">
            <a:avLst/>
          </a:prstGeom>
          <a:noFill/>
        </p:spPr>
        <p:txBody>
          <a:bodyPr wrap="square" rtlCol="0">
            <a:spAutoFit/>
          </a:bodyPr>
          <a:lstStyle/>
          <a:p>
            <a:r>
              <a:rPr lang="en-US" dirty="0"/>
              <a:t>In this model the N arrays of 8bit values are sent over the wire. There is no shift. Just an array of binary values. This is a random 8 bit code block.</a:t>
            </a:r>
          </a:p>
        </p:txBody>
      </p:sp>
    </p:spTree>
    <p:extLst>
      <p:ext uri="{BB962C8B-B14F-4D97-AF65-F5344CB8AC3E}">
        <p14:creationId xmlns:p14="http://schemas.microsoft.com/office/powerpoint/2010/main" val="12395030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BB634-317B-7598-D356-C0952AC46D2F}"/>
              </a:ext>
            </a:extLst>
          </p:cNvPr>
          <p:cNvSpPr>
            <a:spLocks noGrp="1"/>
          </p:cNvSpPr>
          <p:nvPr>
            <p:ph type="title"/>
          </p:nvPr>
        </p:nvSpPr>
        <p:spPr>
          <a:xfrm>
            <a:off x="603315" y="365125"/>
            <a:ext cx="11434713" cy="1325563"/>
          </a:xfrm>
        </p:spPr>
        <p:txBody>
          <a:bodyPr>
            <a:normAutofit/>
          </a:bodyPr>
          <a:lstStyle/>
          <a:p>
            <a:r>
              <a:rPr lang="en-US" sz="2400" dirty="0" err="1"/>
              <a:t>Engima</a:t>
            </a:r>
            <a:r>
              <a:rPr lang="en-US" sz="2400" dirty="0"/>
              <a:t> (A Four Wheeled Device)</a:t>
            </a:r>
          </a:p>
        </p:txBody>
      </p:sp>
      <p:pic>
        <p:nvPicPr>
          <p:cNvPr id="3" name="Picture 2">
            <a:extLst>
              <a:ext uri="{FF2B5EF4-FFF2-40B4-BE49-F238E27FC236}">
                <a16:creationId xmlns:a16="http://schemas.microsoft.com/office/drawing/2014/main" id="{3F3F6168-4D8D-55BB-C31C-46A1FBD9244C}"/>
              </a:ext>
            </a:extLst>
          </p:cNvPr>
          <p:cNvPicPr>
            <a:picLocks noChangeAspect="1"/>
          </p:cNvPicPr>
          <p:nvPr/>
        </p:nvPicPr>
        <p:blipFill>
          <a:blip r:embed="rId2"/>
          <a:stretch>
            <a:fillRect/>
          </a:stretch>
        </p:blipFill>
        <p:spPr>
          <a:xfrm>
            <a:off x="1247775" y="1440680"/>
            <a:ext cx="2381250" cy="2113225"/>
          </a:xfrm>
          <a:prstGeom prst="rect">
            <a:avLst/>
          </a:prstGeom>
        </p:spPr>
      </p:pic>
      <p:sp>
        <p:nvSpPr>
          <p:cNvPr id="4" name="TextBox 3">
            <a:extLst>
              <a:ext uri="{FF2B5EF4-FFF2-40B4-BE49-F238E27FC236}">
                <a16:creationId xmlns:a16="http://schemas.microsoft.com/office/drawing/2014/main" id="{01FC337B-6FF8-20A9-173C-76FD0CCD6CA9}"/>
              </a:ext>
            </a:extLst>
          </p:cNvPr>
          <p:cNvSpPr txBox="1"/>
          <p:nvPr/>
        </p:nvSpPr>
        <p:spPr>
          <a:xfrm>
            <a:off x="245097" y="3770722"/>
            <a:ext cx="10020692" cy="2862322"/>
          </a:xfrm>
          <a:prstGeom prst="rect">
            <a:avLst/>
          </a:prstGeom>
          <a:noFill/>
        </p:spPr>
        <p:txBody>
          <a:bodyPr wrap="square" rtlCol="0">
            <a:spAutoFit/>
          </a:bodyPr>
          <a:lstStyle/>
          <a:p>
            <a:r>
              <a:rPr lang="en-US" dirty="0"/>
              <a:t>The Arrays of Text We have built in Memory Are More Secure than Enigma Machine which used only 26 Latin Letters. But had 26exp4 permutations possible.</a:t>
            </a:r>
          </a:p>
          <a:p>
            <a:endParaRPr lang="en-US" dirty="0"/>
          </a:p>
          <a:p>
            <a:r>
              <a:rPr lang="en-US" dirty="0"/>
              <a:t>We are using (N) number of keys with 5 being the base on 8bit codes which are 256exp5 permutations. 10x larger than the original.</a:t>
            </a:r>
          </a:p>
          <a:p>
            <a:endParaRPr lang="en-US" dirty="0"/>
          </a:p>
          <a:p>
            <a:r>
              <a:rPr lang="en-US" dirty="0" err="1"/>
              <a:t>Whats</a:t>
            </a:r>
            <a:r>
              <a:rPr lang="en-US" dirty="0"/>
              <a:t> different? (1) our first pass, breaks words into smaller sub-words. (2) </a:t>
            </a:r>
            <a:r>
              <a:rPr lang="en-US" dirty="0" err="1"/>
              <a:t>CockyCiphers</a:t>
            </a:r>
            <a:r>
              <a:rPr lang="en-US" dirty="0"/>
              <a:t> can be modified per stream making encryption all but impossible except for Nation States. (3) Advanced Versions using 16bit or 32bit multiplicators (4) Possible to scramble all five arrays randomly per stream using Network Streams from REST Bootstrap Making the Cipher a Matrix Cipher.</a:t>
            </a:r>
          </a:p>
        </p:txBody>
      </p:sp>
      <p:sp>
        <p:nvSpPr>
          <p:cNvPr id="6" name="TextBox 5">
            <a:extLst>
              <a:ext uri="{FF2B5EF4-FFF2-40B4-BE49-F238E27FC236}">
                <a16:creationId xmlns:a16="http://schemas.microsoft.com/office/drawing/2014/main" id="{D8A4C8C7-C683-6869-D195-556BA47BD054}"/>
              </a:ext>
            </a:extLst>
          </p:cNvPr>
          <p:cNvSpPr txBox="1"/>
          <p:nvPr/>
        </p:nvSpPr>
        <p:spPr>
          <a:xfrm>
            <a:off x="4642407" y="1538173"/>
            <a:ext cx="6094428" cy="369332"/>
          </a:xfrm>
          <a:prstGeom prst="rect">
            <a:avLst/>
          </a:prstGeom>
          <a:noFill/>
        </p:spPr>
        <p:txBody>
          <a:bodyPr wrap="square">
            <a:spAutoFit/>
          </a:bodyPr>
          <a:lstStyle/>
          <a:p>
            <a:r>
              <a:rPr lang="en-US" dirty="0"/>
              <a:t>https://en.wikipedia.org/wiki/Enigma_machine</a:t>
            </a:r>
          </a:p>
        </p:txBody>
      </p:sp>
      <p:pic>
        <p:nvPicPr>
          <p:cNvPr id="7" name="Picture 6">
            <a:extLst>
              <a:ext uri="{FF2B5EF4-FFF2-40B4-BE49-F238E27FC236}">
                <a16:creationId xmlns:a16="http://schemas.microsoft.com/office/drawing/2014/main" id="{93086206-BC86-DC41-3D47-5591B5FF2804}"/>
              </a:ext>
            </a:extLst>
          </p:cNvPr>
          <p:cNvPicPr>
            <a:picLocks noChangeAspect="1"/>
          </p:cNvPicPr>
          <p:nvPr/>
        </p:nvPicPr>
        <p:blipFill>
          <a:blip r:embed="rId3"/>
          <a:stretch>
            <a:fillRect/>
          </a:stretch>
        </p:blipFill>
        <p:spPr>
          <a:xfrm>
            <a:off x="5181245" y="2255176"/>
            <a:ext cx="6094428" cy="951058"/>
          </a:xfrm>
          <a:prstGeom prst="rect">
            <a:avLst/>
          </a:prstGeom>
        </p:spPr>
      </p:pic>
    </p:spTree>
    <p:extLst>
      <p:ext uri="{BB962C8B-B14F-4D97-AF65-F5344CB8AC3E}">
        <p14:creationId xmlns:p14="http://schemas.microsoft.com/office/powerpoint/2010/main" val="38196852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D1F17-B2FC-94E2-06F3-FC0E1B673BED}"/>
              </a:ext>
            </a:extLst>
          </p:cNvPr>
          <p:cNvSpPr>
            <a:spLocks noGrp="1"/>
          </p:cNvSpPr>
          <p:nvPr>
            <p:ph type="title"/>
          </p:nvPr>
        </p:nvSpPr>
        <p:spPr/>
        <p:txBody>
          <a:bodyPr/>
          <a:lstStyle/>
          <a:p>
            <a:r>
              <a:rPr lang="en-US" dirty="0"/>
              <a:t>Classifying Our Algorithm?</a:t>
            </a:r>
          </a:p>
        </p:txBody>
      </p:sp>
      <p:sp>
        <p:nvSpPr>
          <p:cNvPr id="3" name="TextBox 2">
            <a:extLst>
              <a:ext uri="{FF2B5EF4-FFF2-40B4-BE49-F238E27FC236}">
                <a16:creationId xmlns:a16="http://schemas.microsoft.com/office/drawing/2014/main" id="{2E7A1B6A-3588-B191-2357-56C6BA35C1ED}"/>
              </a:ext>
            </a:extLst>
          </p:cNvPr>
          <p:cNvSpPr txBox="1"/>
          <p:nvPr/>
        </p:nvSpPr>
        <p:spPr>
          <a:xfrm>
            <a:off x="754143" y="1894788"/>
            <a:ext cx="11170763" cy="2862322"/>
          </a:xfrm>
          <a:prstGeom prst="rect">
            <a:avLst/>
          </a:prstGeom>
          <a:noFill/>
        </p:spPr>
        <p:txBody>
          <a:bodyPr wrap="square" rtlCol="0">
            <a:spAutoFit/>
          </a:bodyPr>
          <a:lstStyle/>
          <a:p>
            <a:pPr marL="342900" indent="-342900">
              <a:buAutoNum type="arabicParenR"/>
            </a:pPr>
            <a:r>
              <a:rPr lang="en-US" dirty="0"/>
              <a:t>Substitution Cipher -&gt; Fixed Shift. (Letters – 1 Permutation)</a:t>
            </a:r>
          </a:p>
          <a:p>
            <a:pPr marL="342900" indent="-342900">
              <a:buAutoNum type="arabicParenR"/>
            </a:pPr>
            <a:r>
              <a:rPr lang="en-US" dirty="0"/>
              <a:t>Substitution Cipher -&gt; Random Shifts -&gt; Monoalphabetic Substitution Cipher-&gt; CG Melon (26! -1)</a:t>
            </a:r>
          </a:p>
          <a:p>
            <a:pPr marL="342900" indent="-342900">
              <a:buAutoNum type="arabicParenR"/>
            </a:pPr>
            <a:r>
              <a:rPr lang="en-US" dirty="0"/>
              <a:t>Substitution Cipher -&gt; Adv Random Shifts -&gt; ASCII Based Substitution Cipher -&gt; (256! -1) [IE JUST ASCII]</a:t>
            </a:r>
          </a:p>
          <a:p>
            <a:pPr marL="342900" indent="-342900">
              <a:buAutoNum type="arabicParenR"/>
            </a:pPr>
            <a:r>
              <a:rPr lang="en-US" dirty="0"/>
              <a:t>Array Block Cipher -&gt;  Binary Matrix Variant – </a:t>
            </a:r>
            <a:r>
              <a:rPr lang="en-US" dirty="0" err="1"/>
              <a:t>VignereCipher</a:t>
            </a:r>
            <a:r>
              <a:rPr lang="en-US" dirty="0"/>
              <a:t>+ -&gt; Array Substitution Cipher (256!) exp 5.</a:t>
            </a:r>
          </a:p>
          <a:p>
            <a:pPr marL="342900" indent="-342900">
              <a:buAutoNum type="arabicParenR"/>
            </a:pPr>
            <a:r>
              <a:rPr lang="en-US" dirty="0"/>
              <a:t>Enigma Radial Cipher -&gt; 4 Wheel Encoding Machine -&gt; Array Substitution Cipher(26!) exp 4. </a:t>
            </a:r>
          </a:p>
          <a:p>
            <a:pPr marL="342900" indent="-342900">
              <a:buAutoNum type="arabicParenR"/>
            </a:pPr>
            <a:endParaRPr lang="en-US" dirty="0"/>
          </a:p>
          <a:p>
            <a:pPr marL="342900" indent="-342900">
              <a:buAutoNum type="arabicParenR"/>
            </a:pPr>
            <a:endParaRPr lang="en-US" dirty="0"/>
          </a:p>
          <a:p>
            <a:r>
              <a:rPr lang="en-US" dirty="0"/>
              <a:t>The Vigenère cipher had a starting single key. Our has 5 that include day mutators.</a:t>
            </a:r>
          </a:p>
          <a:p>
            <a:r>
              <a:rPr lang="en-US" dirty="0"/>
              <a:t>The Vigenère cipher used 26 characters, were are using ASCII shifted values with 256 values.</a:t>
            </a:r>
          </a:p>
          <a:p>
            <a:endParaRPr lang="en-US" dirty="0"/>
          </a:p>
        </p:txBody>
      </p:sp>
    </p:spTree>
    <p:extLst>
      <p:ext uri="{BB962C8B-B14F-4D97-AF65-F5344CB8AC3E}">
        <p14:creationId xmlns:p14="http://schemas.microsoft.com/office/powerpoint/2010/main" val="23372176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B2D41-57B4-393B-A58F-7934A0F90220}"/>
              </a:ext>
            </a:extLst>
          </p:cNvPr>
          <p:cNvSpPr>
            <a:spLocks noGrp="1"/>
          </p:cNvSpPr>
          <p:nvPr>
            <p:ph type="title"/>
          </p:nvPr>
        </p:nvSpPr>
        <p:spPr/>
        <p:txBody>
          <a:bodyPr/>
          <a:lstStyle/>
          <a:p>
            <a:r>
              <a:rPr lang="en-US" dirty="0"/>
              <a:t>Cocky Cipher Suite</a:t>
            </a:r>
          </a:p>
        </p:txBody>
      </p:sp>
      <p:sp>
        <p:nvSpPr>
          <p:cNvPr id="3" name="TextBox 2">
            <a:extLst>
              <a:ext uri="{FF2B5EF4-FFF2-40B4-BE49-F238E27FC236}">
                <a16:creationId xmlns:a16="http://schemas.microsoft.com/office/drawing/2014/main" id="{C0D8636D-6155-62AD-114C-307D0134F9E4}"/>
              </a:ext>
            </a:extLst>
          </p:cNvPr>
          <p:cNvSpPr txBox="1"/>
          <p:nvPr/>
        </p:nvSpPr>
        <p:spPr>
          <a:xfrm>
            <a:off x="942680" y="1781666"/>
            <a:ext cx="10515600" cy="3139321"/>
          </a:xfrm>
          <a:prstGeom prst="rect">
            <a:avLst/>
          </a:prstGeom>
          <a:noFill/>
        </p:spPr>
        <p:txBody>
          <a:bodyPr wrap="square" rtlCol="0">
            <a:spAutoFit/>
          </a:bodyPr>
          <a:lstStyle/>
          <a:p>
            <a:r>
              <a:rPr lang="en-US" dirty="0"/>
              <a:t>Any Cipher we can code that can provide PCI, and HIPAA Compliance.</a:t>
            </a:r>
          </a:p>
          <a:p>
            <a:r>
              <a:rPr lang="en-US" dirty="0"/>
              <a:t>This is essentially a requirement to eliminate all observable customer information for payments or otherwise on disk and in transit. That’s more than a discussion of SSL technology.</a:t>
            </a:r>
          </a:p>
          <a:p>
            <a:endParaRPr lang="en-US" dirty="0"/>
          </a:p>
          <a:p>
            <a:r>
              <a:rPr lang="en-US" dirty="0"/>
              <a:t>Caesar-3, Caesar-7, AES, 3DES, </a:t>
            </a:r>
            <a:r>
              <a:rPr lang="en-US" dirty="0" err="1"/>
              <a:t>CockyDefault</a:t>
            </a:r>
            <a:r>
              <a:rPr lang="en-US" dirty="0"/>
              <a:t>, CockyDef2(Over Network Scrambled), and </a:t>
            </a:r>
            <a:r>
              <a:rPr lang="en-US" dirty="0" err="1"/>
              <a:t>CockyExtreme</a:t>
            </a:r>
            <a:r>
              <a:rPr lang="en-US" dirty="0"/>
              <a:t>(Stream) which goes to 16bit codes are what I am planning to support client to server.</a:t>
            </a:r>
          </a:p>
          <a:p>
            <a:endParaRPr lang="en-US" dirty="0"/>
          </a:p>
          <a:p>
            <a:r>
              <a:rPr lang="en-US" dirty="0"/>
              <a:t>To support a suite of Ciphers from client to server:</a:t>
            </a:r>
          </a:p>
          <a:p>
            <a:pPr marL="342900" indent="-342900">
              <a:buAutoNum type="alphaLcParenR"/>
            </a:pPr>
            <a:r>
              <a:rPr lang="en-US" dirty="0"/>
              <a:t>Must have a Bootstrap API</a:t>
            </a:r>
          </a:p>
          <a:p>
            <a:pPr marL="342900" indent="-342900">
              <a:buAutoNum type="alphaLcParenR"/>
            </a:pPr>
            <a:r>
              <a:rPr lang="en-US" dirty="0"/>
              <a:t>Must have an Auth API</a:t>
            </a:r>
          </a:p>
          <a:p>
            <a:pPr marL="342900" indent="-342900">
              <a:buAutoNum type="alphaLcParenR"/>
            </a:pPr>
            <a:r>
              <a:rPr lang="en-US" dirty="0"/>
              <a:t>Must have a Time API to verify for thick clients and servers they have </a:t>
            </a:r>
            <a:r>
              <a:rPr lang="en-US" dirty="0" err="1"/>
              <a:t>ntp</a:t>
            </a:r>
            <a:r>
              <a:rPr lang="en-US" dirty="0"/>
              <a:t> enabled and working.</a:t>
            </a:r>
          </a:p>
        </p:txBody>
      </p:sp>
    </p:spTree>
    <p:extLst>
      <p:ext uri="{BB962C8B-B14F-4D97-AF65-F5344CB8AC3E}">
        <p14:creationId xmlns:p14="http://schemas.microsoft.com/office/powerpoint/2010/main" val="12376663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913A2-865D-7D89-15D7-40313F950D30}"/>
              </a:ext>
            </a:extLst>
          </p:cNvPr>
          <p:cNvSpPr>
            <a:spLocks noGrp="1"/>
          </p:cNvSpPr>
          <p:nvPr>
            <p:ph type="title"/>
          </p:nvPr>
        </p:nvSpPr>
        <p:spPr>
          <a:xfrm>
            <a:off x="424206" y="365125"/>
            <a:ext cx="11767794" cy="1325563"/>
          </a:xfrm>
        </p:spPr>
        <p:txBody>
          <a:bodyPr/>
          <a:lstStyle/>
          <a:p>
            <a:r>
              <a:rPr lang="en-US" dirty="0"/>
              <a:t>The End Goal… Clients Running Cocky Analytics Securely…. And Storage Areas Encrypted</a:t>
            </a:r>
          </a:p>
        </p:txBody>
      </p:sp>
      <p:pic>
        <p:nvPicPr>
          <p:cNvPr id="6" name="Picture 5">
            <a:extLst>
              <a:ext uri="{FF2B5EF4-FFF2-40B4-BE49-F238E27FC236}">
                <a16:creationId xmlns:a16="http://schemas.microsoft.com/office/drawing/2014/main" id="{725390B8-1C0F-6AA4-2B1F-0C328B50176A}"/>
              </a:ext>
            </a:extLst>
          </p:cNvPr>
          <p:cNvPicPr>
            <a:picLocks noChangeAspect="1"/>
          </p:cNvPicPr>
          <p:nvPr/>
        </p:nvPicPr>
        <p:blipFill>
          <a:blip r:embed="rId2"/>
          <a:stretch>
            <a:fillRect/>
          </a:stretch>
        </p:blipFill>
        <p:spPr>
          <a:xfrm>
            <a:off x="801279" y="1941920"/>
            <a:ext cx="9285402" cy="4674753"/>
          </a:xfrm>
          <a:prstGeom prst="rect">
            <a:avLst/>
          </a:prstGeom>
        </p:spPr>
      </p:pic>
    </p:spTree>
    <p:extLst>
      <p:ext uri="{BB962C8B-B14F-4D97-AF65-F5344CB8AC3E}">
        <p14:creationId xmlns:p14="http://schemas.microsoft.com/office/powerpoint/2010/main" val="116844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4E1F9-8DFF-5696-1D38-959C3AA7C699}"/>
              </a:ext>
            </a:extLst>
          </p:cNvPr>
          <p:cNvSpPr>
            <a:spLocks noGrp="1"/>
          </p:cNvSpPr>
          <p:nvPr>
            <p:ph type="title"/>
          </p:nvPr>
        </p:nvSpPr>
        <p:spPr/>
        <p:txBody>
          <a:bodyPr/>
          <a:lstStyle/>
          <a:p>
            <a:r>
              <a:rPr lang="en-US" dirty="0"/>
              <a:t>And All PCI Data Masked</a:t>
            </a:r>
          </a:p>
        </p:txBody>
      </p:sp>
      <p:pic>
        <p:nvPicPr>
          <p:cNvPr id="4" name="Picture 3">
            <a:extLst>
              <a:ext uri="{FF2B5EF4-FFF2-40B4-BE49-F238E27FC236}">
                <a16:creationId xmlns:a16="http://schemas.microsoft.com/office/drawing/2014/main" id="{2A90E6D3-4FCB-83E5-E437-8F4D56D70452}"/>
              </a:ext>
            </a:extLst>
          </p:cNvPr>
          <p:cNvPicPr>
            <a:picLocks noChangeAspect="1"/>
          </p:cNvPicPr>
          <p:nvPr/>
        </p:nvPicPr>
        <p:blipFill>
          <a:blip r:embed="rId2"/>
          <a:stretch>
            <a:fillRect/>
          </a:stretch>
        </p:blipFill>
        <p:spPr>
          <a:xfrm>
            <a:off x="697583" y="1690689"/>
            <a:ext cx="9068586" cy="2089459"/>
          </a:xfrm>
          <a:prstGeom prst="rect">
            <a:avLst/>
          </a:prstGeom>
        </p:spPr>
      </p:pic>
      <p:cxnSp>
        <p:nvCxnSpPr>
          <p:cNvPr id="6" name="Straight Arrow Connector 5">
            <a:extLst>
              <a:ext uri="{FF2B5EF4-FFF2-40B4-BE49-F238E27FC236}">
                <a16:creationId xmlns:a16="http://schemas.microsoft.com/office/drawing/2014/main" id="{0632704F-09AD-3025-6366-BABAE20671EF}"/>
              </a:ext>
            </a:extLst>
          </p:cNvPr>
          <p:cNvCxnSpPr>
            <a:cxnSpLocks/>
            <a:endCxn id="7" idx="1"/>
          </p:cNvCxnSpPr>
          <p:nvPr/>
        </p:nvCxnSpPr>
        <p:spPr>
          <a:xfrm>
            <a:off x="4392891" y="1423447"/>
            <a:ext cx="2460396" cy="18544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E2FF04E4-568A-FE33-1D53-910EB8445222}"/>
              </a:ext>
            </a:extLst>
          </p:cNvPr>
          <p:cNvSpPr txBox="1"/>
          <p:nvPr/>
        </p:nvSpPr>
        <p:spPr>
          <a:xfrm>
            <a:off x="6853287" y="2954708"/>
            <a:ext cx="2771480" cy="646331"/>
          </a:xfrm>
          <a:prstGeom prst="rect">
            <a:avLst/>
          </a:prstGeom>
          <a:noFill/>
        </p:spPr>
        <p:txBody>
          <a:bodyPr wrap="square" rtlCol="0">
            <a:spAutoFit/>
          </a:bodyPr>
          <a:lstStyle/>
          <a:p>
            <a:r>
              <a:rPr lang="en-US" dirty="0" err="1"/>
              <a:t>CockyCipher</a:t>
            </a:r>
            <a:r>
              <a:rPr lang="en-US" dirty="0"/>
              <a:t> to Encrypt All Browser Information</a:t>
            </a:r>
          </a:p>
        </p:txBody>
      </p:sp>
      <p:pic>
        <p:nvPicPr>
          <p:cNvPr id="9" name="Picture 8">
            <a:extLst>
              <a:ext uri="{FF2B5EF4-FFF2-40B4-BE49-F238E27FC236}">
                <a16:creationId xmlns:a16="http://schemas.microsoft.com/office/drawing/2014/main" id="{C219332A-6C93-0FAF-4DD3-7D5A813F646A}"/>
              </a:ext>
            </a:extLst>
          </p:cNvPr>
          <p:cNvPicPr>
            <a:picLocks noChangeAspect="1"/>
          </p:cNvPicPr>
          <p:nvPr/>
        </p:nvPicPr>
        <p:blipFill>
          <a:blip r:embed="rId3"/>
          <a:stretch>
            <a:fillRect/>
          </a:stretch>
        </p:blipFill>
        <p:spPr>
          <a:xfrm>
            <a:off x="838200" y="4212359"/>
            <a:ext cx="3771507" cy="2645641"/>
          </a:xfrm>
          <a:prstGeom prst="rect">
            <a:avLst/>
          </a:prstGeom>
        </p:spPr>
      </p:pic>
      <p:pic>
        <p:nvPicPr>
          <p:cNvPr id="12" name="Picture 11">
            <a:extLst>
              <a:ext uri="{FF2B5EF4-FFF2-40B4-BE49-F238E27FC236}">
                <a16:creationId xmlns:a16="http://schemas.microsoft.com/office/drawing/2014/main" id="{819D81B3-5D7D-824C-C21B-CD9F81C93C32}"/>
              </a:ext>
            </a:extLst>
          </p:cNvPr>
          <p:cNvPicPr>
            <a:picLocks noChangeAspect="1"/>
          </p:cNvPicPr>
          <p:nvPr/>
        </p:nvPicPr>
        <p:blipFill>
          <a:blip r:embed="rId4"/>
          <a:stretch>
            <a:fillRect/>
          </a:stretch>
        </p:blipFill>
        <p:spPr>
          <a:xfrm>
            <a:off x="5197135" y="4237378"/>
            <a:ext cx="4955533" cy="2436799"/>
          </a:xfrm>
          <a:prstGeom prst="rect">
            <a:avLst/>
          </a:prstGeom>
        </p:spPr>
      </p:pic>
      <p:cxnSp>
        <p:nvCxnSpPr>
          <p:cNvPr id="14" name="Straight Arrow Connector 13">
            <a:extLst>
              <a:ext uri="{FF2B5EF4-FFF2-40B4-BE49-F238E27FC236}">
                <a16:creationId xmlns:a16="http://schemas.microsoft.com/office/drawing/2014/main" id="{BF5D6F76-396B-539D-1B4C-AE403C3D1442}"/>
              </a:ext>
            </a:extLst>
          </p:cNvPr>
          <p:cNvCxnSpPr/>
          <p:nvPr/>
        </p:nvCxnSpPr>
        <p:spPr>
          <a:xfrm>
            <a:off x="4392891" y="1527142"/>
            <a:ext cx="3195686" cy="43174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ACD6A72-1EB2-E3EE-9EBC-6A51E3B01298}"/>
              </a:ext>
            </a:extLst>
          </p:cNvPr>
          <p:cNvCxnSpPr/>
          <p:nvPr/>
        </p:nvCxnSpPr>
        <p:spPr>
          <a:xfrm flipH="1">
            <a:off x="3393649" y="1527142"/>
            <a:ext cx="876693" cy="42420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27485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183</TotalTime>
  <Words>1531</Words>
  <Application>Microsoft Office PowerPoint</Application>
  <PresentationFormat>Widescreen</PresentationFormat>
  <Paragraphs>194</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Georgia</vt:lpstr>
      <vt:lpstr>Office Theme</vt:lpstr>
      <vt:lpstr>Cocky Cipher Suite Overview w/o Proxy</vt:lpstr>
      <vt:lpstr>Application Basics</vt:lpstr>
      <vt:lpstr>Laws and Compliance</vt:lpstr>
      <vt:lpstr>Cocky Cipher Suite w Proxy – Simple Transport  Model</vt:lpstr>
      <vt:lpstr>Hub and Spoke Internet Models With Encryption Models</vt:lpstr>
      <vt:lpstr>Encryption - Per Session Models</vt:lpstr>
      <vt:lpstr>Some Perspective… Chrome Defaults to AES128</vt:lpstr>
      <vt:lpstr>Cipher Operations</vt:lpstr>
      <vt:lpstr>The BASICS OF THE COCKEY CIPHER</vt:lpstr>
      <vt:lpstr>Encrypt(m) – Standard Form.</vt:lpstr>
      <vt:lpstr>Encrypt(m) – Advanced Form</vt:lpstr>
      <vt:lpstr>Engima (A Four Wheeled Device)</vt:lpstr>
      <vt:lpstr>Classifying Our Algorithm?</vt:lpstr>
      <vt:lpstr>Cocky Cipher Suite</vt:lpstr>
      <vt:lpstr>The End Goal… Clients Running Cocky Analytics Securely…. And Storage Areas Encrypted</vt:lpstr>
      <vt:lpstr>And All PCI Data Masked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Stewart</dc:creator>
  <cp:lastModifiedBy>John Stewart</cp:lastModifiedBy>
  <cp:revision>33</cp:revision>
  <dcterms:created xsi:type="dcterms:W3CDTF">2026-09-26T19:43:52Z</dcterms:created>
  <dcterms:modified xsi:type="dcterms:W3CDTF">2026-09-26T22:47:35Z</dcterms:modified>
</cp:coreProperties>
</file>