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70" r:id="rId4"/>
    <p:sldId id="265" r:id="rId5"/>
    <p:sldId id="266" r:id="rId6"/>
    <p:sldId id="290" r:id="rId7"/>
    <p:sldId id="267" r:id="rId8"/>
    <p:sldId id="268" r:id="rId9"/>
    <p:sldId id="269" r:id="rId10"/>
    <p:sldId id="271" r:id="rId11"/>
    <p:sldId id="261" r:id="rId12"/>
    <p:sldId id="273" r:id="rId13"/>
    <p:sldId id="274" r:id="rId14"/>
    <p:sldId id="275" r:id="rId15"/>
    <p:sldId id="276" r:id="rId16"/>
    <p:sldId id="272" r:id="rId17"/>
    <p:sldId id="263" r:id="rId18"/>
    <p:sldId id="262" r:id="rId19"/>
    <p:sldId id="259" r:id="rId20"/>
    <p:sldId id="260" r:id="rId21"/>
    <p:sldId id="264" r:id="rId22"/>
    <p:sldId id="286" r:id="rId23"/>
    <p:sldId id="287" r:id="rId24"/>
    <p:sldId id="257" r:id="rId25"/>
    <p:sldId id="277" r:id="rId26"/>
    <p:sldId id="278" r:id="rId27"/>
    <p:sldId id="279" r:id="rId28"/>
    <p:sldId id="280" r:id="rId29"/>
    <p:sldId id="281" r:id="rId30"/>
    <p:sldId id="282" r:id="rId31"/>
    <p:sldId id="283" r:id="rId32"/>
    <p:sldId id="284"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01CD2-946B-335B-5BCB-819D0699FF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81ADD-C6FA-2BBF-BC81-477287143F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BEAA43-4B85-457A-B569-6DDFDD281C77}"/>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50A433D5-275E-4205-92E4-C812D1750E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EAE33-5D6D-4C61-13BF-15FA928FE630}"/>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1074891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56CA-9650-40D5-B814-6655DE8B97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B51304-CF64-CC98-F414-39331CE31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762EE-086D-741D-6EB1-118F7A51DA8D}"/>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1C9BB025-80A9-AEFA-AFF1-4DD797BC4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A2836C-C4B9-4933-9A8C-879F7BD81EC3}"/>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3487845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B2BA6-AF3B-4967-0AFE-A872E92509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7404A5-C850-E017-FD92-6D8EFBC0E8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20A803-D100-BB27-1B79-35EC5DF01F2D}"/>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005557F3-A8AF-84BD-4F71-F2D575078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7D1A98-89E5-CB9D-B0F1-EC9AA3E4361E}"/>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163823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CBCE-C9EB-AFF3-C36A-27CB70E0C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B653D7-1F76-AD02-683F-E8B49C186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04023C-9319-B30C-4345-7D5DDA5F24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F7B7CD-6BF1-929E-991E-66F5635C8DB7}"/>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6" name="Footer Placeholder 5">
            <a:extLst>
              <a:ext uri="{FF2B5EF4-FFF2-40B4-BE49-F238E27FC236}">
                <a16:creationId xmlns:a16="http://schemas.microsoft.com/office/drawing/2014/main" id="{4D4CB299-FAA9-1D81-A2B1-87418C55E3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83944-2BD9-F37D-82D4-3A3E110A404F}"/>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3069177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8B2D-F73E-38E6-5412-11C08E13E6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AF1B97-80BC-11B6-0EA8-EF747CE9B9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D5FD1-FBE1-5E8B-87DD-CB582EE291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10082-9B50-58BA-4372-FE85BC1EF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647AF3-9029-9002-18C9-84E16B474F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D43B3D-B494-1384-19A2-42E59FDC482E}"/>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8" name="Footer Placeholder 7">
            <a:extLst>
              <a:ext uri="{FF2B5EF4-FFF2-40B4-BE49-F238E27FC236}">
                <a16:creationId xmlns:a16="http://schemas.microsoft.com/office/drawing/2014/main" id="{42006EE6-D68A-AFA3-041F-62566E8541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F66E42-504C-B17F-66A7-4BAA5FE97970}"/>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112568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C8A73-DCBB-641E-C7E4-F87DD6C66F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3DBE27-DD06-E604-3B5A-7A52E26B547D}"/>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4" name="Footer Placeholder 3">
            <a:extLst>
              <a:ext uri="{FF2B5EF4-FFF2-40B4-BE49-F238E27FC236}">
                <a16:creationId xmlns:a16="http://schemas.microsoft.com/office/drawing/2014/main" id="{33DA38F2-728E-9906-CE5E-6AB9AA5FD6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F75990-0973-5230-49D4-5C2CDFC2785F}"/>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2407670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AFC801-3029-42C4-648E-7F758E2923E8}"/>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3" name="Footer Placeholder 2">
            <a:extLst>
              <a:ext uri="{FF2B5EF4-FFF2-40B4-BE49-F238E27FC236}">
                <a16:creationId xmlns:a16="http://schemas.microsoft.com/office/drawing/2014/main" id="{510F7ACC-5625-85C6-5102-6724F620C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CBB35B-2523-A1E4-2276-FBAC7BF4A98D}"/>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223696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310CE-9E07-046D-24EB-EF9289C6E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6EE0F7-C0A5-5A3F-A2B0-95073F909C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66620D-2622-93B9-70B0-D0B478F416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4145A-B197-127A-A3B0-E6EA866E759B}"/>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6" name="Footer Placeholder 5">
            <a:extLst>
              <a:ext uri="{FF2B5EF4-FFF2-40B4-BE49-F238E27FC236}">
                <a16:creationId xmlns:a16="http://schemas.microsoft.com/office/drawing/2014/main" id="{C94AD4C4-CF2A-938F-09CE-B17CF5E0A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544167-347B-FBB6-E1BE-40045709A9C1}"/>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926604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48D01-EAA7-1D8B-4D66-1F83B5B377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46A40-75C4-F52D-45CB-019B45DC8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BF0EE-5E01-D55C-B574-D735AC10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C5FD5C-0CCD-4587-04BC-CB295EB0C46A}"/>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6" name="Footer Placeholder 5">
            <a:extLst>
              <a:ext uri="{FF2B5EF4-FFF2-40B4-BE49-F238E27FC236}">
                <a16:creationId xmlns:a16="http://schemas.microsoft.com/office/drawing/2014/main" id="{EF3522CD-6DDA-9BEB-01A9-53B28F112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226FE-5997-5C58-9119-0CB7441C132C}"/>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3351774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61FA3-EC48-6515-CF80-1B6BAC585E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3FC3A7-84BE-AE1F-00FB-1B631E31F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94C2-F962-68F9-4E42-64713B388D6C}"/>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BC914AFC-038C-B941-565A-20295A1BD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D810F-C7CF-3DB3-7D20-C32449EEF063}"/>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392025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1F397-C388-BCEF-4709-B49F2752FC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FF4316-A3DD-6B9A-3C4B-1036F00462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F3AA2-6332-8FAA-A82A-FE3910BA09C3}"/>
              </a:ext>
            </a:extLst>
          </p:cNvPr>
          <p:cNvSpPr>
            <a:spLocks noGrp="1"/>
          </p:cNvSpPr>
          <p:nvPr>
            <p:ph type="dt" sz="half" idx="10"/>
          </p:nvPr>
        </p:nvSpPr>
        <p:spPr/>
        <p:txBody>
          <a:body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91522915-8076-A024-BFAA-D5A633B070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D151C9-3172-F3AE-AD28-38881E02254C}"/>
              </a:ext>
            </a:extLst>
          </p:cNvPr>
          <p:cNvSpPr>
            <a:spLocks noGrp="1"/>
          </p:cNvSpPr>
          <p:nvPr>
            <p:ph type="sldNum" sz="quarter" idx="12"/>
          </p:nvPr>
        </p:nvSpPr>
        <p:spPr/>
        <p:txBody>
          <a:bodyPr/>
          <a:lstStyle/>
          <a:p>
            <a:fld id="{0438D59E-1631-4AE3-BB92-475F8F865FAB}" type="slidenum">
              <a:rPr lang="en-US" smtClean="0"/>
              <a:t>‹#›</a:t>
            </a:fld>
            <a:endParaRPr lang="en-US"/>
          </a:p>
        </p:txBody>
      </p:sp>
    </p:spTree>
    <p:extLst>
      <p:ext uri="{BB962C8B-B14F-4D97-AF65-F5344CB8AC3E}">
        <p14:creationId xmlns:p14="http://schemas.microsoft.com/office/powerpoint/2010/main" val="112859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196B34-CA71-8D7A-7724-59EC52E0F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FF6681-F436-B39E-1D2B-70F049505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3A1AB3-8B66-79D2-9288-54B0ABF9A7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FB2E6C-2B07-44C7-8451-A5E9D6672166}" type="datetimeFigureOut">
              <a:rPr lang="en-US" smtClean="0"/>
              <a:t>9/24/2026</a:t>
            </a:fld>
            <a:endParaRPr lang="en-US"/>
          </a:p>
        </p:txBody>
      </p:sp>
      <p:sp>
        <p:nvSpPr>
          <p:cNvPr id="5" name="Footer Placeholder 4">
            <a:extLst>
              <a:ext uri="{FF2B5EF4-FFF2-40B4-BE49-F238E27FC236}">
                <a16:creationId xmlns:a16="http://schemas.microsoft.com/office/drawing/2014/main" id="{DCD60581-9EC4-3A70-2A98-719A7ABF20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02282F-116A-2248-77BC-369571F1DB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38D59E-1631-4AE3-BB92-475F8F865FAB}" type="slidenum">
              <a:rPr lang="en-US" smtClean="0"/>
              <a:t>‹#›</a:t>
            </a:fld>
            <a:endParaRPr lang="en-US"/>
          </a:p>
        </p:txBody>
      </p:sp>
    </p:spTree>
    <p:extLst>
      <p:ext uri="{BB962C8B-B14F-4D97-AF65-F5344CB8AC3E}">
        <p14:creationId xmlns:p14="http://schemas.microsoft.com/office/powerpoint/2010/main" val="425520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1499-A220-A07D-DD86-450B8402E267}"/>
              </a:ext>
            </a:extLst>
          </p:cNvPr>
          <p:cNvSpPr>
            <a:spLocks noGrp="1"/>
          </p:cNvSpPr>
          <p:nvPr>
            <p:ph type="ctrTitle"/>
          </p:nvPr>
        </p:nvSpPr>
        <p:spPr/>
        <p:txBody>
          <a:bodyPr/>
          <a:lstStyle/>
          <a:p>
            <a:r>
              <a:rPr lang="en-US" dirty="0"/>
              <a:t>Scope of Work</a:t>
            </a:r>
            <a:br>
              <a:rPr lang="en-US" dirty="0"/>
            </a:br>
            <a:r>
              <a:rPr lang="en-US" dirty="0"/>
              <a:t>Sprint2/3 Plan</a:t>
            </a:r>
          </a:p>
        </p:txBody>
      </p:sp>
      <p:sp>
        <p:nvSpPr>
          <p:cNvPr id="3" name="Subtitle 2">
            <a:extLst>
              <a:ext uri="{FF2B5EF4-FFF2-40B4-BE49-F238E27FC236}">
                <a16:creationId xmlns:a16="http://schemas.microsoft.com/office/drawing/2014/main" id="{F154495E-D8A4-32CA-8CAA-E5C3FD1D9D3F}"/>
              </a:ext>
            </a:extLst>
          </p:cNvPr>
          <p:cNvSpPr>
            <a:spLocks noGrp="1"/>
          </p:cNvSpPr>
          <p:nvPr>
            <p:ph type="subTitle" idx="1"/>
          </p:nvPr>
        </p:nvSpPr>
        <p:spPr/>
        <p:txBody>
          <a:bodyPr/>
          <a:lstStyle/>
          <a:p>
            <a:r>
              <a:rPr lang="en-US" dirty="0"/>
              <a:t>CSCE798</a:t>
            </a:r>
          </a:p>
        </p:txBody>
      </p:sp>
    </p:spTree>
    <p:extLst>
      <p:ext uri="{BB962C8B-B14F-4D97-AF65-F5344CB8AC3E}">
        <p14:creationId xmlns:p14="http://schemas.microsoft.com/office/powerpoint/2010/main" val="33440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05DA0-9629-2EB6-E6FC-E2A896692120}"/>
              </a:ext>
            </a:extLst>
          </p:cNvPr>
          <p:cNvSpPr>
            <a:spLocks noGrp="1"/>
          </p:cNvSpPr>
          <p:nvPr>
            <p:ph type="title"/>
          </p:nvPr>
        </p:nvSpPr>
        <p:spPr/>
        <p:txBody>
          <a:bodyPr/>
          <a:lstStyle/>
          <a:p>
            <a:r>
              <a:rPr lang="en-US" dirty="0"/>
              <a:t>Sprint Status</a:t>
            </a:r>
          </a:p>
        </p:txBody>
      </p:sp>
      <p:sp>
        <p:nvSpPr>
          <p:cNvPr id="3" name="Content Placeholder 2">
            <a:extLst>
              <a:ext uri="{FF2B5EF4-FFF2-40B4-BE49-F238E27FC236}">
                <a16:creationId xmlns:a16="http://schemas.microsoft.com/office/drawing/2014/main" id="{9866B31D-4AED-27BD-6BB8-EE5E5F17A3C7}"/>
              </a:ext>
            </a:extLst>
          </p:cNvPr>
          <p:cNvSpPr>
            <a:spLocks noGrp="1"/>
          </p:cNvSpPr>
          <p:nvPr>
            <p:ph idx="1"/>
          </p:nvPr>
        </p:nvSpPr>
        <p:spPr>
          <a:xfrm>
            <a:off x="838200" y="1609965"/>
            <a:ext cx="10515600" cy="4351338"/>
          </a:xfrm>
        </p:spPr>
        <p:txBody>
          <a:bodyPr>
            <a:normAutofit fontScale="92500"/>
          </a:bodyPr>
          <a:lstStyle/>
          <a:p>
            <a:r>
              <a:rPr lang="en-US" dirty="0"/>
              <a:t>Sprint0 -&gt; Understanding the Stats 542 App and what we built in the spring. </a:t>
            </a:r>
            <a:r>
              <a:rPr lang="en-US" dirty="0">
                <a:solidFill>
                  <a:schemeClr val="accent6">
                    <a:lumMod val="75000"/>
                  </a:schemeClr>
                </a:solidFill>
              </a:rPr>
              <a:t>(Complete)</a:t>
            </a:r>
          </a:p>
          <a:p>
            <a:r>
              <a:rPr lang="en-US" dirty="0"/>
              <a:t>Sprint1 – Upgrading the original Application to a More Modern Standard and Higher Security </a:t>
            </a:r>
            <a:r>
              <a:rPr lang="en-US" b="1" dirty="0">
                <a:solidFill>
                  <a:schemeClr val="accent6">
                    <a:lumMod val="75000"/>
                  </a:schemeClr>
                </a:solidFill>
              </a:rPr>
              <a:t>(Complete – G2 Port to Gen3 Azure)</a:t>
            </a:r>
          </a:p>
          <a:p>
            <a:pPr marL="0" indent="0">
              <a:buNone/>
            </a:pPr>
            <a:endParaRPr lang="en-US" dirty="0"/>
          </a:p>
          <a:p>
            <a:r>
              <a:rPr lang="en-US" dirty="0"/>
              <a:t>Sprint2 – Delivering Standard Product Processes, App, And Most of the Cipher, Draft of Architectural Papers needed for Production X5.</a:t>
            </a:r>
          </a:p>
          <a:p>
            <a:r>
              <a:rPr lang="en-US" dirty="0"/>
              <a:t>Sprint3 – Final Draft of Thesis on PGP Privacy For Rest Fabrics inclusive of Audit &amp; Traffic Tools.</a:t>
            </a:r>
          </a:p>
        </p:txBody>
      </p:sp>
      <p:cxnSp>
        <p:nvCxnSpPr>
          <p:cNvPr id="7" name="Straight Connector 6">
            <a:extLst>
              <a:ext uri="{FF2B5EF4-FFF2-40B4-BE49-F238E27FC236}">
                <a16:creationId xmlns:a16="http://schemas.microsoft.com/office/drawing/2014/main" id="{01E86814-DB01-55A5-44C9-1056B71FBAB6}"/>
              </a:ext>
            </a:extLst>
          </p:cNvPr>
          <p:cNvCxnSpPr>
            <a:cxnSpLocks/>
          </p:cNvCxnSpPr>
          <p:nvPr/>
        </p:nvCxnSpPr>
        <p:spPr>
          <a:xfrm>
            <a:off x="370936" y="3429000"/>
            <a:ext cx="11274725"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24CF8E6-752F-681F-8A8D-AC86E9F37841}"/>
              </a:ext>
            </a:extLst>
          </p:cNvPr>
          <p:cNvSpPr txBox="1"/>
          <p:nvPr/>
        </p:nvSpPr>
        <p:spPr>
          <a:xfrm>
            <a:off x="10046180" y="4141154"/>
            <a:ext cx="2907101" cy="369332"/>
          </a:xfrm>
          <a:prstGeom prst="rect">
            <a:avLst/>
          </a:prstGeom>
          <a:noFill/>
        </p:spPr>
        <p:txBody>
          <a:bodyPr wrap="square" rtlCol="0">
            <a:spAutoFit/>
          </a:bodyPr>
          <a:lstStyle/>
          <a:p>
            <a:r>
              <a:rPr lang="en-US" dirty="0">
                <a:solidFill>
                  <a:srgbClr val="FF0000"/>
                </a:solidFill>
              </a:rPr>
              <a:t>(Set for 10/16/2026)</a:t>
            </a:r>
          </a:p>
        </p:txBody>
      </p:sp>
      <p:sp>
        <p:nvSpPr>
          <p:cNvPr id="9" name="TextBox 8">
            <a:extLst>
              <a:ext uri="{FF2B5EF4-FFF2-40B4-BE49-F238E27FC236}">
                <a16:creationId xmlns:a16="http://schemas.microsoft.com/office/drawing/2014/main" id="{4F3570DB-7C07-8BC7-93A8-4DCF4424C676}"/>
              </a:ext>
            </a:extLst>
          </p:cNvPr>
          <p:cNvSpPr txBox="1"/>
          <p:nvPr/>
        </p:nvSpPr>
        <p:spPr>
          <a:xfrm>
            <a:off x="4387969" y="4982647"/>
            <a:ext cx="1104181" cy="369332"/>
          </a:xfrm>
          <a:prstGeom prst="rect">
            <a:avLst/>
          </a:prstGeom>
          <a:noFill/>
        </p:spPr>
        <p:txBody>
          <a:bodyPr wrap="square" rtlCol="0">
            <a:spAutoFit/>
          </a:bodyPr>
          <a:lstStyle/>
          <a:p>
            <a:r>
              <a:rPr lang="en-US" dirty="0">
                <a:solidFill>
                  <a:srgbClr val="FF0000"/>
                </a:solidFill>
              </a:rPr>
              <a:t>(TBD)</a:t>
            </a:r>
          </a:p>
        </p:txBody>
      </p:sp>
    </p:spTree>
    <p:extLst>
      <p:ext uri="{BB962C8B-B14F-4D97-AF65-F5344CB8AC3E}">
        <p14:creationId xmlns:p14="http://schemas.microsoft.com/office/powerpoint/2010/main" val="790267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8BF425-4DEB-CE63-0B0A-44664C379F8D}"/>
              </a:ext>
            </a:extLst>
          </p:cNvPr>
          <p:cNvSpPr>
            <a:spLocks noGrp="1"/>
          </p:cNvSpPr>
          <p:nvPr>
            <p:ph type="ctrTitle"/>
          </p:nvPr>
        </p:nvSpPr>
        <p:spPr/>
        <p:txBody>
          <a:bodyPr>
            <a:normAutofit/>
          </a:bodyPr>
          <a:lstStyle/>
          <a:p>
            <a:r>
              <a:rPr lang="en-US" dirty="0"/>
              <a:t>Case Study</a:t>
            </a:r>
            <a:br>
              <a:rPr lang="en-US" dirty="0"/>
            </a:br>
            <a:r>
              <a:rPr lang="en-US" sz="4000" dirty="0"/>
              <a:t>Next Generation GWIM Tools Deployment</a:t>
            </a:r>
          </a:p>
        </p:txBody>
      </p:sp>
      <p:sp>
        <p:nvSpPr>
          <p:cNvPr id="5" name="Subtitle 4">
            <a:extLst>
              <a:ext uri="{FF2B5EF4-FFF2-40B4-BE49-F238E27FC236}">
                <a16:creationId xmlns:a16="http://schemas.microsoft.com/office/drawing/2014/main" id="{1A577518-4F92-C458-AA5A-09932875A9A8}"/>
              </a:ext>
            </a:extLst>
          </p:cNvPr>
          <p:cNvSpPr>
            <a:spLocks noGrp="1"/>
          </p:cNvSpPr>
          <p:nvPr>
            <p:ph type="subTitle" idx="1"/>
          </p:nvPr>
        </p:nvSpPr>
        <p:spPr/>
        <p:txBody>
          <a:bodyPr/>
          <a:lstStyle/>
          <a:p>
            <a:r>
              <a:rPr lang="en-US" dirty="0"/>
              <a:t>09/23/2026</a:t>
            </a:r>
          </a:p>
        </p:txBody>
      </p:sp>
    </p:spTree>
    <p:extLst>
      <p:ext uri="{BB962C8B-B14F-4D97-AF65-F5344CB8AC3E}">
        <p14:creationId xmlns:p14="http://schemas.microsoft.com/office/powerpoint/2010/main" val="252907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49F3D-2FBB-5C45-CB1F-5076A37A900A}"/>
              </a:ext>
            </a:extLst>
          </p:cNvPr>
          <p:cNvSpPr>
            <a:spLocks noGrp="1"/>
          </p:cNvSpPr>
          <p:nvPr>
            <p:ph type="title"/>
          </p:nvPr>
        </p:nvSpPr>
        <p:spPr/>
        <p:txBody>
          <a:bodyPr/>
          <a:lstStyle/>
          <a:p>
            <a:r>
              <a:rPr lang="en-US" dirty="0"/>
              <a:t>We Are Cocky Financial… A Virtual Company</a:t>
            </a:r>
          </a:p>
        </p:txBody>
      </p:sp>
      <p:sp>
        <p:nvSpPr>
          <p:cNvPr id="3" name="Content Placeholder 2">
            <a:extLst>
              <a:ext uri="{FF2B5EF4-FFF2-40B4-BE49-F238E27FC236}">
                <a16:creationId xmlns:a16="http://schemas.microsoft.com/office/drawing/2014/main" id="{0F68D865-0311-66C6-81AD-7BAF89E0DE4C}"/>
              </a:ext>
            </a:extLst>
          </p:cNvPr>
          <p:cNvSpPr>
            <a:spLocks noGrp="1"/>
          </p:cNvSpPr>
          <p:nvPr>
            <p:ph idx="1"/>
          </p:nvPr>
        </p:nvSpPr>
        <p:spPr>
          <a:xfrm>
            <a:off x="562155" y="1690688"/>
            <a:ext cx="4665454" cy="4351338"/>
          </a:xfrm>
        </p:spPr>
        <p:txBody>
          <a:bodyPr>
            <a:normAutofit fontScale="92500" lnSpcReduction="10000"/>
          </a:bodyPr>
          <a:lstStyle/>
          <a:p>
            <a:r>
              <a:rPr lang="en-US" sz="1800" dirty="0"/>
              <a:t>Our Executive Linda has asked us to build a new app…which manages customer trades in a controlled manner following a financial proposal from a licensed security analyst. Traders check the analysts orders for accuracy but do not overrule the analyst.</a:t>
            </a:r>
          </a:p>
          <a:p>
            <a:r>
              <a:rPr lang="en-US" sz="1800" dirty="0"/>
              <a:t>Linda has a boss Bob who would like to have a product which reaches smaller investors who could self trade.</a:t>
            </a:r>
          </a:p>
          <a:p>
            <a:r>
              <a:rPr lang="en-US" sz="1800" dirty="0"/>
              <a:t>Bob and Linda envision a tool which could do both at the same time… IE two modes of operation rather than separate tools which are common at ML, Chase, and other competitors.</a:t>
            </a:r>
          </a:p>
          <a:p>
            <a:r>
              <a:rPr lang="en-US" sz="1800" dirty="0"/>
              <a:t>Competitive Research By Cocky Investments VPs….</a:t>
            </a:r>
            <a:r>
              <a:rPr lang="en-US" sz="1400" dirty="0"/>
              <a:t> Fidelity uses the same tool for both sets of customers (High, and Low). Charles Schwab also operates with a single tool for both sets of customers. ML, Chase, and Wells do not have such a tool.</a:t>
            </a:r>
          </a:p>
        </p:txBody>
      </p:sp>
      <p:pic>
        <p:nvPicPr>
          <p:cNvPr id="4" name="Picture 3">
            <a:extLst>
              <a:ext uri="{FF2B5EF4-FFF2-40B4-BE49-F238E27FC236}">
                <a16:creationId xmlns:a16="http://schemas.microsoft.com/office/drawing/2014/main" id="{AFD0EAF5-A9A5-BEF9-E209-945596770937}"/>
              </a:ext>
            </a:extLst>
          </p:cNvPr>
          <p:cNvPicPr>
            <a:picLocks noChangeAspect="1"/>
          </p:cNvPicPr>
          <p:nvPr/>
        </p:nvPicPr>
        <p:blipFill>
          <a:blip r:embed="rId2"/>
          <a:stretch>
            <a:fillRect/>
          </a:stretch>
        </p:blipFill>
        <p:spPr>
          <a:xfrm>
            <a:off x="5614515" y="1756646"/>
            <a:ext cx="4840699" cy="2832607"/>
          </a:xfrm>
          <a:prstGeom prst="rect">
            <a:avLst/>
          </a:prstGeom>
        </p:spPr>
      </p:pic>
      <p:sp>
        <p:nvSpPr>
          <p:cNvPr id="5" name="Rectangle: Rounded Corners 4">
            <a:extLst>
              <a:ext uri="{FF2B5EF4-FFF2-40B4-BE49-F238E27FC236}">
                <a16:creationId xmlns:a16="http://schemas.microsoft.com/office/drawing/2014/main" id="{A0E52974-7214-F309-BEE5-0D73B1B1D503}"/>
              </a:ext>
            </a:extLst>
          </p:cNvPr>
          <p:cNvSpPr/>
          <p:nvPr/>
        </p:nvSpPr>
        <p:spPr>
          <a:xfrm>
            <a:off x="5710687" y="4986068"/>
            <a:ext cx="1604513" cy="1055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Next</a:t>
            </a:r>
          </a:p>
          <a:p>
            <a:pPr algn="ctr"/>
            <a:r>
              <a:rPr lang="en-US" dirty="0"/>
              <a:t>Gen GWIM</a:t>
            </a:r>
          </a:p>
        </p:txBody>
      </p:sp>
      <p:cxnSp>
        <p:nvCxnSpPr>
          <p:cNvPr id="7" name="Straight Arrow Connector 6">
            <a:extLst>
              <a:ext uri="{FF2B5EF4-FFF2-40B4-BE49-F238E27FC236}">
                <a16:creationId xmlns:a16="http://schemas.microsoft.com/office/drawing/2014/main" id="{C3B21A83-78F0-826C-F248-FBB7856162CF}"/>
              </a:ext>
            </a:extLst>
          </p:cNvPr>
          <p:cNvCxnSpPr/>
          <p:nvPr/>
        </p:nvCxnSpPr>
        <p:spPr>
          <a:xfrm flipV="1">
            <a:off x="7427343" y="5098211"/>
            <a:ext cx="1181819" cy="4054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9AFDD731-4819-02AA-50C0-DD49A10DDC5E}"/>
              </a:ext>
            </a:extLst>
          </p:cNvPr>
          <p:cNvSpPr/>
          <p:nvPr/>
        </p:nvSpPr>
        <p:spPr>
          <a:xfrm>
            <a:off x="8686800" y="4830792"/>
            <a:ext cx="1846053" cy="6728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Analyst Driven</a:t>
            </a:r>
          </a:p>
          <a:p>
            <a:pPr algn="ctr"/>
            <a:r>
              <a:rPr lang="en-US" dirty="0"/>
              <a:t>Trading/Models</a:t>
            </a:r>
          </a:p>
        </p:txBody>
      </p:sp>
      <p:sp>
        <p:nvSpPr>
          <p:cNvPr id="9" name="Rectangle: Rounded Corners 8">
            <a:extLst>
              <a:ext uri="{FF2B5EF4-FFF2-40B4-BE49-F238E27FC236}">
                <a16:creationId xmlns:a16="http://schemas.microsoft.com/office/drawing/2014/main" id="{FA7FE829-6AB6-F77E-C023-87A338FDA5BD}"/>
              </a:ext>
            </a:extLst>
          </p:cNvPr>
          <p:cNvSpPr/>
          <p:nvPr/>
        </p:nvSpPr>
        <p:spPr>
          <a:xfrm>
            <a:off x="8686800" y="5710687"/>
            <a:ext cx="1846053" cy="5865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 Driven</a:t>
            </a:r>
          </a:p>
          <a:p>
            <a:pPr algn="ctr"/>
            <a:r>
              <a:rPr lang="en-US" dirty="0"/>
              <a:t>Investments</a:t>
            </a:r>
          </a:p>
        </p:txBody>
      </p:sp>
      <p:cxnSp>
        <p:nvCxnSpPr>
          <p:cNvPr id="11" name="Straight Arrow Connector 10">
            <a:extLst>
              <a:ext uri="{FF2B5EF4-FFF2-40B4-BE49-F238E27FC236}">
                <a16:creationId xmlns:a16="http://schemas.microsoft.com/office/drawing/2014/main" id="{E64BBA93-5939-BDE1-CA29-0E031FCA288D}"/>
              </a:ext>
            </a:extLst>
          </p:cNvPr>
          <p:cNvCxnSpPr/>
          <p:nvPr/>
        </p:nvCxnSpPr>
        <p:spPr>
          <a:xfrm flipH="1">
            <a:off x="7504981" y="5279366"/>
            <a:ext cx="1009291" cy="3450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32AEE60-D13F-70D4-B47E-65A1447EA20A}"/>
              </a:ext>
            </a:extLst>
          </p:cNvPr>
          <p:cNvCxnSpPr/>
          <p:nvPr/>
        </p:nvCxnSpPr>
        <p:spPr>
          <a:xfrm>
            <a:off x="7427343" y="5805577"/>
            <a:ext cx="11818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9378706-D2AD-B4D1-2DAF-EDA1DCD3D4CC}"/>
              </a:ext>
            </a:extLst>
          </p:cNvPr>
          <p:cNvCxnSpPr/>
          <p:nvPr/>
        </p:nvCxnSpPr>
        <p:spPr>
          <a:xfrm flipH="1">
            <a:off x="7427343" y="5934974"/>
            <a:ext cx="11818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2011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24E8-8AE1-D679-0865-E818923EB8D9}"/>
              </a:ext>
            </a:extLst>
          </p:cNvPr>
          <p:cNvSpPr>
            <a:spLocks noGrp="1"/>
          </p:cNvSpPr>
          <p:nvPr>
            <p:ph type="title"/>
          </p:nvPr>
        </p:nvSpPr>
        <p:spPr/>
        <p:txBody>
          <a:bodyPr/>
          <a:lstStyle/>
          <a:p>
            <a:r>
              <a:rPr lang="en-US" dirty="0"/>
              <a:t>Bob &amp; Linda have problems….</a:t>
            </a:r>
          </a:p>
        </p:txBody>
      </p:sp>
      <p:sp>
        <p:nvSpPr>
          <p:cNvPr id="3" name="Content Placeholder 2">
            <a:extLst>
              <a:ext uri="{FF2B5EF4-FFF2-40B4-BE49-F238E27FC236}">
                <a16:creationId xmlns:a16="http://schemas.microsoft.com/office/drawing/2014/main" id="{7C375707-AE55-9E89-2F92-21DEA4E21422}"/>
              </a:ext>
            </a:extLst>
          </p:cNvPr>
          <p:cNvSpPr>
            <a:spLocks noGrp="1"/>
          </p:cNvSpPr>
          <p:nvPr>
            <p:ph idx="1"/>
          </p:nvPr>
        </p:nvSpPr>
        <p:spPr>
          <a:xfrm>
            <a:off x="838200" y="1825624"/>
            <a:ext cx="10515600" cy="4351338"/>
          </a:xfrm>
        </p:spPr>
        <p:txBody>
          <a:bodyPr/>
          <a:lstStyle/>
          <a:p>
            <a:r>
              <a:rPr lang="en-US" dirty="0"/>
              <a:t>Igor is running ops….				And Natasha – IT Audit</a:t>
            </a:r>
          </a:p>
        </p:txBody>
      </p:sp>
      <p:pic>
        <p:nvPicPr>
          <p:cNvPr id="4" name="Picture 3">
            <a:extLst>
              <a:ext uri="{FF2B5EF4-FFF2-40B4-BE49-F238E27FC236}">
                <a16:creationId xmlns:a16="http://schemas.microsoft.com/office/drawing/2014/main" id="{6076B544-F099-7CCD-1772-0A15F89414B1}"/>
              </a:ext>
            </a:extLst>
          </p:cNvPr>
          <p:cNvPicPr>
            <a:picLocks noChangeAspect="1"/>
          </p:cNvPicPr>
          <p:nvPr/>
        </p:nvPicPr>
        <p:blipFill>
          <a:blip r:embed="rId2"/>
          <a:stretch>
            <a:fillRect/>
          </a:stretch>
        </p:blipFill>
        <p:spPr>
          <a:xfrm>
            <a:off x="1220403" y="2574084"/>
            <a:ext cx="5568585" cy="2679548"/>
          </a:xfrm>
          <a:prstGeom prst="rect">
            <a:avLst/>
          </a:prstGeom>
        </p:spPr>
      </p:pic>
      <p:pic>
        <p:nvPicPr>
          <p:cNvPr id="5" name="Picture 4">
            <a:extLst>
              <a:ext uri="{FF2B5EF4-FFF2-40B4-BE49-F238E27FC236}">
                <a16:creationId xmlns:a16="http://schemas.microsoft.com/office/drawing/2014/main" id="{0EFE4C1C-9A58-6FDA-07DC-03D38C14ED6E}"/>
              </a:ext>
            </a:extLst>
          </p:cNvPr>
          <p:cNvPicPr>
            <a:picLocks noChangeAspect="1"/>
          </p:cNvPicPr>
          <p:nvPr/>
        </p:nvPicPr>
        <p:blipFill>
          <a:blip r:embed="rId3"/>
          <a:stretch>
            <a:fillRect/>
          </a:stretch>
        </p:blipFill>
        <p:spPr>
          <a:xfrm>
            <a:off x="7435970" y="2574084"/>
            <a:ext cx="3994030" cy="2679548"/>
          </a:xfrm>
          <a:prstGeom prst="rect">
            <a:avLst/>
          </a:prstGeom>
        </p:spPr>
      </p:pic>
      <p:sp>
        <p:nvSpPr>
          <p:cNvPr id="6" name="TextBox 5">
            <a:extLst>
              <a:ext uri="{FF2B5EF4-FFF2-40B4-BE49-F238E27FC236}">
                <a16:creationId xmlns:a16="http://schemas.microsoft.com/office/drawing/2014/main" id="{49E24AF6-491F-58B4-D82B-EB1B826D849D}"/>
              </a:ext>
            </a:extLst>
          </p:cNvPr>
          <p:cNvSpPr txBox="1"/>
          <p:nvPr/>
        </p:nvSpPr>
        <p:spPr>
          <a:xfrm>
            <a:off x="1220403" y="5462573"/>
            <a:ext cx="10386205" cy="1200329"/>
          </a:xfrm>
          <a:prstGeom prst="rect">
            <a:avLst/>
          </a:prstGeom>
          <a:noFill/>
        </p:spPr>
        <p:txBody>
          <a:bodyPr wrap="square" rtlCol="0">
            <a:spAutoFit/>
          </a:bodyPr>
          <a:lstStyle/>
          <a:p>
            <a:pPr marL="342900" indent="-342900">
              <a:buAutoNum type="arabicParenR"/>
            </a:pPr>
            <a:r>
              <a:rPr lang="en-US" dirty="0"/>
              <a:t>They don’t allow anything on Tiered Network Infrastructure That Doesn’t Pass Audit.</a:t>
            </a:r>
          </a:p>
          <a:p>
            <a:pPr marL="342900" indent="-342900">
              <a:buAutoNum type="arabicParenR"/>
            </a:pPr>
            <a:r>
              <a:rPr lang="en-US" dirty="0"/>
              <a:t>DBMS Technology has to be Oracle, or MS-SQL Server (Due To Replication Requirements for DR)</a:t>
            </a:r>
          </a:p>
          <a:p>
            <a:pPr marL="342900" indent="-342900">
              <a:buAutoNum type="arabicParenR"/>
            </a:pPr>
            <a:r>
              <a:rPr lang="en-US" dirty="0"/>
              <a:t>Enterprise Apps have to run on secure ports. </a:t>
            </a:r>
          </a:p>
          <a:p>
            <a:pPr marL="342900" indent="-342900">
              <a:buAutoNum type="arabicParenR"/>
            </a:pPr>
            <a:r>
              <a:rPr lang="en-US" dirty="0"/>
              <a:t>All Apps have to have application encryption &amp; meet FISMA &amp; NIST standards in every category.</a:t>
            </a:r>
          </a:p>
        </p:txBody>
      </p:sp>
    </p:spTree>
    <p:extLst>
      <p:ext uri="{BB962C8B-B14F-4D97-AF65-F5344CB8AC3E}">
        <p14:creationId xmlns:p14="http://schemas.microsoft.com/office/powerpoint/2010/main" val="2693527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2777-2F20-9AED-780A-CC05B6EE9575}"/>
              </a:ext>
            </a:extLst>
          </p:cNvPr>
          <p:cNvSpPr>
            <a:spLocks noGrp="1"/>
          </p:cNvSpPr>
          <p:nvPr>
            <p:ph type="title"/>
          </p:nvPr>
        </p:nvSpPr>
        <p:spPr/>
        <p:txBody>
          <a:bodyPr/>
          <a:lstStyle/>
          <a:p>
            <a:r>
              <a:rPr lang="en-US" dirty="0"/>
              <a:t>Other Concerns….</a:t>
            </a:r>
          </a:p>
        </p:txBody>
      </p:sp>
      <p:sp>
        <p:nvSpPr>
          <p:cNvPr id="3" name="Content Placeholder 2">
            <a:extLst>
              <a:ext uri="{FF2B5EF4-FFF2-40B4-BE49-F238E27FC236}">
                <a16:creationId xmlns:a16="http://schemas.microsoft.com/office/drawing/2014/main" id="{CF21443B-B027-587C-3BED-AEE491FE6C9D}"/>
              </a:ext>
            </a:extLst>
          </p:cNvPr>
          <p:cNvSpPr>
            <a:spLocks noGrp="1"/>
          </p:cNvSpPr>
          <p:nvPr>
            <p:ph idx="1"/>
          </p:nvPr>
        </p:nvSpPr>
        <p:spPr/>
        <p:txBody>
          <a:bodyPr>
            <a:normAutofit fontScale="92500" lnSpcReduction="10000"/>
          </a:bodyPr>
          <a:lstStyle/>
          <a:p>
            <a:r>
              <a:rPr lang="en-US" dirty="0"/>
              <a:t>Bob is a Corporate Officer and Division President. He has a fiduciary responsibility to deliver secure software which is his sole responsibility.</a:t>
            </a:r>
          </a:p>
          <a:p>
            <a:r>
              <a:rPr lang="en-US" dirty="0"/>
              <a:t>Bob needs to increase revenue and he’s not sure increasing trading volume will do so.</a:t>
            </a:r>
          </a:p>
          <a:p>
            <a:r>
              <a:rPr lang="en-US" dirty="0"/>
              <a:t>Bob needs to insure that self-trading applications do not degrade Flagship operations with analyst proposals.</a:t>
            </a:r>
          </a:p>
          <a:p>
            <a:r>
              <a:rPr lang="en-US" dirty="0"/>
              <a:t>Linda wants better workflow management from Analysts to Trading Operations rather than Email, and IM.</a:t>
            </a:r>
          </a:p>
          <a:p>
            <a:r>
              <a:rPr lang="en-US" dirty="0"/>
              <a:t>Linda wants the new system to add a workflow management system from </a:t>
            </a:r>
          </a:p>
          <a:p>
            <a:pPr lvl="1"/>
            <a:r>
              <a:rPr lang="en-US" dirty="0"/>
              <a:t>client-&gt;analyst-&gt;trading operations.</a:t>
            </a:r>
          </a:p>
        </p:txBody>
      </p:sp>
    </p:spTree>
    <p:extLst>
      <p:ext uri="{BB962C8B-B14F-4D97-AF65-F5344CB8AC3E}">
        <p14:creationId xmlns:p14="http://schemas.microsoft.com/office/powerpoint/2010/main" val="997092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8A20-522B-F67C-8ACE-2FCE6E047C83}"/>
              </a:ext>
            </a:extLst>
          </p:cNvPr>
          <p:cNvSpPr>
            <a:spLocks noGrp="1"/>
          </p:cNvSpPr>
          <p:nvPr>
            <p:ph type="title"/>
          </p:nvPr>
        </p:nvSpPr>
        <p:spPr/>
        <p:txBody>
          <a:bodyPr/>
          <a:lstStyle/>
          <a:p>
            <a:r>
              <a:rPr lang="en-US" dirty="0"/>
              <a:t>Bob and Linda want speed….</a:t>
            </a:r>
          </a:p>
        </p:txBody>
      </p:sp>
      <p:sp>
        <p:nvSpPr>
          <p:cNvPr id="3" name="Content Placeholder 2">
            <a:extLst>
              <a:ext uri="{FF2B5EF4-FFF2-40B4-BE49-F238E27FC236}">
                <a16:creationId xmlns:a16="http://schemas.microsoft.com/office/drawing/2014/main" id="{2AEBF6AA-195C-644D-62A0-6F354C0912FE}"/>
              </a:ext>
            </a:extLst>
          </p:cNvPr>
          <p:cNvSpPr>
            <a:spLocks noGrp="1"/>
          </p:cNvSpPr>
          <p:nvPr>
            <p:ph idx="1"/>
          </p:nvPr>
        </p:nvSpPr>
        <p:spPr/>
        <p:txBody>
          <a:bodyPr>
            <a:normAutofit fontScale="70000" lnSpcReduction="20000"/>
          </a:bodyPr>
          <a:lstStyle/>
          <a:p>
            <a:r>
              <a:rPr lang="en-US" dirty="0"/>
              <a:t>They want to rapid prototype an Interface which does what they want…so they can ask for money to make it into production….</a:t>
            </a:r>
          </a:p>
          <a:p>
            <a:r>
              <a:rPr lang="en-US" dirty="0"/>
              <a:t>The CEO cant envision what they are saying…right now or the benefits of the new system so they need to show him a proof of concept.</a:t>
            </a:r>
          </a:p>
          <a:p>
            <a:r>
              <a:rPr lang="en-US" dirty="0"/>
              <a:t>Natasha and Igor cant risk their existing businesses… and operations…..</a:t>
            </a:r>
          </a:p>
          <a:p>
            <a:pPr lvl="1"/>
            <a:r>
              <a:rPr lang="en-US" dirty="0"/>
              <a:t>They let Bob and Linda do whatever they want on their own LAN using IPV6 link local addresses…. </a:t>
            </a:r>
          </a:p>
          <a:p>
            <a:pPr lvl="1"/>
            <a:r>
              <a:rPr lang="en-US" dirty="0"/>
              <a:t>But WILL not install tools into the core DCs without meeting security baselines…</a:t>
            </a:r>
          </a:p>
          <a:p>
            <a:r>
              <a:rPr lang="en-US" dirty="0"/>
              <a:t>Linda &amp; Sally quickly crank out Gen1, and Made Gen2 a bit better…but it runs on SQL lite….</a:t>
            </a:r>
          </a:p>
          <a:p>
            <a:pPr lvl="1"/>
            <a:r>
              <a:rPr lang="en-US" dirty="0"/>
              <a:t>AND ITS VERY </a:t>
            </a:r>
            <a:r>
              <a:rPr lang="en-US" dirty="0" err="1"/>
              <a:t>VERY</a:t>
            </a:r>
            <a:r>
              <a:rPr lang="en-US" dirty="0"/>
              <a:t> FAR AWAY FROM PRODUCTION</a:t>
            </a:r>
          </a:p>
          <a:p>
            <a:pPr lvl="1"/>
            <a:r>
              <a:rPr lang="en-US" dirty="0"/>
              <a:t>AND WOULD FAIL PRODUCT REQUIREMENTS AS IT DOESN’T TAKE PAYMENTS OR TRADE.</a:t>
            </a:r>
          </a:p>
          <a:p>
            <a:r>
              <a:rPr lang="en-US" dirty="0"/>
              <a:t>They call Natasha and Igor for a list of requirements that they need to go to production, and costs to go to shared hosting in Tier.</a:t>
            </a:r>
          </a:p>
          <a:p>
            <a:r>
              <a:rPr lang="en-US" dirty="0"/>
              <a:t>Natasha and Igor say …. “Where is your product description?” “Who is the Product Manager”, “Who is the Project Leader who can validate results?”</a:t>
            </a:r>
          </a:p>
        </p:txBody>
      </p:sp>
    </p:spTree>
    <p:extLst>
      <p:ext uri="{BB962C8B-B14F-4D97-AF65-F5344CB8AC3E}">
        <p14:creationId xmlns:p14="http://schemas.microsoft.com/office/powerpoint/2010/main" val="630606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E33FF-BF02-0CB5-9680-012CF378AB7E}"/>
              </a:ext>
            </a:extLst>
          </p:cNvPr>
          <p:cNvSpPr>
            <a:spLocks noGrp="1"/>
          </p:cNvSpPr>
          <p:nvPr>
            <p:ph type="title"/>
          </p:nvPr>
        </p:nvSpPr>
        <p:spPr/>
        <p:txBody>
          <a:bodyPr/>
          <a:lstStyle/>
          <a:p>
            <a:r>
              <a:rPr lang="en-US" dirty="0"/>
              <a:t>Linda’s Response</a:t>
            </a:r>
          </a:p>
        </p:txBody>
      </p:sp>
      <p:sp>
        <p:nvSpPr>
          <p:cNvPr id="3" name="Content Placeholder 2">
            <a:extLst>
              <a:ext uri="{FF2B5EF4-FFF2-40B4-BE49-F238E27FC236}">
                <a16:creationId xmlns:a16="http://schemas.microsoft.com/office/drawing/2014/main" id="{5F4770AB-234F-708E-8080-35E27FB72753}"/>
              </a:ext>
            </a:extLst>
          </p:cNvPr>
          <p:cNvSpPr>
            <a:spLocks noGrp="1"/>
          </p:cNvSpPr>
          <p:nvPr>
            <p:ph idx="1"/>
          </p:nvPr>
        </p:nvSpPr>
        <p:spPr>
          <a:xfrm>
            <a:off x="769189" y="1558206"/>
            <a:ext cx="5916283" cy="4667250"/>
          </a:xfrm>
        </p:spPr>
        <p:txBody>
          <a:bodyPr>
            <a:normAutofit fontScale="55000" lnSpcReduction="20000"/>
          </a:bodyPr>
          <a:lstStyle/>
          <a:p>
            <a:r>
              <a:rPr lang="en-US" dirty="0"/>
              <a:t>Sally on my team is the Product Manager and she will get you a product description in two weeks time.</a:t>
            </a:r>
          </a:p>
          <a:p>
            <a:r>
              <a:rPr lang="en-US" dirty="0"/>
              <a:t>Rob is our lead accountant and he is responsible for the validation of the system we built together.</a:t>
            </a:r>
          </a:p>
          <a:p>
            <a:r>
              <a:rPr lang="en-US" dirty="0"/>
              <a:t>I am the stakeholder, and I have to convince my boss I can meet both trading needs before Bob and I ask for Capital Programs from the Corporation.</a:t>
            </a:r>
          </a:p>
          <a:p>
            <a:r>
              <a:rPr lang="en-US" dirty="0"/>
              <a:t>I would like to use API designs on the back-end as our execution system uses Microsoft </a:t>
            </a:r>
            <a:r>
              <a:rPr lang="en-US" dirty="0" err="1"/>
              <a:t>DotNet</a:t>
            </a:r>
            <a:r>
              <a:rPr lang="en-US" dirty="0"/>
              <a:t> Entity Framework and I need Microsoft Consulting to help with Exchange plugins to NYSE/NASDAQ. </a:t>
            </a:r>
          </a:p>
          <a:p>
            <a:r>
              <a:rPr lang="en-US" dirty="0"/>
              <a:t>I know the TIER costs per unit, but I need a security plan of everything we have to do to get to production so I can ask Sally to track those items. She will create a </a:t>
            </a:r>
            <a:r>
              <a:rPr lang="en-US" dirty="0" err="1"/>
              <a:t>subteam</a:t>
            </a:r>
            <a:r>
              <a:rPr lang="en-US" dirty="0"/>
              <a:t> with you Igor and Natasha to track those as a Workstream #2, with Workstream #1 the actual application requirements. Workstream #3 will be the </a:t>
            </a:r>
            <a:r>
              <a:rPr lang="en-US" dirty="0" err="1"/>
              <a:t>backoffice</a:t>
            </a:r>
            <a:r>
              <a:rPr lang="en-US" dirty="0"/>
              <a:t> processing for trading orders and payments #4.</a:t>
            </a:r>
          </a:p>
          <a:p>
            <a:r>
              <a:rPr lang="en-US" dirty="0"/>
              <a:t>We know this might cause you stress, but we want unemotional responses. We have corporate commitments and we just need the facts.</a:t>
            </a:r>
          </a:p>
        </p:txBody>
      </p:sp>
      <p:pic>
        <p:nvPicPr>
          <p:cNvPr id="4" name="Picture 3">
            <a:extLst>
              <a:ext uri="{FF2B5EF4-FFF2-40B4-BE49-F238E27FC236}">
                <a16:creationId xmlns:a16="http://schemas.microsoft.com/office/drawing/2014/main" id="{1B019138-3021-8071-4F3E-D42B9EF0827D}"/>
              </a:ext>
            </a:extLst>
          </p:cNvPr>
          <p:cNvPicPr>
            <a:picLocks noChangeAspect="1"/>
          </p:cNvPicPr>
          <p:nvPr/>
        </p:nvPicPr>
        <p:blipFill>
          <a:blip r:embed="rId2"/>
          <a:stretch>
            <a:fillRect/>
          </a:stretch>
        </p:blipFill>
        <p:spPr>
          <a:xfrm>
            <a:off x="7025981" y="1558206"/>
            <a:ext cx="4792208" cy="3686654"/>
          </a:xfrm>
          <a:prstGeom prst="rect">
            <a:avLst/>
          </a:prstGeom>
        </p:spPr>
      </p:pic>
    </p:spTree>
    <p:extLst>
      <p:ext uri="{BB962C8B-B14F-4D97-AF65-F5344CB8AC3E}">
        <p14:creationId xmlns:p14="http://schemas.microsoft.com/office/powerpoint/2010/main" val="1638958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6290-45F6-29F2-C1D5-3145EBE5ECF1}"/>
              </a:ext>
            </a:extLst>
          </p:cNvPr>
          <p:cNvSpPr>
            <a:spLocks noGrp="1"/>
          </p:cNvSpPr>
          <p:nvPr>
            <p:ph type="title"/>
          </p:nvPr>
        </p:nvSpPr>
        <p:spPr/>
        <p:txBody>
          <a:bodyPr/>
          <a:lstStyle/>
          <a:p>
            <a:r>
              <a:rPr lang="en-US" dirty="0"/>
              <a:t>Natasha’s Response</a:t>
            </a:r>
          </a:p>
        </p:txBody>
      </p:sp>
      <p:sp>
        <p:nvSpPr>
          <p:cNvPr id="3" name="Content Placeholder 2">
            <a:extLst>
              <a:ext uri="{FF2B5EF4-FFF2-40B4-BE49-F238E27FC236}">
                <a16:creationId xmlns:a16="http://schemas.microsoft.com/office/drawing/2014/main" id="{AC43A6B3-8B1D-E123-B207-FE986724C9AD}"/>
              </a:ext>
            </a:extLst>
          </p:cNvPr>
          <p:cNvSpPr>
            <a:spLocks noGrp="1"/>
          </p:cNvSpPr>
          <p:nvPr>
            <p:ph idx="1"/>
          </p:nvPr>
        </p:nvSpPr>
        <p:spPr>
          <a:xfrm>
            <a:off x="838200" y="1825625"/>
            <a:ext cx="10721196" cy="4592428"/>
          </a:xfrm>
        </p:spPr>
        <p:txBody>
          <a:bodyPr>
            <a:normAutofit fontScale="62500" lnSpcReduction="20000"/>
          </a:bodyPr>
          <a:lstStyle/>
          <a:p>
            <a:r>
              <a:rPr lang="en-US" dirty="0"/>
              <a:t>At a minimum we have to be PCI compliant, HIPAA compliant, NIST, FISMA, and OCC Compliant and most of that is related to data in transit and on the edges. We will provide a list.</a:t>
            </a:r>
          </a:p>
          <a:p>
            <a:r>
              <a:rPr lang="en-US" dirty="0"/>
              <a:t>We have an application Enterprise(9) Logging Requirement which requires a lot of additional actions in the clients which you probably never seen before. This is 9 groups -&gt; 13 groups of Log files for audit.</a:t>
            </a:r>
          </a:p>
          <a:p>
            <a:r>
              <a:rPr lang="en-US" dirty="0"/>
              <a:t>Your App has to be installed into the corporate Active Directory with users who have SSO access. This requires them to be onboarded and 2 factor authentication enabled. If you need social logins we have a process to do that but it takes more time.</a:t>
            </a:r>
          </a:p>
          <a:p>
            <a:r>
              <a:rPr lang="en-US" dirty="0"/>
              <a:t>Clients, Servers and Networks have to be in line with existing standards and shared services using banded images, and have to be registered and fully managed in Operations before we can do even pilot testing. Your apps will not go on any LANS/WANS before every image is compliant.</a:t>
            </a:r>
          </a:p>
          <a:p>
            <a:r>
              <a:rPr lang="en-US" dirty="0"/>
              <a:t>We have two compliant DBMS platforms, Oracle or MS-SQL in production for replication purposes to the three DC’s. You cannot use MySQL or SQLite in production so don’t waste time with them.</a:t>
            </a:r>
          </a:p>
          <a:p>
            <a:r>
              <a:rPr lang="en-US" dirty="0"/>
              <a:t>MSSQL server does have a local product if you need flat file support so that’s our recommendation if you cant put a local Oracle/MSSQL server on your local </a:t>
            </a:r>
            <a:r>
              <a:rPr lang="en-US" dirty="0" err="1"/>
              <a:t>lan</a:t>
            </a:r>
            <a:r>
              <a:rPr lang="en-US" dirty="0"/>
              <a:t>.</a:t>
            </a:r>
          </a:p>
          <a:p>
            <a:r>
              <a:rPr lang="en-US" dirty="0"/>
              <a:t>Entity Framework has never been used at Cocky Financial we have been using Oracle OCI drivers on Enterprise Workstations, and when remote access is required, we run the same apps on Citrix VDI servers over VPN appliances. This is a new Data Architecture.</a:t>
            </a:r>
          </a:p>
          <a:p>
            <a:pPr lvl="1"/>
            <a:r>
              <a:rPr lang="en-US" b="1" dirty="0"/>
              <a:t>We Therefore need a new API Audit Tool</a:t>
            </a:r>
          </a:p>
          <a:p>
            <a:pPr lvl="1"/>
            <a:r>
              <a:rPr lang="en-US" b="1" dirty="0"/>
              <a:t>We Therefore need a new API Billing Modification to Handle Usage Based API Billing.</a:t>
            </a:r>
          </a:p>
        </p:txBody>
      </p:sp>
    </p:spTree>
    <p:extLst>
      <p:ext uri="{BB962C8B-B14F-4D97-AF65-F5344CB8AC3E}">
        <p14:creationId xmlns:p14="http://schemas.microsoft.com/office/powerpoint/2010/main" val="3923787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9591AB7-0D2A-8171-1645-F84B80F72E76}"/>
              </a:ext>
            </a:extLst>
          </p:cNvPr>
          <p:cNvSpPr/>
          <p:nvPr/>
        </p:nvSpPr>
        <p:spPr>
          <a:xfrm>
            <a:off x="8704053" y="1518249"/>
            <a:ext cx="3364302" cy="425282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Existing</a:t>
            </a:r>
          </a:p>
          <a:p>
            <a:pPr algn="ctr"/>
            <a:r>
              <a:rPr lang="en-US" dirty="0"/>
              <a:t>ILEC SONET Extensions</a:t>
            </a:r>
          </a:p>
        </p:txBody>
      </p:sp>
      <p:sp>
        <p:nvSpPr>
          <p:cNvPr id="2" name="Title 1">
            <a:extLst>
              <a:ext uri="{FF2B5EF4-FFF2-40B4-BE49-F238E27FC236}">
                <a16:creationId xmlns:a16="http://schemas.microsoft.com/office/drawing/2014/main" id="{B1C75AA6-C0DE-AB68-7B07-828963EC212B}"/>
              </a:ext>
            </a:extLst>
          </p:cNvPr>
          <p:cNvSpPr>
            <a:spLocks noGrp="1"/>
          </p:cNvSpPr>
          <p:nvPr>
            <p:ph type="title"/>
          </p:nvPr>
        </p:nvSpPr>
        <p:spPr/>
        <p:txBody>
          <a:bodyPr/>
          <a:lstStyle/>
          <a:p>
            <a:r>
              <a:rPr lang="en-US" dirty="0" err="1"/>
              <a:t>Igors</a:t>
            </a:r>
            <a:r>
              <a:rPr lang="en-US" dirty="0"/>
              <a:t> Response….</a:t>
            </a:r>
          </a:p>
        </p:txBody>
      </p:sp>
      <p:sp>
        <p:nvSpPr>
          <p:cNvPr id="3" name="Content Placeholder 2">
            <a:extLst>
              <a:ext uri="{FF2B5EF4-FFF2-40B4-BE49-F238E27FC236}">
                <a16:creationId xmlns:a16="http://schemas.microsoft.com/office/drawing/2014/main" id="{50E89E5B-CD6E-055D-57D6-03A2E6390DAB}"/>
              </a:ext>
            </a:extLst>
          </p:cNvPr>
          <p:cNvSpPr>
            <a:spLocks noGrp="1"/>
          </p:cNvSpPr>
          <p:nvPr>
            <p:ph idx="1"/>
          </p:nvPr>
        </p:nvSpPr>
        <p:spPr>
          <a:xfrm>
            <a:off x="415506" y="1457864"/>
            <a:ext cx="8324487" cy="5266209"/>
          </a:xfrm>
        </p:spPr>
        <p:txBody>
          <a:bodyPr>
            <a:normAutofit fontScale="55000" lnSpcReduction="20000"/>
          </a:bodyPr>
          <a:lstStyle/>
          <a:p>
            <a:r>
              <a:rPr lang="en-US" dirty="0"/>
              <a:t>Datacenters, SANS, and DBMS for Shared Services are available at all production targets. We offer bare metal installations for good servers we can charge you for….</a:t>
            </a:r>
          </a:p>
          <a:p>
            <a:r>
              <a:rPr lang="en-US" dirty="0"/>
              <a:t>We can extend to ILEC DC’s in the same cities if its required. You can use ATT/VZ/CTL local rings to reach us in market. If you do however we have to buy SONET encryptors for each new suite we add to these extended services.</a:t>
            </a:r>
          </a:p>
          <a:p>
            <a:r>
              <a:rPr lang="en-US" dirty="0"/>
              <a:t>All Architectural Standards have to be supported by a Laboratory Program.</a:t>
            </a:r>
          </a:p>
          <a:p>
            <a:r>
              <a:rPr lang="en-US" dirty="0"/>
              <a:t>We have several problems:</a:t>
            </a:r>
          </a:p>
          <a:p>
            <a:pPr marL="914400" lvl="1" indent="-457200">
              <a:buFont typeface="+mj-lt"/>
              <a:buAutoNum type="arabicPeriod"/>
            </a:pPr>
            <a:r>
              <a:rPr lang="en-US" dirty="0"/>
              <a:t>We need to understand options to Encrypt Client-Server Traffic which will require a new architecture.</a:t>
            </a:r>
          </a:p>
          <a:p>
            <a:pPr marL="914400" lvl="1" indent="-457200">
              <a:buFont typeface="+mj-lt"/>
              <a:buAutoNum type="arabicPeriod"/>
            </a:pPr>
            <a:r>
              <a:rPr lang="en-US" dirty="0"/>
              <a:t>We need to understand how traffic flows will change when we run to REST Backoffice APIs versus thick clients to Databases directly over OCI. This will also require a new architecture.</a:t>
            </a:r>
          </a:p>
          <a:p>
            <a:pPr marL="914400" lvl="1" indent="-457200">
              <a:buFont typeface="+mj-lt"/>
              <a:buAutoNum type="arabicPeriod"/>
            </a:pPr>
            <a:r>
              <a:rPr lang="en-US" dirty="0"/>
              <a:t>We need to build a new Audit Architecture for API Endpoints which we can track, and we need to be able to usage based bill API tools.</a:t>
            </a:r>
          </a:p>
          <a:p>
            <a:pPr marL="914400" lvl="1" indent="-457200">
              <a:buFont typeface="+mj-lt"/>
              <a:buAutoNum type="arabicPeriod"/>
            </a:pPr>
            <a:r>
              <a:rPr lang="en-US" dirty="0"/>
              <a:t>You have identified you want to use REACT vs .ASPX pages and this means we have to review Page Level Security and Field Level Security using non-Microsoft tools.</a:t>
            </a:r>
          </a:p>
          <a:p>
            <a:pPr marL="914400" lvl="1" indent="-457200">
              <a:buFont typeface="+mj-lt"/>
              <a:buAutoNum type="arabicPeriod"/>
            </a:pPr>
            <a:r>
              <a:rPr lang="en-US" dirty="0"/>
              <a:t>We have to add Alarm points to the new API Endpoints so we can manage them.</a:t>
            </a:r>
          </a:p>
          <a:p>
            <a:pPr marL="914400" lvl="1" indent="-457200">
              <a:buFont typeface="+mj-lt"/>
              <a:buAutoNum type="arabicPeriod"/>
            </a:pPr>
            <a:r>
              <a:rPr lang="en-US" dirty="0"/>
              <a:t>We have to “Color” the traffic going into the new API service platforms so we can report on traffic changes and plan for network upgrades.</a:t>
            </a:r>
          </a:p>
          <a:p>
            <a:pPr marL="914400" lvl="1" indent="-457200">
              <a:buFont typeface="+mj-lt"/>
              <a:buAutoNum type="arabicPeriod"/>
            </a:pPr>
            <a:r>
              <a:rPr lang="en-US" dirty="0"/>
              <a:t>The Simulated Order to Portfolio process WILL REQUIRE COMPLEX NESTED JSON POSTS. (CG Posts).</a:t>
            </a:r>
          </a:p>
          <a:p>
            <a:pPr marL="914400" lvl="1" indent="-457200">
              <a:buFont typeface="+mj-lt"/>
              <a:buAutoNum type="arabicPeriod"/>
            </a:pPr>
            <a:r>
              <a:rPr lang="en-US" dirty="0"/>
              <a:t>We would like to have a Keyless Cipher System which cant be broken.</a:t>
            </a:r>
          </a:p>
          <a:p>
            <a:r>
              <a:rPr lang="en-US" dirty="0"/>
              <a:t>Of course all other operational parameters are mostly covered by our bare metal solutions which are prewired with the right cross-connects, LDX panels, and minutiae you don’t care about all that much.</a:t>
            </a:r>
          </a:p>
          <a:p>
            <a:pPr marL="0" indent="0">
              <a:buNone/>
            </a:pPr>
            <a:endParaRPr lang="en-US" dirty="0"/>
          </a:p>
        </p:txBody>
      </p:sp>
      <p:sp>
        <p:nvSpPr>
          <p:cNvPr id="4" name="Oval 3">
            <a:extLst>
              <a:ext uri="{FF2B5EF4-FFF2-40B4-BE49-F238E27FC236}">
                <a16:creationId xmlns:a16="http://schemas.microsoft.com/office/drawing/2014/main" id="{166746C3-6A76-BFF4-2CDE-60054FC810F9}"/>
              </a:ext>
            </a:extLst>
          </p:cNvPr>
          <p:cNvSpPr/>
          <p:nvPr/>
        </p:nvSpPr>
        <p:spPr>
          <a:xfrm>
            <a:off x="9031856" y="1211877"/>
            <a:ext cx="2744637" cy="9576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Corporate DC</a:t>
            </a:r>
          </a:p>
        </p:txBody>
      </p:sp>
      <p:sp>
        <p:nvSpPr>
          <p:cNvPr id="6" name="Oval 5">
            <a:extLst>
              <a:ext uri="{FF2B5EF4-FFF2-40B4-BE49-F238E27FC236}">
                <a16:creationId xmlns:a16="http://schemas.microsoft.com/office/drawing/2014/main" id="{443780BA-7B97-219C-78A7-FAB53995E3AB}"/>
              </a:ext>
            </a:extLst>
          </p:cNvPr>
          <p:cNvSpPr/>
          <p:nvPr/>
        </p:nvSpPr>
        <p:spPr>
          <a:xfrm>
            <a:off x="9031856" y="5107709"/>
            <a:ext cx="1174326" cy="10529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VZ</a:t>
            </a:r>
          </a:p>
        </p:txBody>
      </p:sp>
      <p:sp>
        <p:nvSpPr>
          <p:cNvPr id="7" name="Oval 6">
            <a:extLst>
              <a:ext uri="{FF2B5EF4-FFF2-40B4-BE49-F238E27FC236}">
                <a16:creationId xmlns:a16="http://schemas.microsoft.com/office/drawing/2014/main" id="{D87608AA-8361-5D03-8D2E-45CB85582BB7}"/>
              </a:ext>
            </a:extLst>
          </p:cNvPr>
          <p:cNvSpPr/>
          <p:nvPr/>
        </p:nvSpPr>
        <p:spPr>
          <a:xfrm>
            <a:off x="10492509" y="5107709"/>
            <a:ext cx="1025236" cy="10529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ATT</a:t>
            </a:r>
          </a:p>
        </p:txBody>
      </p:sp>
      <p:sp>
        <p:nvSpPr>
          <p:cNvPr id="9" name="TextBox 8">
            <a:extLst>
              <a:ext uri="{FF2B5EF4-FFF2-40B4-BE49-F238E27FC236}">
                <a16:creationId xmlns:a16="http://schemas.microsoft.com/office/drawing/2014/main" id="{4CC64118-0513-FBF6-7306-6E5FCE140B5F}"/>
              </a:ext>
            </a:extLst>
          </p:cNvPr>
          <p:cNvSpPr txBox="1"/>
          <p:nvPr/>
        </p:nvSpPr>
        <p:spPr>
          <a:xfrm>
            <a:off x="415506" y="5934974"/>
            <a:ext cx="8452449" cy="646331"/>
          </a:xfrm>
          <a:prstGeom prst="rect">
            <a:avLst/>
          </a:prstGeom>
          <a:noFill/>
        </p:spPr>
        <p:txBody>
          <a:bodyPr wrap="square" rtlCol="0">
            <a:spAutoFit/>
          </a:bodyPr>
          <a:lstStyle/>
          <a:p>
            <a:r>
              <a:rPr lang="en-US" dirty="0">
                <a:solidFill>
                  <a:srgbClr val="FF0000"/>
                </a:solidFill>
              </a:rPr>
              <a:t>IGOR HAS OUTLINED 8 GENERAL ARCHITECTURE DOCUMENTS WHICH NEED TO BE CREATED AND DON’T EXIST TO GO TO PRODUCTION.</a:t>
            </a:r>
          </a:p>
        </p:txBody>
      </p:sp>
    </p:spTree>
    <p:extLst>
      <p:ext uri="{BB962C8B-B14F-4D97-AF65-F5344CB8AC3E}">
        <p14:creationId xmlns:p14="http://schemas.microsoft.com/office/powerpoint/2010/main" val="3122200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31ED8-EB61-F6E5-D342-4F265F2481B7}"/>
              </a:ext>
            </a:extLst>
          </p:cNvPr>
          <p:cNvSpPr>
            <a:spLocks noGrp="1"/>
          </p:cNvSpPr>
          <p:nvPr>
            <p:ph type="title"/>
          </p:nvPr>
        </p:nvSpPr>
        <p:spPr>
          <a:xfrm>
            <a:off x="302491" y="214493"/>
            <a:ext cx="10515600" cy="1325563"/>
          </a:xfrm>
        </p:spPr>
        <p:txBody>
          <a:bodyPr>
            <a:normAutofit/>
          </a:bodyPr>
          <a:lstStyle/>
          <a:p>
            <a:r>
              <a:rPr lang="en-US" sz="3600" dirty="0" err="1"/>
              <a:t>Lindas</a:t>
            </a:r>
            <a:r>
              <a:rPr lang="en-US" sz="3600" dirty="0"/>
              <a:t> Review of App Status </a:t>
            </a:r>
            <a:br>
              <a:rPr lang="en-US" sz="3600" dirty="0"/>
            </a:br>
            <a:r>
              <a:rPr lang="en-US" sz="3600" dirty="0"/>
              <a:t>&amp; NextGen GWIM Business Requirements</a:t>
            </a:r>
          </a:p>
        </p:txBody>
      </p:sp>
      <p:sp>
        <p:nvSpPr>
          <p:cNvPr id="3" name="Content Placeholder 2">
            <a:extLst>
              <a:ext uri="{FF2B5EF4-FFF2-40B4-BE49-F238E27FC236}">
                <a16:creationId xmlns:a16="http://schemas.microsoft.com/office/drawing/2014/main" id="{EF9EBB91-2867-0980-055F-9F8593832364}"/>
              </a:ext>
            </a:extLst>
          </p:cNvPr>
          <p:cNvSpPr>
            <a:spLocks noGrp="1"/>
          </p:cNvSpPr>
          <p:nvPr>
            <p:ph idx="1"/>
          </p:nvPr>
        </p:nvSpPr>
        <p:spPr>
          <a:xfrm>
            <a:off x="432758" y="1690688"/>
            <a:ext cx="7305136" cy="4351338"/>
          </a:xfrm>
        </p:spPr>
        <p:txBody>
          <a:bodyPr>
            <a:normAutofit/>
          </a:bodyPr>
          <a:lstStyle/>
          <a:p>
            <a:pPr marL="0" indent="0">
              <a:buNone/>
            </a:pPr>
            <a:r>
              <a:rPr lang="en-US" dirty="0"/>
              <a:t>1)Gen1/Gen2 </a:t>
            </a:r>
          </a:p>
          <a:p>
            <a:pPr lvl="1"/>
            <a:r>
              <a:rPr lang="en-US" sz="1400" dirty="0"/>
              <a:t>FRONTOFFICE - UI Features</a:t>
            </a:r>
          </a:p>
          <a:p>
            <a:pPr lvl="2"/>
            <a:r>
              <a:rPr lang="en-US" sz="1000" dirty="0"/>
              <a:t>Missing the Ability to Take a Proposal And Prepare a Trading List Work Order.</a:t>
            </a:r>
          </a:p>
          <a:p>
            <a:pPr lvl="2"/>
            <a:r>
              <a:rPr lang="en-US" sz="1000" dirty="0"/>
              <a:t>Missing the Role of Trader to review work orders.</a:t>
            </a:r>
          </a:p>
          <a:p>
            <a:pPr lvl="2"/>
            <a:r>
              <a:rPr lang="en-US" sz="1000" dirty="0"/>
              <a:t>Missing Customer Portfolios And Simulated Executions at Market.</a:t>
            </a:r>
          </a:p>
          <a:p>
            <a:pPr lvl="2"/>
            <a:r>
              <a:rPr lang="en-US" sz="1000" dirty="0"/>
              <a:t>These APP requirements are modest using AI Tools to assist as the DB upgrades were done by Sprint1.</a:t>
            </a:r>
          </a:p>
          <a:p>
            <a:pPr lvl="1"/>
            <a:r>
              <a:rPr lang="en-US" sz="1400" dirty="0"/>
              <a:t>GAPS -&gt; Two additional Workflows</a:t>
            </a:r>
          </a:p>
          <a:p>
            <a:pPr lvl="2"/>
            <a:r>
              <a:rPr lang="en-US" sz="1000" dirty="0"/>
              <a:t>A Trader Needs to Be Able to Accept a work Order or send it back to the Analyst for changes with comments.</a:t>
            </a:r>
          </a:p>
          <a:p>
            <a:pPr lvl="2"/>
            <a:r>
              <a:rPr lang="en-US" sz="1000" dirty="0"/>
              <a:t>The completed work orders when then show for the customer to view his execution price, and total investments.</a:t>
            </a:r>
          </a:p>
          <a:p>
            <a:pPr lvl="2"/>
            <a:r>
              <a:rPr lang="en-US" sz="1000" dirty="0"/>
              <a:t>The good news…. Is Analysts are completely responsible for customer work orders. In other words carrying out their work isn’t trivial but its within the capabilities of most business majors with a few months training OR 4 Data Scientists no problem.</a:t>
            </a:r>
          </a:p>
          <a:p>
            <a:pPr lvl="1"/>
            <a:r>
              <a:rPr lang="en-US" sz="1400" dirty="0"/>
              <a:t>BACKOFFICE</a:t>
            </a:r>
          </a:p>
          <a:p>
            <a:pPr lvl="2"/>
            <a:r>
              <a:rPr lang="en-US" sz="1000" dirty="0">
                <a:solidFill>
                  <a:schemeClr val="accent6">
                    <a:lumMod val="75000"/>
                  </a:schemeClr>
                </a:solidFill>
              </a:rPr>
              <a:t>The Database was upgraded for Gen3 to meet these extra requirements -&gt; COMPLETE</a:t>
            </a:r>
          </a:p>
          <a:p>
            <a:pPr lvl="2"/>
            <a:r>
              <a:rPr lang="en-US" sz="1000" dirty="0"/>
              <a:t>Cocky Investments Needs A Trader Work Screen, and the Ability to accept a Plan. This would then make a complex CG Southbound Post for the workorder. (Trade Order is up to 100 securities at Market Price for simplicity) -&gt; Simulate Purchase-&gt; Simulate the Customer </a:t>
            </a:r>
            <a:r>
              <a:rPr lang="en-US" sz="1000" dirty="0" err="1"/>
              <a:t>Portofolio</a:t>
            </a:r>
            <a:r>
              <a:rPr lang="en-US" sz="1000" dirty="0"/>
              <a:t>.</a:t>
            </a:r>
          </a:p>
          <a:p>
            <a:pPr lvl="2"/>
            <a:r>
              <a:rPr lang="en-US" sz="1000" dirty="0"/>
              <a:t>We are discussing a Modified Trader Post in a similar form of the Bikes Reservation Posting System.</a:t>
            </a:r>
          </a:p>
        </p:txBody>
      </p:sp>
      <p:pic>
        <p:nvPicPr>
          <p:cNvPr id="5" name="Picture 4">
            <a:extLst>
              <a:ext uri="{FF2B5EF4-FFF2-40B4-BE49-F238E27FC236}">
                <a16:creationId xmlns:a16="http://schemas.microsoft.com/office/drawing/2014/main" id="{92AB8DDD-035C-2177-E298-2BD58327E32B}"/>
              </a:ext>
            </a:extLst>
          </p:cNvPr>
          <p:cNvPicPr>
            <a:picLocks noChangeAspect="1"/>
          </p:cNvPicPr>
          <p:nvPr/>
        </p:nvPicPr>
        <p:blipFill>
          <a:blip r:embed="rId2"/>
          <a:stretch>
            <a:fillRect/>
          </a:stretch>
        </p:blipFill>
        <p:spPr>
          <a:xfrm>
            <a:off x="8058968" y="3985493"/>
            <a:ext cx="3700274" cy="2277284"/>
          </a:xfrm>
          <a:prstGeom prst="rect">
            <a:avLst/>
          </a:prstGeom>
        </p:spPr>
      </p:pic>
      <p:pic>
        <p:nvPicPr>
          <p:cNvPr id="9" name="Picture 8">
            <a:extLst>
              <a:ext uri="{FF2B5EF4-FFF2-40B4-BE49-F238E27FC236}">
                <a16:creationId xmlns:a16="http://schemas.microsoft.com/office/drawing/2014/main" id="{17BBB513-ECD1-68E0-E957-75553B2B27AE}"/>
              </a:ext>
            </a:extLst>
          </p:cNvPr>
          <p:cNvPicPr>
            <a:picLocks noChangeAspect="1"/>
          </p:cNvPicPr>
          <p:nvPr/>
        </p:nvPicPr>
        <p:blipFill>
          <a:blip r:embed="rId3"/>
          <a:stretch>
            <a:fillRect/>
          </a:stretch>
        </p:blipFill>
        <p:spPr>
          <a:xfrm>
            <a:off x="8058968" y="1325938"/>
            <a:ext cx="3700274" cy="2210892"/>
          </a:xfrm>
          <a:prstGeom prst="rect">
            <a:avLst/>
          </a:prstGeom>
        </p:spPr>
      </p:pic>
    </p:spTree>
    <p:extLst>
      <p:ext uri="{BB962C8B-B14F-4D97-AF65-F5344CB8AC3E}">
        <p14:creationId xmlns:p14="http://schemas.microsoft.com/office/powerpoint/2010/main" val="611041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FFDF45-8068-CB7B-C94C-9B1B5017CE7F}"/>
              </a:ext>
            </a:extLst>
          </p:cNvPr>
          <p:cNvSpPr>
            <a:spLocks noGrp="1"/>
          </p:cNvSpPr>
          <p:nvPr>
            <p:ph type="title"/>
          </p:nvPr>
        </p:nvSpPr>
        <p:spPr/>
        <p:txBody>
          <a:bodyPr/>
          <a:lstStyle/>
          <a:p>
            <a:r>
              <a:rPr lang="en-US" dirty="0"/>
              <a:t>Product Cycle Requirements</a:t>
            </a:r>
          </a:p>
        </p:txBody>
      </p:sp>
      <p:sp>
        <p:nvSpPr>
          <p:cNvPr id="5" name="Content Placeholder 4">
            <a:extLst>
              <a:ext uri="{FF2B5EF4-FFF2-40B4-BE49-F238E27FC236}">
                <a16:creationId xmlns:a16="http://schemas.microsoft.com/office/drawing/2014/main" id="{1116CCF3-83B9-860B-8B8A-DA2FA0946EDF}"/>
              </a:ext>
            </a:extLst>
          </p:cNvPr>
          <p:cNvSpPr>
            <a:spLocks noGrp="1"/>
          </p:cNvSpPr>
          <p:nvPr>
            <p:ph idx="1"/>
          </p:nvPr>
        </p:nvSpPr>
        <p:spPr/>
        <p:txBody>
          <a:bodyPr>
            <a:normAutofit fontScale="77500" lnSpcReduction="20000"/>
          </a:bodyPr>
          <a:lstStyle/>
          <a:p>
            <a:r>
              <a:rPr lang="en-US" dirty="0"/>
              <a:t>Linda Must Generate For Natasha and Igor-&gt;</a:t>
            </a:r>
          </a:p>
          <a:p>
            <a:pPr lvl="1"/>
            <a:r>
              <a:rPr lang="en-US" dirty="0"/>
              <a:t>Business Requirements Documents</a:t>
            </a:r>
          </a:p>
          <a:p>
            <a:pPr lvl="1"/>
            <a:r>
              <a:rPr lang="en-US" dirty="0"/>
              <a:t>Straw Man on Operational Plan.</a:t>
            </a:r>
          </a:p>
          <a:p>
            <a:pPr lvl="1"/>
            <a:r>
              <a:rPr lang="en-US" dirty="0"/>
              <a:t>Sales Guide Slick Sheets</a:t>
            </a:r>
          </a:p>
          <a:p>
            <a:pPr lvl="1"/>
            <a:r>
              <a:rPr lang="en-US" dirty="0"/>
              <a:t>Pricing Model</a:t>
            </a:r>
          </a:p>
          <a:p>
            <a:pPr lvl="1"/>
            <a:r>
              <a:rPr lang="en-US" dirty="0"/>
              <a:t>Competitive Analysis</a:t>
            </a:r>
          </a:p>
          <a:p>
            <a:r>
              <a:rPr lang="en-US" dirty="0"/>
              <a:t>Natasha and Igor</a:t>
            </a:r>
          </a:p>
          <a:p>
            <a:pPr lvl="1"/>
            <a:r>
              <a:rPr lang="en-US" dirty="0"/>
              <a:t>Have to Attend All Product Meetings</a:t>
            </a:r>
          </a:p>
          <a:p>
            <a:pPr lvl="1"/>
            <a:r>
              <a:rPr lang="en-US" dirty="0"/>
              <a:t>Have to Submit SOW and Cost Estimates to the Team.</a:t>
            </a:r>
          </a:p>
          <a:p>
            <a:pPr lvl="1"/>
            <a:r>
              <a:rPr lang="en-US" dirty="0"/>
              <a:t>Have to Submit an Architectural Plan for Each New Technology Component, and Reference existing ones in production where necessary.</a:t>
            </a:r>
          </a:p>
          <a:p>
            <a:pPr lvl="1"/>
            <a:r>
              <a:rPr lang="en-US" dirty="0"/>
              <a:t>Provide Min Requirements For Pilots</a:t>
            </a:r>
          </a:p>
          <a:p>
            <a:pPr lvl="1"/>
            <a:r>
              <a:rPr lang="en-US" dirty="0"/>
              <a:t>Provide Min Requirements For Security</a:t>
            </a:r>
          </a:p>
          <a:p>
            <a:pPr lvl="1"/>
            <a:r>
              <a:rPr lang="en-US" dirty="0"/>
              <a:t>Price Everything In Small Batches to Extreme Loads In Line with Other Products</a:t>
            </a:r>
          </a:p>
          <a:p>
            <a:r>
              <a:rPr lang="en-US" dirty="0"/>
              <a:t>Linda Then Must Prepare a Business Case for the Executive Stakeholders.</a:t>
            </a:r>
          </a:p>
        </p:txBody>
      </p:sp>
    </p:spTree>
    <p:extLst>
      <p:ext uri="{BB962C8B-B14F-4D97-AF65-F5344CB8AC3E}">
        <p14:creationId xmlns:p14="http://schemas.microsoft.com/office/powerpoint/2010/main" val="1318909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843D-F5E5-2444-4BDD-922B3FF883DC}"/>
              </a:ext>
            </a:extLst>
          </p:cNvPr>
          <p:cNvSpPr>
            <a:spLocks noGrp="1"/>
          </p:cNvSpPr>
          <p:nvPr>
            <p:ph type="title"/>
          </p:nvPr>
        </p:nvSpPr>
        <p:spPr/>
        <p:txBody>
          <a:bodyPr/>
          <a:lstStyle/>
          <a:p>
            <a:r>
              <a:rPr lang="en-US" dirty="0"/>
              <a:t>Stakeholders Meeting (Sprint2) – Oct16</a:t>
            </a:r>
          </a:p>
        </p:txBody>
      </p:sp>
      <p:sp>
        <p:nvSpPr>
          <p:cNvPr id="3" name="Content Placeholder 2">
            <a:extLst>
              <a:ext uri="{FF2B5EF4-FFF2-40B4-BE49-F238E27FC236}">
                <a16:creationId xmlns:a16="http://schemas.microsoft.com/office/drawing/2014/main" id="{5705CD08-2346-B322-25D8-52B59BB18C3B}"/>
              </a:ext>
            </a:extLst>
          </p:cNvPr>
          <p:cNvSpPr>
            <a:spLocks noGrp="1"/>
          </p:cNvSpPr>
          <p:nvPr>
            <p:ph idx="1"/>
          </p:nvPr>
        </p:nvSpPr>
        <p:spPr/>
        <p:txBody>
          <a:bodyPr>
            <a:normAutofit fontScale="92500" lnSpcReduction="10000"/>
          </a:bodyPr>
          <a:lstStyle/>
          <a:p>
            <a:r>
              <a:rPr lang="en-US" dirty="0"/>
              <a:t>Bob &amp; Linda -&gt; Present To Senior Management</a:t>
            </a:r>
          </a:p>
          <a:p>
            <a:pPr lvl="1"/>
            <a:r>
              <a:rPr lang="en-US" dirty="0"/>
              <a:t>Dr. Hitchcock is the COO. He is Bob &amp; Linda’s boss.</a:t>
            </a:r>
          </a:p>
          <a:p>
            <a:pPr lvl="1"/>
            <a:r>
              <a:rPr lang="en-US" dirty="0"/>
              <a:t>Dr. </a:t>
            </a:r>
            <a:r>
              <a:rPr lang="en-US" dirty="0" err="1"/>
              <a:t>Fenner</a:t>
            </a:r>
            <a:r>
              <a:rPr lang="en-US" dirty="0"/>
              <a:t> is the CTO. Igor works for Dr. </a:t>
            </a:r>
            <a:r>
              <a:rPr lang="en-US" dirty="0" err="1"/>
              <a:t>Fenner</a:t>
            </a:r>
            <a:r>
              <a:rPr lang="en-US" dirty="0"/>
              <a:t>.</a:t>
            </a:r>
          </a:p>
          <a:p>
            <a:pPr lvl="1"/>
            <a:r>
              <a:rPr lang="en-US" dirty="0"/>
              <a:t>Dr. Huang is Chief Legal &amp; Compliance Officer. Natasha is his employee.</a:t>
            </a:r>
          </a:p>
          <a:p>
            <a:endParaRPr lang="en-US" dirty="0"/>
          </a:p>
          <a:p>
            <a:r>
              <a:rPr lang="en-US" dirty="0"/>
              <a:t>They need to be satisfied that the product development process is followed, they have all the documentation, the app works in lower security modes. They need to understand the major engineering tasks to move to production, and to operational standards.</a:t>
            </a:r>
          </a:p>
          <a:p>
            <a:r>
              <a:rPr lang="en-US" dirty="0"/>
              <a:t>RBOCs call this a MRB. It usually has to be finished to a high degree of completion to get to move to pilot.</a:t>
            </a:r>
          </a:p>
        </p:txBody>
      </p:sp>
    </p:spTree>
    <p:extLst>
      <p:ext uri="{BB962C8B-B14F-4D97-AF65-F5344CB8AC3E}">
        <p14:creationId xmlns:p14="http://schemas.microsoft.com/office/powerpoint/2010/main" val="2375737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D334A-09C9-8B71-494C-720520045B77}"/>
              </a:ext>
            </a:extLst>
          </p:cNvPr>
          <p:cNvSpPr>
            <a:spLocks noGrp="1"/>
          </p:cNvSpPr>
          <p:nvPr>
            <p:ph type="title"/>
          </p:nvPr>
        </p:nvSpPr>
        <p:spPr/>
        <p:txBody>
          <a:bodyPr/>
          <a:lstStyle/>
          <a:p>
            <a:r>
              <a:rPr lang="en-US" dirty="0"/>
              <a:t>From Bikes To Market Payloads</a:t>
            </a:r>
          </a:p>
        </p:txBody>
      </p:sp>
      <p:sp>
        <p:nvSpPr>
          <p:cNvPr id="3" name="Content Placeholder 2">
            <a:extLst>
              <a:ext uri="{FF2B5EF4-FFF2-40B4-BE49-F238E27FC236}">
                <a16:creationId xmlns:a16="http://schemas.microsoft.com/office/drawing/2014/main" id="{35814A3C-EA67-82F3-1D8A-59F6C44955DE}"/>
              </a:ext>
            </a:extLst>
          </p:cNvPr>
          <p:cNvSpPr>
            <a:spLocks noGrp="1"/>
          </p:cNvSpPr>
          <p:nvPr>
            <p:ph idx="1"/>
          </p:nvPr>
        </p:nvSpPr>
        <p:spPr>
          <a:xfrm>
            <a:off x="736600" y="1437997"/>
            <a:ext cx="7058891" cy="4351338"/>
          </a:xfrm>
        </p:spPr>
        <p:txBody>
          <a:bodyPr>
            <a:normAutofit fontScale="77500" lnSpcReduction="20000"/>
          </a:bodyPr>
          <a:lstStyle/>
          <a:p>
            <a:r>
              <a:rPr lang="en-US" sz="2000" dirty="0"/>
              <a:t>CGNB Post </a:t>
            </a:r>
          </a:p>
          <a:p>
            <a:pPr lvl="1"/>
            <a:r>
              <a:rPr lang="en-US" sz="2000" dirty="0"/>
              <a:t>(App Setup, All Users, Roles, Products, Encryption Types, </a:t>
            </a:r>
            <a:r>
              <a:rPr lang="en-US" sz="2000" dirty="0" err="1"/>
              <a:t>NetInfo</a:t>
            </a:r>
            <a:r>
              <a:rPr lang="en-US" sz="2000" dirty="0"/>
              <a:t>, </a:t>
            </a:r>
            <a:r>
              <a:rPr lang="en-US" sz="2000" dirty="0" err="1"/>
              <a:t>etc</a:t>
            </a:r>
            <a:r>
              <a:rPr lang="en-US" sz="2000" dirty="0"/>
              <a:t>)</a:t>
            </a:r>
          </a:p>
          <a:p>
            <a:r>
              <a:rPr lang="en-US" sz="2000" dirty="0"/>
              <a:t>CGSB Post</a:t>
            </a:r>
          </a:p>
          <a:p>
            <a:pPr lvl="1"/>
            <a:r>
              <a:rPr lang="en-US" sz="2000" dirty="0"/>
              <a:t>(Reservations, Financial Transactions, Credit Cards, Calendar Updates, Park Capacity Updates).</a:t>
            </a:r>
          </a:p>
          <a:p>
            <a:pPr lvl="1"/>
            <a:endParaRPr lang="en-US" sz="2000" dirty="0"/>
          </a:p>
          <a:p>
            <a:r>
              <a:rPr lang="en-US" sz="2000" dirty="0"/>
              <a:t>CFNB Post</a:t>
            </a:r>
          </a:p>
          <a:p>
            <a:pPr lvl="1"/>
            <a:r>
              <a:rPr lang="en-US" sz="2000" dirty="0"/>
              <a:t>(User Tier &amp; Account Restrictions, Roles, Credit Limits, SSO, </a:t>
            </a:r>
            <a:r>
              <a:rPr lang="en-US" sz="2000" dirty="0" err="1"/>
              <a:t>NetInfo</a:t>
            </a:r>
            <a:r>
              <a:rPr lang="en-US" sz="2000" dirty="0"/>
              <a:t>) – Similar to Parks</a:t>
            </a:r>
          </a:p>
          <a:p>
            <a:r>
              <a:rPr lang="en-US" sz="2000" dirty="0"/>
              <a:t>CFSB Post</a:t>
            </a:r>
          </a:p>
          <a:p>
            <a:pPr lvl="1"/>
            <a:r>
              <a:rPr lang="en-US" sz="2000" dirty="0"/>
              <a:t>(Portfolio Orders From Analyst to Traders -&gt; Customer </a:t>
            </a:r>
            <a:r>
              <a:rPr lang="en-US" sz="2000" dirty="0" err="1"/>
              <a:t>Portoflio</a:t>
            </a:r>
            <a:r>
              <a:rPr lang="en-US" sz="2000" dirty="0"/>
              <a:t>) – All New Process.</a:t>
            </a:r>
          </a:p>
          <a:p>
            <a:endParaRPr lang="en-US" dirty="0"/>
          </a:p>
          <a:p>
            <a:pPr lvl="1"/>
            <a:r>
              <a:rPr lang="en-US" dirty="0"/>
              <a:t>Goal to build a </a:t>
            </a:r>
            <a:r>
              <a:rPr lang="en-US" dirty="0" err="1"/>
              <a:t>CockyCipher</a:t>
            </a:r>
            <a:r>
              <a:rPr lang="en-US" dirty="0"/>
              <a:t> system which can post transactions using proprietary or standard library options.</a:t>
            </a:r>
          </a:p>
          <a:p>
            <a:pPr lvl="1"/>
            <a:r>
              <a:rPr lang="en-US" dirty="0"/>
              <a:t>Goal to use Transact SQL For All Trades which can be reversed.</a:t>
            </a:r>
          </a:p>
        </p:txBody>
      </p:sp>
      <p:grpSp>
        <p:nvGrpSpPr>
          <p:cNvPr id="13" name="Group 12">
            <a:extLst>
              <a:ext uri="{FF2B5EF4-FFF2-40B4-BE49-F238E27FC236}">
                <a16:creationId xmlns:a16="http://schemas.microsoft.com/office/drawing/2014/main" id="{6EC21679-7D92-6561-15D6-E2448B14EE94}"/>
              </a:ext>
            </a:extLst>
          </p:cNvPr>
          <p:cNvGrpSpPr/>
          <p:nvPr/>
        </p:nvGrpSpPr>
        <p:grpSpPr>
          <a:xfrm>
            <a:off x="8599055" y="1834297"/>
            <a:ext cx="2974109" cy="3811429"/>
            <a:chOff x="7795491" y="1690688"/>
            <a:chExt cx="3796142" cy="4884301"/>
          </a:xfrm>
        </p:grpSpPr>
        <p:sp>
          <p:nvSpPr>
            <p:cNvPr id="4" name="Rectangle: Rounded Corners 3">
              <a:extLst>
                <a:ext uri="{FF2B5EF4-FFF2-40B4-BE49-F238E27FC236}">
                  <a16:creationId xmlns:a16="http://schemas.microsoft.com/office/drawing/2014/main" id="{99729015-9B8B-80DD-0D3C-488B31A3ED82}"/>
                </a:ext>
              </a:extLst>
            </p:cNvPr>
            <p:cNvSpPr/>
            <p:nvPr/>
          </p:nvSpPr>
          <p:spPr>
            <a:xfrm>
              <a:off x="8589818" y="1690688"/>
              <a:ext cx="2262909" cy="1514764"/>
            </a:xfrm>
            <a:prstGeom prst="roundRect">
              <a:avLst/>
            </a:prstGeom>
            <a:ln w="349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Rounded Corners 4">
              <a:extLst>
                <a:ext uri="{FF2B5EF4-FFF2-40B4-BE49-F238E27FC236}">
                  <a16:creationId xmlns:a16="http://schemas.microsoft.com/office/drawing/2014/main" id="{95EA79D9-AED7-1962-7491-701369778FAA}"/>
                </a:ext>
              </a:extLst>
            </p:cNvPr>
            <p:cNvSpPr/>
            <p:nvPr/>
          </p:nvSpPr>
          <p:spPr>
            <a:xfrm>
              <a:off x="8682182" y="4244757"/>
              <a:ext cx="2262909" cy="1290927"/>
            </a:xfrm>
            <a:prstGeom prst="roundRect">
              <a:avLst/>
            </a:prstGeom>
            <a:ln w="349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 API</a:t>
              </a:r>
            </a:p>
          </p:txBody>
        </p:sp>
        <p:sp>
          <p:nvSpPr>
            <p:cNvPr id="6" name="Rectangle 5">
              <a:extLst>
                <a:ext uri="{FF2B5EF4-FFF2-40B4-BE49-F238E27FC236}">
                  <a16:creationId xmlns:a16="http://schemas.microsoft.com/office/drawing/2014/main" id="{F1D8B7B7-85D1-B6FF-5DCA-A3E1D562A8CF}"/>
                </a:ext>
              </a:extLst>
            </p:cNvPr>
            <p:cNvSpPr/>
            <p:nvPr/>
          </p:nvSpPr>
          <p:spPr>
            <a:xfrm>
              <a:off x="8774545" y="5717309"/>
              <a:ext cx="2170546" cy="857680"/>
            </a:xfrm>
            <a:prstGeom prst="rect">
              <a:avLst/>
            </a:prstGeom>
            <a:solidFill>
              <a:schemeClr val="accent3">
                <a:lumMod val="60000"/>
                <a:lumOff val="40000"/>
              </a:schemeClr>
            </a:solidFill>
            <a:ln w="349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DBMS Layer</a:t>
              </a:r>
            </a:p>
          </p:txBody>
        </p:sp>
        <p:cxnSp>
          <p:nvCxnSpPr>
            <p:cNvPr id="8" name="Straight Arrow Connector 7">
              <a:extLst>
                <a:ext uri="{FF2B5EF4-FFF2-40B4-BE49-F238E27FC236}">
                  <a16:creationId xmlns:a16="http://schemas.microsoft.com/office/drawing/2014/main" id="{6C6D6EDB-FE79-25D1-C16F-61634466C89B}"/>
                </a:ext>
              </a:extLst>
            </p:cNvPr>
            <p:cNvCxnSpPr/>
            <p:nvPr/>
          </p:nvCxnSpPr>
          <p:spPr>
            <a:xfrm flipV="1">
              <a:off x="9005455" y="3334327"/>
              <a:ext cx="0" cy="910430"/>
            </a:xfrm>
            <a:prstGeom prst="straightConnector1">
              <a:avLst/>
            </a:prstGeom>
            <a:ln w="34925">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B9B6F14-E23E-5AB8-DFE5-A8B4D3AFDCEC}"/>
                </a:ext>
              </a:extLst>
            </p:cNvPr>
            <p:cNvCxnSpPr/>
            <p:nvPr/>
          </p:nvCxnSpPr>
          <p:spPr>
            <a:xfrm>
              <a:off x="10464800" y="3334327"/>
              <a:ext cx="0" cy="910430"/>
            </a:xfrm>
            <a:prstGeom prst="straightConnector1">
              <a:avLst/>
            </a:prstGeom>
            <a:ln w="34925">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A3B92C5-5617-342E-1543-3B7A1EC51C70}"/>
                </a:ext>
              </a:extLst>
            </p:cNvPr>
            <p:cNvSpPr txBox="1"/>
            <p:nvPr/>
          </p:nvSpPr>
          <p:spPr>
            <a:xfrm>
              <a:off x="7795491" y="3429000"/>
              <a:ext cx="979054" cy="369332"/>
            </a:xfrm>
            <a:prstGeom prst="rect">
              <a:avLst/>
            </a:prstGeom>
            <a:noFill/>
            <a:ln w="34925">
              <a:solidFill>
                <a:schemeClr val="accent5">
                  <a:lumMod val="60000"/>
                  <a:lumOff val="40000"/>
                </a:schemeClr>
              </a:solidFill>
            </a:ln>
          </p:spPr>
          <p:txBody>
            <a:bodyPr wrap="square" rtlCol="0">
              <a:spAutoFit/>
            </a:bodyPr>
            <a:lstStyle/>
            <a:p>
              <a:r>
                <a:rPr lang="en-US" dirty="0"/>
                <a:t>NB Post</a:t>
              </a:r>
            </a:p>
          </p:txBody>
        </p:sp>
        <p:sp>
          <p:nvSpPr>
            <p:cNvPr id="12" name="TextBox 11">
              <a:extLst>
                <a:ext uri="{FF2B5EF4-FFF2-40B4-BE49-F238E27FC236}">
                  <a16:creationId xmlns:a16="http://schemas.microsoft.com/office/drawing/2014/main" id="{80925E57-6473-665E-3D11-0952C70DED31}"/>
                </a:ext>
              </a:extLst>
            </p:cNvPr>
            <p:cNvSpPr txBox="1"/>
            <p:nvPr/>
          </p:nvSpPr>
          <p:spPr>
            <a:xfrm>
              <a:off x="10603344" y="3352441"/>
              <a:ext cx="988289" cy="369332"/>
            </a:xfrm>
            <a:prstGeom prst="rect">
              <a:avLst/>
            </a:prstGeom>
            <a:noFill/>
            <a:ln w="34925">
              <a:solidFill>
                <a:schemeClr val="accent5">
                  <a:lumMod val="60000"/>
                  <a:lumOff val="40000"/>
                </a:schemeClr>
              </a:solidFill>
            </a:ln>
          </p:spPr>
          <p:txBody>
            <a:bodyPr wrap="square" rtlCol="0">
              <a:spAutoFit/>
            </a:bodyPr>
            <a:lstStyle/>
            <a:p>
              <a:r>
                <a:rPr lang="en-US" dirty="0"/>
                <a:t>SB Post</a:t>
              </a:r>
            </a:p>
          </p:txBody>
        </p:sp>
      </p:grpSp>
    </p:spTree>
    <p:extLst>
      <p:ext uri="{BB962C8B-B14F-4D97-AF65-F5344CB8AC3E}">
        <p14:creationId xmlns:p14="http://schemas.microsoft.com/office/powerpoint/2010/main" val="50853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E4E7-7FD6-1E8D-2F71-53AA9C87277A}"/>
              </a:ext>
            </a:extLst>
          </p:cNvPr>
          <p:cNvSpPr>
            <a:spLocks noGrp="1"/>
          </p:cNvSpPr>
          <p:nvPr>
            <p:ph type="title"/>
          </p:nvPr>
        </p:nvSpPr>
        <p:spPr>
          <a:xfrm>
            <a:off x="838200" y="365126"/>
            <a:ext cx="10515600" cy="207530"/>
          </a:xfrm>
        </p:spPr>
        <p:txBody>
          <a:bodyPr>
            <a:normAutofit fontScale="90000"/>
          </a:bodyPr>
          <a:lstStyle/>
          <a:p>
            <a:r>
              <a:rPr lang="en-US" dirty="0"/>
              <a:t>Example CF.SB &amp; CF.NB JSON Payloads</a:t>
            </a:r>
          </a:p>
        </p:txBody>
      </p:sp>
      <p:sp>
        <p:nvSpPr>
          <p:cNvPr id="5" name="TextBox 4">
            <a:extLst>
              <a:ext uri="{FF2B5EF4-FFF2-40B4-BE49-F238E27FC236}">
                <a16:creationId xmlns:a16="http://schemas.microsoft.com/office/drawing/2014/main" id="{56258B6A-2ED9-CAB5-D063-48481294FCB2}"/>
              </a:ext>
            </a:extLst>
          </p:cNvPr>
          <p:cNvSpPr txBox="1"/>
          <p:nvPr/>
        </p:nvSpPr>
        <p:spPr>
          <a:xfrm>
            <a:off x="979054" y="729941"/>
            <a:ext cx="4285673" cy="6247864"/>
          </a:xfrm>
          <a:prstGeom prst="rect">
            <a:avLst/>
          </a:prstGeom>
          <a:noFill/>
        </p:spPr>
        <p:txBody>
          <a:bodyPr wrap="square">
            <a:spAutoFit/>
          </a:bodyPr>
          <a:lstStyle/>
          <a:p>
            <a:r>
              <a:rPr lang="en-US" sz="800" dirty="0"/>
              <a:t>{</a:t>
            </a:r>
          </a:p>
          <a:p>
            <a:r>
              <a:rPr lang="en-US" sz="800" dirty="0"/>
              <a:t>  "</a:t>
            </a:r>
            <a:r>
              <a:rPr lang="en-US" sz="800" dirty="0" err="1"/>
              <a:t>userid</a:t>
            </a:r>
            <a:r>
              <a:rPr lang="en-US" sz="800" dirty="0"/>
              <a:t>": "U-78429",</a:t>
            </a:r>
          </a:p>
          <a:p>
            <a:r>
              <a:rPr lang="en-US" sz="800" dirty="0"/>
              <a:t>  "</a:t>
            </a:r>
            <a:r>
              <a:rPr lang="en-US" sz="800" dirty="0" err="1"/>
              <a:t>usertoken</a:t>
            </a:r>
            <a:r>
              <a:rPr lang="en-US" sz="800" dirty="0"/>
              <a:t>": "eyJhbGciOiJIUzI1NiIsInR5cCI6IkpXVCJ9.abc123...",</a:t>
            </a:r>
          </a:p>
          <a:p>
            <a:r>
              <a:rPr lang="en-US" sz="800" dirty="0"/>
              <a:t>  "</a:t>
            </a:r>
            <a:r>
              <a:rPr lang="en-US" sz="800" dirty="0" err="1"/>
              <a:t>userfullname</a:t>
            </a:r>
            <a:r>
              <a:rPr lang="en-US" sz="800" dirty="0"/>
              <a:t>": "bob.smith@summitbank.com",</a:t>
            </a:r>
          </a:p>
          <a:p>
            <a:r>
              <a:rPr lang="en-US" sz="800" dirty="0"/>
              <a:t>  "batch": {</a:t>
            </a:r>
          </a:p>
          <a:p>
            <a:r>
              <a:rPr lang="en-US" sz="800" dirty="0"/>
              <a:t>    "</a:t>
            </a:r>
            <a:r>
              <a:rPr lang="en-US" sz="800" dirty="0" err="1"/>
              <a:t>batchId</a:t>
            </a:r>
            <a:r>
              <a:rPr lang="en-US" sz="800" dirty="0"/>
              <a:t>": "BATCH-20260923-001",</a:t>
            </a:r>
          </a:p>
          <a:p>
            <a:r>
              <a:rPr lang="en-US" sz="800" dirty="0"/>
              <a:t>    "</a:t>
            </a:r>
            <a:r>
              <a:rPr lang="en-US" sz="800" dirty="0" err="1"/>
              <a:t>createdAt</a:t>
            </a:r>
            <a:r>
              <a:rPr lang="en-US" sz="800" dirty="0"/>
              <a:t>": "2026-09-23T16:30:00Z",</a:t>
            </a:r>
          </a:p>
          <a:p>
            <a:r>
              <a:rPr lang="en-US" sz="800" dirty="0"/>
              <a:t>    "</a:t>
            </a:r>
            <a:r>
              <a:rPr lang="en-US" sz="800" dirty="0" err="1"/>
              <a:t>subBatches</a:t>
            </a:r>
            <a:r>
              <a:rPr lang="en-US" sz="800" dirty="0"/>
              <a:t>": [</a:t>
            </a:r>
          </a:p>
          <a:p>
            <a:r>
              <a:rPr lang="en-US" sz="800" dirty="0"/>
              <a:t>      {</a:t>
            </a:r>
          </a:p>
          <a:p>
            <a:r>
              <a:rPr lang="en-US" sz="800" dirty="0"/>
              <a:t>        "sector": "Technology",</a:t>
            </a:r>
          </a:p>
          <a:p>
            <a:r>
              <a:rPr lang="en-US" sz="800" dirty="0"/>
              <a:t>        "orders": [</a:t>
            </a:r>
          </a:p>
          <a:p>
            <a:r>
              <a:rPr lang="en-US" sz="800" dirty="0"/>
              <a:t>          {</a:t>
            </a:r>
          </a:p>
          <a:p>
            <a:r>
              <a:rPr lang="en-US" sz="800" dirty="0"/>
              <a:t>            "ticker": "AAPL",</a:t>
            </a:r>
          </a:p>
          <a:p>
            <a:r>
              <a:rPr lang="en-US" sz="800" dirty="0"/>
              <a:t>            "qty": 150,</a:t>
            </a:r>
          </a:p>
          <a:p>
            <a:r>
              <a:rPr lang="en-US" sz="800" dirty="0"/>
              <a:t>            "side": "buy",</a:t>
            </a:r>
          </a:p>
          <a:p>
            <a:r>
              <a:rPr lang="en-US" sz="800" dirty="0"/>
              <a:t>            "</a:t>
            </a:r>
            <a:r>
              <a:rPr lang="en-US" sz="800" dirty="0" err="1"/>
              <a:t>marketprice</a:t>
            </a:r>
            <a:r>
              <a:rPr lang="en-US" sz="800" dirty="0"/>
              <a:t>": 228.45</a:t>
            </a:r>
          </a:p>
          <a:p>
            <a:r>
              <a:rPr lang="en-US" sz="800" dirty="0"/>
              <a:t>          },</a:t>
            </a:r>
          </a:p>
          <a:p>
            <a:r>
              <a:rPr lang="en-US" sz="800" dirty="0"/>
              <a:t>          {</a:t>
            </a:r>
          </a:p>
          <a:p>
            <a:r>
              <a:rPr lang="en-US" sz="800" dirty="0"/>
              <a:t>            "ticker": "MSFT",</a:t>
            </a:r>
          </a:p>
          <a:p>
            <a:r>
              <a:rPr lang="en-US" sz="800" dirty="0"/>
              <a:t>            "qty": 80,</a:t>
            </a:r>
          </a:p>
          <a:p>
            <a:r>
              <a:rPr lang="en-US" sz="800" dirty="0"/>
              <a:t>            "side": "sell",</a:t>
            </a:r>
          </a:p>
          <a:p>
            <a:r>
              <a:rPr lang="en-US" sz="800" dirty="0"/>
              <a:t>            "</a:t>
            </a:r>
            <a:r>
              <a:rPr lang="en-US" sz="800" dirty="0" err="1"/>
              <a:t>marketprice</a:t>
            </a:r>
            <a:r>
              <a:rPr lang="en-US" sz="800" dirty="0"/>
              <a:t>": 415.20</a:t>
            </a:r>
          </a:p>
          <a:p>
            <a:r>
              <a:rPr lang="en-US" sz="800" dirty="0"/>
              <a:t>          }</a:t>
            </a:r>
          </a:p>
          <a:p>
            <a:r>
              <a:rPr lang="en-US" sz="800" dirty="0"/>
              <a:t>       ]</a:t>
            </a:r>
          </a:p>
          <a:p>
            <a:r>
              <a:rPr lang="en-US" sz="800" dirty="0"/>
              <a:t>      },</a:t>
            </a:r>
          </a:p>
          <a:p>
            <a:r>
              <a:rPr lang="en-US" sz="800" dirty="0"/>
              <a:t>      {</a:t>
            </a:r>
          </a:p>
          <a:p>
            <a:r>
              <a:rPr lang="en-US" sz="800" dirty="0"/>
              <a:t>        "sector": "Financials",</a:t>
            </a:r>
          </a:p>
          <a:p>
            <a:r>
              <a:rPr lang="en-US" sz="800" dirty="0"/>
              <a:t>        "orders": [</a:t>
            </a:r>
          </a:p>
          <a:p>
            <a:r>
              <a:rPr lang="en-US" sz="800" dirty="0"/>
              <a:t>          {</a:t>
            </a:r>
          </a:p>
          <a:p>
            <a:r>
              <a:rPr lang="en-US" sz="800" dirty="0"/>
              <a:t>            "ticker": "JPM",</a:t>
            </a:r>
          </a:p>
          <a:p>
            <a:r>
              <a:rPr lang="en-US" sz="800" dirty="0"/>
              <a:t>            "qty": 200,</a:t>
            </a:r>
          </a:p>
          <a:p>
            <a:r>
              <a:rPr lang="en-US" sz="800" dirty="0"/>
              <a:t>            "side": "buy",</a:t>
            </a:r>
          </a:p>
          <a:p>
            <a:r>
              <a:rPr lang="en-US" sz="800" dirty="0"/>
              <a:t>            "</a:t>
            </a:r>
            <a:r>
              <a:rPr lang="en-US" sz="800" dirty="0" err="1"/>
              <a:t>marketprice</a:t>
            </a:r>
            <a:r>
              <a:rPr lang="en-US" sz="800" dirty="0"/>
              <a:t>": 215.30</a:t>
            </a:r>
          </a:p>
          <a:p>
            <a:r>
              <a:rPr lang="en-US" sz="800" dirty="0"/>
              <a:t>          }</a:t>
            </a:r>
          </a:p>
          <a:p>
            <a:r>
              <a:rPr lang="en-US" sz="800" dirty="0"/>
              <a:t>]</a:t>
            </a:r>
          </a:p>
          <a:p>
            <a:r>
              <a:rPr lang="en-US" sz="800" dirty="0"/>
              <a:t>      },</a:t>
            </a:r>
          </a:p>
          <a:p>
            <a:r>
              <a:rPr lang="en-US" sz="800" dirty="0"/>
              <a:t>      {</a:t>
            </a:r>
          </a:p>
          <a:p>
            <a:r>
              <a:rPr lang="en-US" sz="800" dirty="0"/>
              <a:t>        "sector": "Energy",</a:t>
            </a:r>
          </a:p>
          <a:p>
            <a:r>
              <a:rPr lang="en-US" sz="800" dirty="0"/>
              <a:t>        "orders": [</a:t>
            </a:r>
          </a:p>
          <a:p>
            <a:r>
              <a:rPr lang="en-US" sz="800" dirty="0"/>
              <a:t>          {</a:t>
            </a:r>
          </a:p>
          <a:p>
            <a:r>
              <a:rPr lang="en-US" sz="800" dirty="0"/>
              <a:t>            "ticker": "XOM",</a:t>
            </a:r>
          </a:p>
          <a:p>
            <a:r>
              <a:rPr lang="en-US" sz="800" dirty="0"/>
              <a:t>            "qty": 120,</a:t>
            </a:r>
          </a:p>
          <a:p>
            <a:r>
              <a:rPr lang="en-US" sz="800" dirty="0"/>
              <a:t>            "side": "buy",</a:t>
            </a:r>
          </a:p>
          <a:p>
            <a:r>
              <a:rPr lang="en-US" sz="800" dirty="0"/>
              <a:t>            "</a:t>
            </a:r>
            <a:r>
              <a:rPr lang="en-US" sz="800" dirty="0" err="1"/>
              <a:t>marketprice</a:t>
            </a:r>
            <a:r>
              <a:rPr lang="en-US" sz="800" dirty="0"/>
              <a:t>": 112.60</a:t>
            </a:r>
          </a:p>
          <a:p>
            <a:r>
              <a:rPr lang="en-US" sz="800" dirty="0"/>
              <a:t>          }</a:t>
            </a:r>
          </a:p>
          <a:p>
            <a:r>
              <a:rPr lang="en-US" sz="800" dirty="0"/>
              <a:t>        ]</a:t>
            </a:r>
          </a:p>
          <a:p>
            <a:r>
              <a:rPr lang="en-US" sz="800" dirty="0"/>
              <a:t>      }</a:t>
            </a:r>
          </a:p>
          <a:p>
            <a:r>
              <a:rPr lang="en-US" sz="800" dirty="0"/>
              <a:t>    ]</a:t>
            </a:r>
          </a:p>
          <a:p>
            <a:r>
              <a:rPr lang="en-US" sz="800" dirty="0"/>
              <a:t>  }</a:t>
            </a:r>
          </a:p>
          <a:p>
            <a:r>
              <a:rPr lang="en-US" sz="800" dirty="0"/>
              <a:t>}</a:t>
            </a:r>
          </a:p>
        </p:txBody>
      </p:sp>
      <p:pic>
        <p:nvPicPr>
          <p:cNvPr id="9" name="Picture 8">
            <a:extLst>
              <a:ext uri="{FF2B5EF4-FFF2-40B4-BE49-F238E27FC236}">
                <a16:creationId xmlns:a16="http://schemas.microsoft.com/office/drawing/2014/main" id="{E8AFBD5C-F263-3254-FE60-28C116BD7DE3}"/>
              </a:ext>
            </a:extLst>
          </p:cNvPr>
          <p:cNvPicPr>
            <a:picLocks noChangeAspect="1"/>
          </p:cNvPicPr>
          <p:nvPr/>
        </p:nvPicPr>
        <p:blipFill>
          <a:blip r:embed="rId2"/>
          <a:stretch>
            <a:fillRect/>
          </a:stretch>
        </p:blipFill>
        <p:spPr>
          <a:xfrm>
            <a:off x="7176654" y="846861"/>
            <a:ext cx="4831917" cy="3161722"/>
          </a:xfrm>
          <a:prstGeom prst="rect">
            <a:avLst/>
          </a:prstGeom>
        </p:spPr>
      </p:pic>
    </p:spTree>
    <p:extLst>
      <p:ext uri="{BB962C8B-B14F-4D97-AF65-F5344CB8AC3E}">
        <p14:creationId xmlns:p14="http://schemas.microsoft.com/office/powerpoint/2010/main" val="2057197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8D12D3-5E61-185A-A401-AA956F8259EC}"/>
              </a:ext>
            </a:extLst>
          </p:cNvPr>
          <p:cNvSpPr>
            <a:spLocks noGrp="1"/>
          </p:cNvSpPr>
          <p:nvPr>
            <p:ph type="ctrTitle"/>
          </p:nvPr>
        </p:nvSpPr>
        <p:spPr/>
        <p:txBody>
          <a:bodyPr/>
          <a:lstStyle/>
          <a:p>
            <a:r>
              <a:rPr lang="en-US" dirty="0"/>
              <a:t>Case Ready To Production</a:t>
            </a:r>
          </a:p>
        </p:txBody>
      </p:sp>
      <p:sp>
        <p:nvSpPr>
          <p:cNvPr id="5" name="Subtitle 4">
            <a:extLst>
              <a:ext uri="{FF2B5EF4-FFF2-40B4-BE49-F238E27FC236}">
                <a16:creationId xmlns:a16="http://schemas.microsoft.com/office/drawing/2014/main" id="{A7C3437D-0B33-FA05-B072-FBF3BA73830F}"/>
              </a:ext>
            </a:extLst>
          </p:cNvPr>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874342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27FCA-9604-7AFB-ACFB-348A16BBCBDE}"/>
              </a:ext>
            </a:extLst>
          </p:cNvPr>
          <p:cNvSpPr>
            <a:spLocks noGrp="1"/>
          </p:cNvSpPr>
          <p:nvPr>
            <p:ph type="title"/>
          </p:nvPr>
        </p:nvSpPr>
        <p:spPr/>
        <p:txBody>
          <a:bodyPr/>
          <a:lstStyle/>
          <a:p>
            <a:r>
              <a:rPr lang="en-US" dirty="0"/>
              <a:t>Disclaimer….And Important Point….</a:t>
            </a:r>
          </a:p>
        </p:txBody>
      </p:sp>
      <p:sp>
        <p:nvSpPr>
          <p:cNvPr id="3" name="Content Placeholder 2">
            <a:extLst>
              <a:ext uri="{FF2B5EF4-FFF2-40B4-BE49-F238E27FC236}">
                <a16:creationId xmlns:a16="http://schemas.microsoft.com/office/drawing/2014/main" id="{673A40E4-5337-E34F-B523-32280266DDBA}"/>
              </a:ext>
            </a:extLst>
          </p:cNvPr>
          <p:cNvSpPr>
            <a:spLocks noGrp="1"/>
          </p:cNvSpPr>
          <p:nvPr>
            <p:ph idx="1"/>
          </p:nvPr>
        </p:nvSpPr>
        <p:spPr>
          <a:xfrm>
            <a:off x="838200" y="1601338"/>
            <a:ext cx="10515600" cy="4351338"/>
          </a:xfrm>
        </p:spPr>
        <p:txBody>
          <a:bodyPr>
            <a:normAutofit fontScale="70000" lnSpcReduction="20000"/>
          </a:bodyPr>
          <a:lstStyle/>
          <a:p>
            <a:r>
              <a:rPr lang="en-US" dirty="0"/>
              <a:t>An Application Could be installed in Tier for a Major Financial or Government Data Center… which does no/zero work.</a:t>
            </a:r>
          </a:p>
          <a:p>
            <a:pPr lvl="1"/>
            <a:r>
              <a:rPr lang="en-US" dirty="0"/>
              <a:t>It Requires Secure Sign On that ties to an Application Directory.</a:t>
            </a:r>
          </a:p>
          <a:p>
            <a:pPr lvl="1"/>
            <a:r>
              <a:rPr lang="en-US" dirty="0"/>
              <a:t>It Requires a Backup Plan where Code Can Be Archived.</a:t>
            </a:r>
          </a:p>
          <a:p>
            <a:pPr lvl="1"/>
            <a:r>
              <a:rPr lang="en-US" dirty="0"/>
              <a:t>It Requires Encrypted Communications, and a way to disable encryption so that problems can be isolated. (Turn the Encryptors Off For Maintenance)</a:t>
            </a:r>
          </a:p>
          <a:p>
            <a:pPr lvl="1"/>
            <a:r>
              <a:rPr lang="en-US" dirty="0"/>
              <a:t>It Requires usually a form of corporate hierarchy… understanding of role.</a:t>
            </a:r>
          </a:p>
          <a:p>
            <a:pPr lvl="1"/>
            <a:r>
              <a:rPr lang="en-US" dirty="0"/>
              <a:t>Every screen is page/form locked.</a:t>
            </a:r>
          </a:p>
          <a:p>
            <a:pPr lvl="1"/>
            <a:r>
              <a:rPr lang="en-US" dirty="0"/>
              <a:t>It must be HIPAA, PCI Compliant at a minimum store payments securely, and for Government apps meet all NIST/FISMA/DOD standards.</a:t>
            </a:r>
          </a:p>
          <a:p>
            <a:pPr lvl="1"/>
            <a:r>
              <a:rPr lang="en-US" dirty="0"/>
              <a:t>It usually also requires a known service image, an inbound TF number, and an ITSM system of some sort to meet compliance.</a:t>
            </a:r>
          </a:p>
          <a:p>
            <a:pPr lvl="1"/>
            <a:r>
              <a:rPr lang="en-US" dirty="0"/>
              <a:t>Everything else can be waived in small scale in practicality.</a:t>
            </a:r>
          </a:p>
          <a:p>
            <a:r>
              <a:rPr lang="en-US" dirty="0"/>
              <a:t>In other words the STATS542 app matters less than the base operational requirements. If my application did nothing… I can still encrypt it and make it secure.</a:t>
            </a:r>
          </a:p>
          <a:p>
            <a:r>
              <a:rPr lang="en-US" dirty="0"/>
              <a:t>I arrived at this after building projects in 498-1, 498-2, 242, 546, 547, 567, 587, 590, 798, 547G (10 PROJECTS)… I realized that my </a:t>
            </a:r>
            <a:r>
              <a:rPr lang="en-US" dirty="0" err="1"/>
              <a:t>backoffice</a:t>
            </a:r>
            <a:r>
              <a:rPr lang="en-US" dirty="0"/>
              <a:t> had similar requirements.</a:t>
            </a:r>
          </a:p>
          <a:p>
            <a:endParaRPr lang="en-US" dirty="0"/>
          </a:p>
        </p:txBody>
      </p:sp>
    </p:spTree>
    <p:extLst>
      <p:ext uri="{BB962C8B-B14F-4D97-AF65-F5344CB8AC3E}">
        <p14:creationId xmlns:p14="http://schemas.microsoft.com/office/powerpoint/2010/main" val="262962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3494D-54F8-1869-F83C-C7D72E912B8B}"/>
              </a:ext>
            </a:extLst>
          </p:cNvPr>
          <p:cNvSpPr>
            <a:spLocks noGrp="1"/>
          </p:cNvSpPr>
          <p:nvPr>
            <p:ph type="title"/>
          </p:nvPr>
        </p:nvSpPr>
        <p:spPr/>
        <p:txBody>
          <a:bodyPr/>
          <a:lstStyle/>
          <a:p>
            <a:r>
              <a:rPr lang="en-US" dirty="0"/>
              <a:t>Plan of Record</a:t>
            </a:r>
          </a:p>
        </p:txBody>
      </p:sp>
      <p:sp>
        <p:nvSpPr>
          <p:cNvPr id="3" name="Content Placeholder 2">
            <a:extLst>
              <a:ext uri="{FF2B5EF4-FFF2-40B4-BE49-F238E27FC236}">
                <a16:creationId xmlns:a16="http://schemas.microsoft.com/office/drawing/2014/main" id="{5401DA79-29AC-BD0E-C03A-1CC16D5EA989}"/>
              </a:ext>
            </a:extLst>
          </p:cNvPr>
          <p:cNvSpPr>
            <a:spLocks noGrp="1"/>
          </p:cNvSpPr>
          <p:nvPr>
            <p:ph idx="1"/>
          </p:nvPr>
        </p:nvSpPr>
        <p:spPr/>
        <p:txBody>
          <a:bodyPr>
            <a:normAutofit fontScale="92500" lnSpcReduction="20000"/>
          </a:bodyPr>
          <a:lstStyle/>
          <a:p>
            <a:r>
              <a:rPr lang="en-US" dirty="0"/>
              <a:t>“The App”</a:t>
            </a:r>
          </a:p>
          <a:p>
            <a:pPr lvl="1"/>
            <a:r>
              <a:rPr lang="en-US" dirty="0"/>
              <a:t>Building a Financial App.</a:t>
            </a:r>
          </a:p>
          <a:p>
            <a:r>
              <a:rPr lang="en-US" dirty="0"/>
              <a:t>“The Product Development Cycle For the App”</a:t>
            </a:r>
          </a:p>
          <a:p>
            <a:pPr lvl="1"/>
            <a:r>
              <a:rPr lang="en-US" dirty="0"/>
              <a:t>Taking Our App Through a PD Cycle which results in a Hosted Tiered App.</a:t>
            </a:r>
          </a:p>
          <a:p>
            <a:r>
              <a:rPr lang="en-US" dirty="0"/>
              <a:t>“Security Project Management”</a:t>
            </a:r>
          </a:p>
          <a:p>
            <a:pPr lvl="1"/>
            <a:r>
              <a:rPr lang="en-US" dirty="0"/>
              <a:t>Moving Our App To Production F1000/Gov Ops would be a major undertaking to meet Audit Requirements.</a:t>
            </a:r>
          </a:p>
          <a:p>
            <a:r>
              <a:rPr lang="en-US" dirty="0"/>
              <a:t>“The Papers”</a:t>
            </a:r>
          </a:p>
          <a:p>
            <a:pPr lvl="1"/>
            <a:r>
              <a:rPr lang="en-US" dirty="0"/>
              <a:t>Specific Generic Architecture Documents – Integrative Processes not necessarily new technology.</a:t>
            </a:r>
          </a:p>
          <a:p>
            <a:pPr lvl="1"/>
            <a:r>
              <a:rPr lang="en-US" dirty="0"/>
              <a:t>New Technology White Papers and Educational Documents on Things that don’t exist.</a:t>
            </a:r>
          </a:p>
          <a:p>
            <a:r>
              <a:rPr lang="en-US" dirty="0"/>
              <a:t>“Committee/MRB” -&gt; Process</a:t>
            </a:r>
          </a:p>
        </p:txBody>
      </p:sp>
    </p:spTree>
    <p:extLst>
      <p:ext uri="{BB962C8B-B14F-4D97-AF65-F5344CB8AC3E}">
        <p14:creationId xmlns:p14="http://schemas.microsoft.com/office/powerpoint/2010/main" val="2722716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7D65-3DAE-8D58-679C-9B75B7F318DD}"/>
              </a:ext>
            </a:extLst>
          </p:cNvPr>
          <p:cNvSpPr>
            <a:spLocks noGrp="1"/>
          </p:cNvSpPr>
          <p:nvPr>
            <p:ph type="title"/>
          </p:nvPr>
        </p:nvSpPr>
        <p:spPr/>
        <p:txBody>
          <a:bodyPr/>
          <a:lstStyle/>
          <a:p>
            <a:r>
              <a:rPr lang="en-US" dirty="0"/>
              <a:t>First the App… then the method</a:t>
            </a:r>
          </a:p>
        </p:txBody>
      </p:sp>
      <p:sp>
        <p:nvSpPr>
          <p:cNvPr id="4" name="Rectangle 3">
            <a:extLst>
              <a:ext uri="{FF2B5EF4-FFF2-40B4-BE49-F238E27FC236}">
                <a16:creationId xmlns:a16="http://schemas.microsoft.com/office/drawing/2014/main" id="{1A5979A4-365F-0AE6-4825-4C8CDE94A81C}"/>
              </a:ext>
            </a:extLst>
          </p:cNvPr>
          <p:cNvSpPr/>
          <p:nvPr/>
        </p:nvSpPr>
        <p:spPr>
          <a:xfrm>
            <a:off x="948906" y="2044461"/>
            <a:ext cx="4675517" cy="2725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Cocky</a:t>
            </a:r>
          </a:p>
          <a:p>
            <a:pPr algn="ctr"/>
            <a:r>
              <a:rPr lang="en-US" dirty="0"/>
              <a:t>Investments</a:t>
            </a:r>
          </a:p>
          <a:p>
            <a:pPr algn="ctr"/>
            <a:r>
              <a:rPr lang="en-US" dirty="0"/>
              <a:t>(Gen1 &amp; 2)</a:t>
            </a:r>
          </a:p>
          <a:p>
            <a:pPr algn="ctr"/>
            <a:endParaRPr lang="en-US" dirty="0"/>
          </a:p>
          <a:p>
            <a:pPr algn="ctr"/>
            <a:r>
              <a:rPr lang="en-US" sz="1200" dirty="0">
                <a:solidFill>
                  <a:schemeClr val="accent5">
                    <a:lumMod val="60000"/>
                    <a:lumOff val="40000"/>
                  </a:schemeClr>
                </a:solidFill>
              </a:rPr>
              <a:t>Designed To Be An Analyst Led</a:t>
            </a:r>
          </a:p>
          <a:p>
            <a:pPr algn="ctr"/>
            <a:r>
              <a:rPr lang="en-US" sz="1200" dirty="0">
                <a:solidFill>
                  <a:schemeClr val="accent5">
                    <a:lumMod val="60000"/>
                    <a:lumOff val="40000"/>
                  </a:schemeClr>
                </a:solidFill>
              </a:rPr>
              <a:t>Trading &amp; Portfolio System</a:t>
            </a:r>
          </a:p>
          <a:p>
            <a:pPr algn="ctr"/>
            <a:r>
              <a:rPr lang="en-US" sz="1200" dirty="0">
                <a:solidFill>
                  <a:schemeClr val="accent5">
                    <a:lumMod val="60000"/>
                    <a:lumOff val="40000"/>
                  </a:schemeClr>
                </a:solidFill>
              </a:rPr>
              <a:t>(ref RT, ML, Fidelity Premier, Chase Private Bank, US Trust)</a:t>
            </a:r>
          </a:p>
          <a:p>
            <a:pPr algn="ctr"/>
            <a:endParaRPr lang="en-US" sz="900" dirty="0">
              <a:solidFill>
                <a:schemeClr val="accent5">
                  <a:lumMod val="60000"/>
                  <a:lumOff val="40000"/>
                </a:schemeClr>
              </a:solidFill>
            </a:endParaRPr>
          </a:p>
          <a:p>
            <a:pPr algn="ctr"/>
            <a:r>
              <a:rPr lang="en-US" sz="900" dirty="0">
                <a:solidFill>
                  <a:schemeClr val="accent5">
                    <a:lumMod val="60000"/>
                    <a:lumOff val="40000"/>
                  </a:schemeClr>
                </a:solidFill>
              </a:rPr>
              <a:t>I had seen in Operation at Robinson Trust in Valley Forge, PA &amp; Later</a:t>
            </a:r>
          </a:p>
          <a:p>
            <a:pPr algn="ctr"/>
            <a:r>
              <a:rPr lang="en-US" sz="900" dirty="0">
                <a:solidFill>
                  <a:schemeClr val="accent5">
                    <a:lumMod val="60000"/>
                    <a:lumOff val="40000"/>
                  </a:schemeClr>
                </a:solidFill>
              </a:rPr>
              <a:t> at Charles Schwab in Baltimore MD a few years later as a client and not a banker.</a:t>
            </a:r>
          </a:p>
        </p:txBody>
      </p:sp>
      <p:sp>
        <p:nvSpPr>
          <p:cNvPr id="5" name="Rectangle: Rounded Corners 4">
            <a:extLst>
              <a:ext uri="{FF2B5EF4-FFF2-40B4-BE49-F238E27FC236}">
                <a16:creationId xmlns:a16="http://schemas.microsoft.com/office/drawing/2014/main" id="{D5BCA197-FE54-816F-8365-4FC889981EBC}"/>
              </a:ext>
            </a:extLst>
          </p:cNvPr>
          <p:cNvSpPr/>
          <p:nvPr/>
        </p:nvSpPr>
        <p:spPr>
          <a:xfrm>
            <a:off x="948907" y="5020573"/>
            <a:ext cx="2656936" cy="10437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In this model Analysts meet with customers to plan a portion of their assets but usually not all for high net worth individuals.</a:t>
            </a:r>
          </a:p>
        </p:txBody>
      </p:sp>
      <p:cxnSp>
        <p:nvCxnSpPr>
          <p:cNvPr id="7" name="Straight Arrow Connector 6">
            <a:extLst>
              <a:ext uri="{FF2B5EF4-FFF2-40B4-BE49-F238E27FC236}">
                <a16:creationId xmlns:a16="http://schemas.microsoft.com/office/drawing/2014/main" id="{5A384712-3CF5-E6A5-1D07-56EA067C7B9C}"/>
              </a:ext>
            </a:extLst>
          </p:cNvPr>
          <p:cNvCxnSpPr>
            <a:cxnSpLocks/>
          </p:cNvCxnSpPr>
          <p:nvPr/>
        </p:nvCxnSpPr>
        <p:spPr>
          <a:xfrm>
            <a:off x="5805578" y="2415396"/>
            <a:ext cx="2596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B8F19556-43AE-5062-0BAD-254D10990EDC}"/>
              </a:ext>
            </a:extLst>
          </p:cNvPr>
          <p:cNvSpPr/>
          <p:nvPr/>
        </p:nvSpPr>
        <p:spPr>
          <a:xfrm>
            <a:off x="3692106" y="5080958"/>
            <a:ext cx="2001328" cy="9834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RT was focused on high dividend yield equities with S&amp;P ratings &gt; B++</a:t>
            </a:r>
          </a:p>
        </p:txBody>
      </p:sp>
      <p:sp>
        <p:nvSpPr>
          <p:cNvPr id="9" name="Rectangle: Rounded Corners 8">
            <a:extLst>
              <a:ext uri="{FF2B5EF4-FFF2-40B4-BE49-F238E27FC236}">
                <a16:creationId xmlns:a16="http://schemas.microsoft.com/office/drawing/2014/main" id="{087E09DA-CBE5-7FC7-CDF1-343541DFC128}"/>
              </a:ext>
            </a:extLst>
          </p:cNvPr>
          <p:cNvSpPr/>
          <p:nvPr/>
        </p:nvSpPr>
        <p:spPr>
          <a:xfrm>
            <a:off x="948906" y="6159260"/>
            <a:ext cx="4675517" cy="5952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t>RT Wharton Finance Grads… and they had a lot of research on their models and explained historical and sector approaches. They trained their customers on the basics of this modeling before taking new clients.</a:t>
            </a:r>
          </a:p>
        </p:txBody>
      </p:sp>
      <p:sp>
        <p:nvSpPr>
          <p:cNvPr id="10" name="Rectangle: Rounded Corners 9">
            <a:extLst>
              <a:ext uri="{FF2B5EF4-FFF2-40B4-BE49-F238E27FC236}">
                <a16:creationId xmlns:a16="http://schemas.microsoft.com/office/drawing/2014/main" id="{A592A713-086C-FA84-9D24-CC46E80698B9}"/>
              </a:ext>
            </a:extLst>
          </p:cNvPr>
          <p:cNvSpPr/>
          <p:nvPr/>
        </p:nvSpPr>
        <p:spPr>
          <a:xfrm>
            <a:off x="6193766" y="3942272"/>
            <a:ext cx="1518248" cy="8713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Explained this to my 542 Team and why it worked.</a:t>
            </a:r>
          </a:p>
        </p:txBody>
      </p:sp>
      <p:cxnSp>
        <p:nvCxnSpPr>
          <p:cNvPr id="12" name="Straight Arrow Connector 11">
            <a:extLst>
              <a:ext uri="{FF2B5EF4-FFF2-40B4-BE49-F238E27FC236}">
                <a16:creationId xmlns:a16="http://schemas.microsoft.com/office/drawing/2014/main" id="{9B92D49E-315B-6BF2-43B6-AFE73E8151D3}"/>
              </a:ext>
            </a:extLst>
          </p:cNvPr>
          <p:cNvCxnSpPr/>
          <p:nvPr/>
        </p:nvCxnSpPr>
        <p:spPr>
          <a:xfrm>
            <a:off x="5693434" y="3942272"/>
            <a:ext cx="402566" cy="345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184CA57-99B4-E1FF-56F7-5D3AA5F0559E}"/>
              </a:ext>
            </a:extLst>
          </p:cNvPr>
          <p:cNvCxnSpPr/>
          <p:nvPr/>
        </p:nvCxnSpPr>
        <p:spPr>
          <a:xfrm flipV="1">
            <a:off x="5693434" y="4770409"/>
            <a:ext cx="327804" cy="6297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9D30C76-4767-3159-ED59-897C1F2E2808}"/>
              </a:ext>
            </a:extLst>
          </p:cNvPr>
          <p:cNvSpPr txBox="1"/>
          <p:nvPr/>
        </p:nvSpPr>
        <p:spPr>
          <a:xfrm>
            <a:off x="6193766" y="5080958"/>
            <a:ext cx="1500996"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800" dirty="0"/>
              <a:t>Our Team collectively had skills to build our own IT system with 4 Data Scientists on the same team.</a:t>
            </a:r>
          </a:p>
        </p:txBody>
      </p:sp>
      <p:sp>
        <p:nvSpPr>
          <p:cNvPr id="17" name="Rectangle: Rounded Corners 16">
            <a:extLst>
              <a:ext uri="{FF2B5EF4-FFF2-40B4-BE49-F238E27FC236}">
                <a16:creationId xmlns:a16="http://schemas.microsoft.com/office/drawing/2014/main" id="{57A9F20A-F25C-9E33-5DF3-C3CEDFF75D32}"/>
              </a:ext>
            </a:extLst>
          </p:cNvPr>
          <p:cNvSpPr/>
          <p:nvPr/>
        </p:nvSpPr>
        <p:spPr>
          <a:xfrm>
            <a:off x="8548777" y="1871932"/>
            <a:ext cx="3407434" cy="28984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Cocky </a:t>
            </a:r>
          </a:p>
          <a:p>
            <a:pPr algn="ctr"/>
            <a:r>
              <a:rPr lang="en-US" dirty="0"/>
              <a:t>Analytics</a:t>
            </a:r>
          </a:p>
          <a:p>
            <a:pPr algn="ctr"/>
            <a:r>
              <a:rPr lang="en-US" dirty="0"/>
              <a:t>(Gen3 &amp; 4)</a:t>
            </a:r>
          </a:p>
          <a:p>
            <a:pPr algn="ctr"/>
            <a:endParaRPr lang="en-US" dirty="0"/>
          </a:p>
          <a:p>
            <a:pPr algn="ctr"/>
            <a:r>
              <a:rPr lang="en-US" sz="1200" dirty="0"/>
              <a:t>Designed To Be A Self Led</a:t>
            </a:r>
          </a:p>
          <a:p>
            <a:pPr algn="ctr"/>
            <a:r>
              <a:rPr lang="en-US" sz="1200" dirty="0"/>
              <a:t>Trading &amp; Portfolio System For</a:t>
            </a:r>
          </a:p>
          <a:p>
            <a:pPr algn="ctr"/>
            <a:r>
              <a:rPr lang="en-US" sz="1200" dirty="0"/>
              <a:t>Smaller Investors</a:t>
            </a:r>
          </a:p>
          <a:p>
            <a:pPr algn="ctr"/>
            <a:r>
              <a:rPr lang="en-US" sz="1200" dirty="0"/>
              <a:t>(Ref: ML Edge, Fidelity, </a:t>
            </a:r>
            <a:r>
              <a:rPr lang="en-US" sz="1200" dirty="0" err="1"/>
              <a:t>eTrade</a:t>
            </a:r>
            <a:r>
              <a:rPr lang="en-US" sz="1200" dirty="0"/>
              <a:t>)</a:t>
            </a:r>
          </a:p>
          <a:p>
            <a:pPr algn="ctr"/>
            <a:endParaRPr lang="en-US" dirty="0"/>
          </a:p>
        </p:txBody>
      </p:sp>
      <p:cxnSp>
        <p:nvCxnSpPr>
          <p:cNvPr id="19" name="Straight Arrow Connector 18">
            <a:extLst>
              <a:ext uri="{FF2B5EF4-FFF2-40B4-BE49-F238E27FC236}">
                <a16:creationId xmlns:a16="http://schemas.microsoft.com/office/drawing/2014/main" id="{60F96957-5F0A-986C-0558-07F8337B3D32}"/>
              </a:ext>
            </a:extLst>
          </p:cNvPr>
          <p:cNvCxnSpPr/>
          <p:nvPr/>
        </p:nvCxnSpPr>
        <p:spPr>
          <a:xfrm flipH="1">
            <a:off x="5805578" y="3174521"/>
            <a:ext cx="2596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6658FB3-FAE3-BA8E-34A4-9D1C3154E902}"/>
              </a:ext>
            </a:extLst>
          </p:cNvPr>
          <p:cNvSpPr txBox="1"/>
          <p:nvPr/>
        </p:nvSpPr>
        <p:spPr>
          <a:xfrm>
            <a:off x="8315864" y="5209250"/>
            <a:ext cx="3545457"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Chase, Wells Fargo, and Bank of America Operate in Both Investment Modes Based on Client Preferences in Divisions they call GWIM</a:t>
            </a:r>
          </a:p>
        </p:txBody>
      </p:sp>
    </p:spTree>
    <p:extLst>
      <p:ext uri="{BB962C8B-B14F-4D97-AF65-F5344CB8AC3E}">
        <p14:creationId xmlns:p14="http://schemas.microsoft.com/office/powerpoint/2010/main" val="60194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7D65-3DAE-8D58-679C-9B75B7F318DD}"/>
              </a:ext>
            </a:extLst>
          </p:cNvPr>
          <p:cNvSpPr>
            <a:spLocks noGrp="1"/>
          </p:cNvSpPr>
          <p:nvPr>
            <p:ph type="title"/>
          </p:nvPr>
        </p:nvSpPr>
        <p:spPr/>
        <p:txBody>
          <a:bodyPr/>
          <a:lstStyle/>
          <a:p>
            <a:r>
              <a:rPr lang="en-US" dirty="0"/>
              <a:t>To the Requirements…..</a:t>
            </a:r>
          </a:p>
        </p:txBody>
      </p:sp>
      <p:sp>
        <p:nvSpPr>
          <p:cNvPr id="4" name="Rectangle 3">
            <a:extLst>
              <a:ext uri="{FF2B5EF4-FFF2-40B4-BE49-F238E27FC236}">
                <a16:creationId xmlns:a16="http://schemas.microsoft.com/office/drawing/2014/main" id="{1A5979A4-365F-0AE6-4825-4C8CDE94A81C}"/>
              </a:ext>
            </a:extLst>
          </p:cNvPr>
          <p:cNvSpPr/>
          <p:nvPr/>
        </p:nvSpPr>
        <p:spPr>
          <a:xfrm>
            <a:off x="948906" y="2044461"/>
            <a:ext cx="4675517" cy="2725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Cocky</a:t>
            </a:r>
          </a:p>
          <a:p>
            <a:pPr algn="ctr"/>
            <a:r>
              <a:rPr lang="en-US" dirty="0"/>
              <a:t>Investments</a:t>
            </a:r>
          </a:p>
          <a:p>
            <a:pPr algn="ctr"/>
            <a:r>
              <a:rPr lang="en-US" dirty="0"/>
              <a:t>(Gen1 &amp; 2)</a:t>
            </a:r>
          </a:p>
          <a:p>
            <a:pPr algn="ctr"/>
            <a:endParaRPr lang="en-US" dirty="0"/>
          </a:p>
          <a:p>
            <a:pPr algn="ctr"/>
            <a:r>
              <a:rPr lang="en-US" sz="1200" dirty="0">
                <a:solidFill>
                  <a:schemeClr val="accent5">
                    <a:lumMod val="60000"/>
                    <a:lumOff val="40000"/>
                  </a:schemeClr>
                </a:solidFill>
              </a:rPr>
              <a:t>Designed To Be An Analyst Led</a:t>
            </a:r>
          </a:p>
          <a:p>
            <a:pPr algn="ctr"/>
            <a:r>
              <a:rPr lang="en-US" sz="1200" dirty="0">
                <a:solidFill>
                  <a:schemeClr val="accent5">
                    <a:lumMod val="60000"/>
                    <a:lumOff val="40000"/>
                  </a:schemeClr>
                </a:solidFill>
              </a:rPr>
              <a:t>Trading &amp; Portfolio System</a:t>
            </a:r>
          </a:p>
          <a:p>
            <a:pPr algn="ctr"/>
            <a:r>
              <a:rPr lang="en-US" sz="1200" dirty="0">
                <a:solidFill>
                  <a:schemeClr val="accent5">
                    <a:lumMod val="60000"/>
                    <a:lumOff val="40000"/>
                  </a:schemeClr>
                </a:solidFill>
              </a:rPr>
              <a:t>(ref RT, ML, Fidelity Premier, Chase Private Bank, US Trust)</a:t>
            </a:r>
          </a:p>
          <a:p>
            <a:pPr algn="ctr"/>
            <a:endParaRPr lang="en-US" sz="900" dirty="0">
              <a:solidFill>
                <a:schemeClr val="accent5">
                  <a:lumMod val="60000"/>
                  <a:lumOff val="40000"/>
                </a:schemeClr>
              </a:solidFill>
            </a:endParaRPr>
          </a:p>
          <a:p>
            <a:pPr algn="ctr"/>
            <a:endParaRPr lang="en-US" sz="900" dirty="0">
              <a:solidFill>
                <a:schemeClr val="accent5">
                  <a:lumMod val="60000"/>
                  <a:lumOff val="40000"/>
                </a:schemeClr>
              </a:solidFill>
            </a:endParaRPr>
          </a:p>
        </p:txBody>
      </p:sp>
      <p:cxnSp>
        <p:nvCxnSpPr>
          <p:cNvPr id="7" name="Straight Arrow Connector 6">
            <a:extLst>
              <a:ext uri="{FF2B5EF4-FFF2-40B4-BE49-F238E27FC236}">
                <a16:creationId xmlns:a16="http://schemas.microsoft.com/office/drawing/2014/main" id="{5A384712-3CF5-E6A5-1D07-56EA067C7B9C}"/>
              </a:ext>
            </a:extLst>
          </p:cNvPr>
          <p:cNvCxnSpPr>
            <a:cxnSpLocks/>
          </p:cNvCxnSpPr>
          <p:nvPr/>
        </p:nvCxnSpPr>
        <p:spPr>
          <a:xfrm>
            <a:off x="5805578" y="2415396"/>
            <a:ext cx="2596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57A9F20A-F25C-9E33-5DF3-C3CEDFF75D32}"/>
              </a:ext>
            </a:extLst>
          </p:cNvPr>
          <p:cNvSpPr/>
          <p:nvPr/>
        </p:nvSpPr>
        <p:spPr>
          <a:xfrm>
            <a:off x="8548777" y="1871932"/>
            <a:ext cx="3407434" cy="23377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Cocky </a:t>
            </a:r>
          </a:p>
          <a:p>
            <a:pPr algn="ctr"/>
            <a:r>
              <a:rPr lang="en-US" dirty="0"/>
              <a:t>Analytics</a:t>
            </a:r>
          </a:p>
          <a:p>
            <a:pPr algn="ctr"/>
            <a:r>
              <a:rPr lang="en-US" dirty="0"/>
              <a:t>Gen3/4</a:t>
            </a:r>
          </a:p>
          <a:p>
            <a:pPr algn="ctr"/>
            <a:endParaRPr lang="en-US" dirty="0"/>
          </a:p>
          <a:p>
            <a:pPr algn="ctr"/>
            <a:r>
              <a:rPr lang="en-US" sz="1200" dirty="0"/>
              <a:t>Designed To Be A Self Led</a:t>
            </a:r>
          </a:p>
          <a:p>
            <a:pPr algn="ctr"/>
            <a:r>
              <a:rPr lang="en-US" sz="1200" dirty="0"/>
              <a:t>Trading &amp; Portfolio System For</a:t>
            </a:r>
          </a:p>
          <a:p>
            <a:pPr algn="ctr"/>
            <a:r>
              <a:rPr lang="en-US" sz="1200" dirty="0"/>
              <a:t>Smaller Investors</a:t>
            </a:r>
          </a:p>
          <a:p>
            <a:pPr algn="ctr"/>
            <a:r>
              <a:rPr lang="en-US" sz="1200" dirty="0"/>
              <a:t>(Ref: ML Edge, Fidelity, </a:t>
            </a:r>
            <a:r>
              <a:rPr lang="en-US" sz="1200" dirty="0" err="1"/>
              <a:t>eTrade</a:t>
            </a:r>
            <a:r>
              <a:rPr lang="en-US" sz="1200" dirty="0"/>
              <a:t>)</a:t>
            </a:r>
          </a:p>
          <a:p>
            <a:pPr algn="ctr"/>
            <a:endParaRPr lang="en-US" dirty="0"/>
          </a:p>
        </p:txBody>
      </p:sp>
      <p:cxnSp>
        <p:nvCxnSpPr>
          <p:cNvPr id="19" name="Straight Arrow Connector 18">
            <a:extLst>
              <a:ext uri="{FF2B5EF4-FFF2-40B4-BE49-F238E27FC236}">
                <a16:creationId xmlns:a16="http://schemas.microsoft.com/office/drawing/2014/main" id="{60F96957-5F0A-986C-0558-07F8337B3D32}"/>
              </a:ext>
            </a:extLst>
          </p:cNvPr>
          <p:cNvCxnSpPr/>
          <p:nvPr/>
        </p:nvCxnSpPr>
        <p:spPr>
          <a:xfrm flipH="1">
            <a:off x="5805578" y="3174521"/>
            <a:ext cx="25965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7D7D037-1EA1-FF37-F08B-2026B4435662}"/>
              </a:ext>
            </a:extLst>
          </p:cNvPr>
          <p:cNvSpPr txBox="1"/>
          <p:nvPr/>
        </p:nvSpPr>
        <p:spPr>
          <a:xfrm>
            <a:off x="592347" y="4867790"/>
            <a:ext cx="5503653" cy="1892826"/>
          </a:xfrm>
          <a:prstGeom prst="rect">
            <a:avLst/>
          </a:prstGeom>
          <a:noFill/>
        </p:spPr>
        <p:txBody>
          <a:bodyPr wrap="square" rtlCol="0">
            <a:spAutoFit/>
          </a:bodyPr>
          <a:lstStyle/>
          <a:p>
            <a:r>
              <a:rPr lang="en-US" sz="900" dirty="0"/>
              <a:t>In Analyst Led Systems - Sector &amp; Weighting Approaches are Applied to Present a Package to a customer. </a:t>
            </a:r>
          </a:p>
          <a:p>
            <a:r>
              <a:rPr lang="en-US" sz="900" dirty="0"/>
              <a:t>The package will include a Mix of Stocks vs Bonds, Mutual Funds, vs Individual Stocks, </a:t>
            </a:r>
            <a:r>
              <a:rPr lang="en-US" sz="900" dirty="0" err="1"/>
              <a:t>etc</a:t>
            </a:r>
            <a:r>
              <a:rPr lang="en-US" sz="900" dirty="0"/>
              <a:t>… </a:t>
            </a:r>
          </a:p>
          <a:p>
            <a:r>
              <a:rPr lang="en-US" sz="900" dirty="0"/>
              <a:t>They present a plan to a customer… and the customer provides feedback before they go forward. Usually customers come in with the amount they are seeking to professionally manage. This could be 50K to 10s of millions.</a:t>
            </a:r>
          </a:p>
          <a:p>
            <a:endParaRPr lang="en-US" sz="900" dirty="0"/>
          </a:p>
          <a:p>
            <a:r>
              <a:rPr lang="en-US" sz="900" dirty="0"/>
              <a:t>The key factors are the Investment Amount this is the sales pitch. Analysts have to convince customers that their models work under different economic conditions, that their education on these things is good, and that good outcomes will happen most of the time. </a:t>
            </a:r>
            <a:r>
              <a:rPr lang="en-US" sz="900" dirty="0" err="1"/>
              <a:t>Analytsts</a:t>
            </a:r>
            <a:r>
              <a:rPr lang="en-US" sz="900" dirty="0"/>
              <a:t> have to pass a very difficult test called the Series7 exams which requires 10 years as an apprentice as well. </a:t>
            </a:r>
            <a:r>
              <a:rPr lang="en-US" sz="900" b="1" dirty="0"/>
              <a:t>In practice it takes most 20-25 years of education to achieve their goals. Its not practical for IT people in general. The IT requirements are a mix of sectors, investment types, and cost management is the baseline. Our Team was able to achieve this using a combination of </a:t>
            </a:r>
            <a:r>
              <a:rPr lang="en-US" sz="900" b="1" dirty="0" err="1"/>
              <a:t>Rtools</a:t>
            </a:r>
            <a:r>
              <a:rPr lang="en-US" sz="900" b="1" dirty="0"/>
              <a:t> we had used, and </a:t>
            </a:r>
            <a:r>
              <a:rPr lang="en-US" sz="900" b="1" dirty="0" err="1"/>
              <a:t>Quantmod</a:t>
            </a:r>
            <a:r>
              <a:rPr lang="en-US" sz="900" b="1" dirty="0"/>
              <a:t> which has security prices.</a:t>
            </a:r>
          </a:p>
        </p:txBody>
      </p:sp>
      <p:sp>
        <p:nvSpPr>
          <p:cNvPr id="6" name="TextBox 5">
            <a:extLst>
              <a:ext uri="{FF2B5EF4-FFF2-40B4-BE49-F238E27FC236}">
                <a16:creationId xmlns:a16="http://schemas.microsoft.com/office/drawing/2014/main" id="{0F240B3E-1732-8779-CFCE-EEBC5A32FE66}"/>
              </a:ext>
            </a:extLst>
          </p:cNvPr>
          <p:cNvSpPr txBox="1"/>
          <p:nvPr/>
        </p:nvSpPr>
        <p:spPr>
          <a:xfrm>
            <a:off x="8013940" y="4477109"/>
            <a:ext cx="3942271" cy="1569660"/>
          </a:xfrm>
          <a:prstGeom prst="rect">
            <a:avLst/>
          </a:prstGeom>
          <a:noFill/>
        </p:spPr>
        <p:txBody>
          <a:bodyPr wrap="square" rtlCol="0">
            <a:spAutoFit/>
          </a:bodyPr>
          <a:lstStyle/>
          <a:p>
            <a:r>
              <a:rPr lang="en-US" sz="1200" dirty="0"/>
              <a:t>At the lower end of the marketplace, customers usually with far less money want to dabble with owning a few equities which they research on their own (Schwab, Fidelity, ML have reports on every stock, and Analysts who cover specific sectors). </a:t>
            </a:r>
          </a:p>
          <a:p>
            <a:endParaRPr lang="en-US" sz="1200" dirty="0"/>
          </a:p>
          <a:p>
            <a:r>
              <a:rPr lang="en-US" sz="1200" dirty="0">
                <a:solidFill>
                  <a:schemeClr val="accent5">
                    <a:lumMod val="60000"/>
                    <a:lumOff val="40000"/>
                  </a:schemeClr>
                </a:solidFill>
              </a:rPr>
              <a:t>These tools usually open this research to individuals, and they place their own orders in Real Time.</a:t>
            </a:r>
          </a:p>
        </p:txBody>
      </p:sp>
      <p:sp>
        <p:nvSpPr>
          <p:cNvPr id="11" name="TextBox 10">
            <a:extLst>
              <a:ext uri="{FF2B5EF4-FFF2-40B4-BE49-F238E27FC236}">
                <a16:creationId xmlns:a16="http://schemas.microsoft.com/office/drawing/2014/main" id="{CE47D7BE-369F-F03B-D538-791EBD4614B5}"/>
              </a:ext>
            </a:extLst>
          </p:cNvPr>
          <p:cNvSpPr txBox="1"/>
          <p:nvPr/>
        </p:nvSpPr>
        <p:spPr>
          <a:xfrm>
            <a:off x="5771072" y="3628741"/>
            <a:ext cx="1719532" cy="7848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900" dirty="0">
                <a:solidFill>
                  <a:schemeClr val="accent5">
                    <a:lumMod val="60000"/>
                    <a:lumOff val="40000"/>
                  </a:schemeClr>
                </a:solidFill>
              </a:rPr>
              <a:t>These tools usually result from a Proposal to a specific trading plan based on market conditions and are placed within 2 weeks of approval.</a:t>
            </a:r>
          </a:p>
        </p:txBody>
      </p:sp>
    </p:spTree>
    <p:extLst>
      <p:ext uri="{BB962C8B-B14F-4D97-AF65-F5344CB8AC3E}">
        <p14:creationId xmlns:p14="http://schemas.microsoft.com/office/powerpoint/2010/main" val="500428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5B901-6545-F271-6698-E3D018E71660}"/>
              </a:ext>
            </a:extLst>
          </p:cNvPr>
          <p:cNvSpPr>
            <a:spLocks noGrp="1"/>
          </p:cNvSpPr>
          <p:nvPr>
            <p:ph type="title"/>
          </p:nvPr>
        </p:nvSpPr>
        <p:spPr/>
        <p:txBody>
          <a:bodyPr/>
          <a:lstStyle/>
          <a:p>
            <a:r>
              <a:rPr lang="en-US" dirty="0"/>
              <a:t>Gen4… Self Modeling?</a:t>
            </a:r>
          </a:p>
        </p:txBody>
      </p:sp>
      <p:sp>
        <p:nvSpPr>
          <p:cNvPr id="3" name="Content Placeholder 2">
            <a:extLst>
              <a:ext uri="{FF2B5EF4-FFF2-40B4-BE49-F238E27FC236}">
                <a16:creationId xmlns:a16="http://schemas.microsoft.com/office/drawing/2014/main" id="{44EF10F4-33CB-09E2-8253-D1B3A6EF61A9}"/>
              </a:ext>
            </a:extLst>
          </p:cNvPr>
          <p:cNvSpPr>
            <a:spLocks noGrp="1"/>
          </p:cNvSpPr>
          <p:nvPr>
            <p:ph idx="1"/>
          </p:nvPr>
        </p:nvSpPr>
        <p:spPr/>
        <p:txBody>
          <a:bodyPr/>
          <a:lstStyle/>
          <a:p>
            <a:r>
              <a:rPr lang="en-US" dirty="0"/>
              <a:t>We cant really become ML Edge over night… as we don’t have research for every stock….</a:t>
            </a:r>
          </a:p>
          <a:p>
            <a:r>
              <a:rPr lang="en-US" dirty="0"/>
              <a:t>But we might be able to link stocks to Yahoo Finance or MarketWatch Pages as a simulation. </a:t>
            </a:r>
            <a:r>
              <a:rPr lang="en-US" dirty="0" err="1"/>
              <a:t>Quantmod</a:t>
            </a:r>
            <a:r>
              <a:rPr lang="en-US" dirty="0"/>
              <a:t> R library also has some basic tools.</a:t>
            </a:r>
          </a:p>
        </p:txBody>
      </p:sp>
    </p:spTree>
    <p:extLst>
      <p:ext uri="{BB962C8B-B14F-4D97-AF65-F5344CB8AC3E}">
        <p14:creationId xmlns:p14="http://schemas.microsoft.com/office/powerpoint/2010/main" val="3940986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A098D5-6739-DBDD-B943-201E1730BDDD}"/>
              </a:ext>
            </a:extLst>
          </p:cNvPr>
          <p:cNvSpPr>
            <a:spLocks noGrp="1"/>
          </p:cNvSpPr>
          <p:nvPr>
            <p:ph type="ctrTitle"/>
          </p:nvPr>
        </p:nvSpPr>
        <p:spPr/>
        <p:txBody>
          <a:bodyPr/>
          <a:lstStyle/>
          <a:p>
            <a:r>
              <a:rPr lang="en-US" dirty="0"/>
              <a:t>Paper Options</a:t>
            </a:r>
          </a:p>
        </p:txBody>
      </p:sp>
      <p:sp>
        <p:nvSpPr>
          <p:cNvPr id="5" name="Subtitle 4">
            <a:extLst>
              <a:ext uri="{FF2B5EF4-FFF2-40B4-BE49-F238E27FC236}">
                <a16:creationId xmlns:a16="http://schemas.microsoft.com/office/drawing/2014/main" id="{21124790-6D02-778C-5987-C8ECC711E092}"/>
              </a:ext>
            </a:extLst>
          </p:cNvPr>
          <p:cNvSpPr>
            <a:spLocks noGrp="1"/>
          </p:cNvSpPr>
          <p:nvPr>
            <p:ph type="subTitle" idx="1"/>
          </p:nvPr>
        </p:nvSpPr>
        <p:spPr/>
        <p:txBody>
          <a:bodyPr/>
          <a:lstStyle/>
          <a:p>
            <a:r>
              <a:rPr lang="en-US" dirty="0"/>
              <a:t>09/23/2026</a:t>
            </a:r>
          </a:p>
        </p:txBody>
      </p:sp>
    </p:spTree>
    <p:extLst>
      <p:ext uri="{BB962C8B-B14F-4D97-AF65-F5344CB8AC3E}">
        <p14:creationId xmlns:p14="http://schemas.microsoft.com/office/powerpoint/2010/main" val="1632715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C9AF-1CF6-72A5-6A5D-497676D400E7}"/>
              </a:ext>
            </a:extLst>
          </p:cNvPr>
          <p:cNvSpPr>
            <a:spLocks noGrp="1"/>
          </p:cNvSpPr>
          <p:nvPr>
            <p:ph type="title"/>
          </p:nvPr>
        </p:nvSpPr>
        <p:spPr/>
        <p:txBody>
          <a:bodyPr/>
          <a:lstStyle/>
          <a:p>
            <a:r>
              <a:rPr lang="en-US" dirty="0" err="1"/>
              <a:t>Igors</a:t>
            </a:r>
            <a:r>
              <a:rPr lang="en-US" dirty="0"/>
              <a:t> List… Generic Architecture Docs</a:t>
            </a:r>
          </a:p>
        </p:txBody>
      </p:sp>
      <p:sp>
        <p:nvSpPr>
          <p:cNvPr id="3" name="Content Placeholder 2">
            <a:extLst>
              <a:ext uri="{FF2B5EF4-FFF2-40B4-BE49-F238E27FC236}">
                <a16:creationId xmlns:a16="http://schemas.microsoft.com/office/drawing/2014/main" id="{8D07DE9B-6531-F568-08CA-3A7819167091}"/>
              </a:ext>
            </a:extLst>
          </p:cNvPr>
          <p:cNvSpPr>
            <a:spLocks noGrp="1"/>
          </p:cNvSpPr>
          <p:nvPr>
            <p:ph idx="1"/>
          </p:nvPr>
        </p:nvSpPr>
        <p:spPr>
          <a:xfrm>
            <a:off x="838199" y="1825625"/>
            <a:ext cx="10725727" cy="4492048"/>
          </a:xfrm>
        </p:spPr>
        <p:txBody>
          <a:bodyPr>
            <a:normAutofit fontScale="92500" lnSpcReduction="10000"/>
          </a:bodyPr>
          <a:lstStyle/>
          <a:p>
            <a:r>
              <a:rPr lang="en-US" dirty="0"/>
              <a:t>Generic Architecture Docs… Are Integrative </a:t>
            </a:r>
            <a:r>
              <a:rPr lang="en-US" dirty="0" err="1"/>
              <a:t>Processes.They</a:t>
            </a:r>
            <a:r>
              <a:rPr lang="en-US" dirty="0"/>
              <a:t> discuss the blueprints to build a system.</a:t>
            </a:r>
          </a:p>
          <a:p>
            <a:r>
              <a:rPr lang="en-US" dirty="0"/>
              <a:t>They might include new tools and processes which need to be built… which is an R&amp;D ICB(</a:t>
            </a:r>
            <a:r>
              <a:rPr lang="en-US" dirty="0" err="1"/>
              <a:t>Indiv</a:t>
            </a:r>
            <a:r>
              <a:rPr lang="en-US" dirty="0"/>
              <a:t> Case Basis Process).</a:t>
            </a:r>
          </a:p>
          <a:p>
            <a:r>
              <a:rPr lang="en-US" dirty="0"/>
              <a:t>There are at least 7 Generic Arch Documents which need to be written for this project which historically are 10-100 pages each at my old employers.</a:t>
            </a:r>
          </a:p>
          <a:p>
            <a:r>
              <a:rPr lang="en-US" dirty="0"/>
              <a:t>There are four unique pieces of technology in design which weren’t built previously (Cipher Tech, Audit Tech, API Billing Tech, And Traffic Tech)</a:t>
            </a:r>
          </a:p>
          <a:p>
            <a:r>
              <a:rPr lang="en-US" dirty="0"/>
              <a:t>There are two new complex payloads to build which in Fall of 2025 took over 3 </a:t>
            </a:r>
            <a:r>
              <a:rPr lang="en-US" dirty="0" err="1"/>
              <a:t>mos</a:t>
            </a:r>
            <a:r>
              <a:rPr lang="en-US" dirty="0"/>
              <a:t> to test for the bikes app. I have an advantage in that I have a working </a:t>
            </a:r>
            <a:r>
              <a:rPr lang="en-US" dirty="0" err="1"/>
              <a:t>backoffice</a:t>
            </a:r>
            <a:r>
              <a:rPr lang="en-US" dirty="0"/>
              <a:t> model and I can compress this process.</a:t>
            </a:r>
          </a:p>
        </p:txBody>
      </p:sp>
    </p:spTree>
    <p:extLst>
      <p:ext uri="{BB962C8B-B14F-4D97-AF65-F5344CB8AC3E}">
        <p14:creationId xmlns:p14="http://schemas.microsoft.com/office/powerpoint/2010/main" val="1713732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834B-5394-A41D-B418-D114C06AEDD8}"/>
              </a:ext>
            </a:extLst>
          </p:cNvPr>
          <p:cNvSpPr>
            <a:spLocks noGrp="1"/>
          </p:cNvSpPr>
          <p:nvPr>
            <p:ph type="title"/>
          </p:nvPr>
        </p:nvSpPr>
        <p:spPr>
          <a:xfrm>
            <a:off x="461817" y="365125"/>
            <a:ext cx="11554691" cy="1325563"/>
          </a:xfrm>
        </p:spPr>
        <p:txBody>
          <a:bodyPr/>
          <a:lstStyle/>
          <a:p>
            <a:r>
              <a:rPr lang="en-US" dirty="0"/>
              <a:t>PAPER OPTION1 – PGP – Client-Server over REST</a:t>
            </a:r>
          </a:p>
        </p:txBody>
      </p:sp>
      <p:sp>
        <p:nvSpPr>
          <p:cNvPr id="3" name="Content Placeholder 2">
            <a:extLst>
              <a:ext uri="{FF2B5EF4-FFF2-40B4-BE49-F238E27FC236}">
                <a16:creationId xmlns:a16="http://schemas.microsoft.com/office/drawing/2014/main" id="{41BAA2BB-B6E3-E8ED-04F3-D98121356685}"/>
              </a:ext>
            </a:extLst>
          </p:cNvPr>
          <p:cNvSpPr>
            <a:spLocks noGrp="1"/>
          </p:cNvSpPr>
          <p:nvPr>
            <p:ph idx="1"/>
          </p:nvPr>
        </p:nvSpPr>
        <p:spPr/>
        <p:txBody>
          <a:bodyPr>
            <a:normAutofit fontScale="85000" lnSpcReduction="10000"/>
          </a:bodyPr>
          <a:lstStyle/>
          <a:p>
            <a:r>
              <a:rPr lang="en-US" dirty="0"/>
              <a:t>PGP Privacy For Financial Applications involves a combination of meeting the business requirements of PCI compliance, HIPAA Compliance, and all other known Federal Security Standards (FIPS, FISMA, NIST DOD Standards).</a:t>
            </a:r>
          </a:p>
          <a:p>
            <a:pPr lvl="1"/>
            <a:r>
              <a:rPr lang="en-US" dirty="0"/>
              <a:t>Network Encryption is a trivial problem as it turns out in REST networks.</a:t>
            </a:r>
          </a:p>
          <a:p>
            <a:pPr lvl="1"/>
            <a:r>
              <a:rPr lang="en-US" dirty="0"/>
              <a:t>However Application Encryption is required anyway due to the requirements for accountability and audit control in the Financial space.</a:t>
            </a:r>
          </a:p>
          <a:p>
            <a:pPr lvl="1"/>
            <a:r>
              <a:rPr lang="en-US" dirty="0"/>
              <a:t>Cookies, Browser Session and Local Storage, Memory, and other database and authentication issues are more problematic.</a:t>
            </a:r>
          </a:p>
          <a:p>
            <a:pPr lvl="1"/>
            <a:r>
              <a:rPr lang="en-US" dirty="0"/>
              <a:t>To prep my application for meeting the deployment standards of my own previous companies we have to meet a change control and product development standard.</a:t>
            </a:r>
          </a:p>
          <a:p>
            <a:pPr lvl="1"/>
            <a:r>
              <a:rPr lang="en-US" dirty="0"/>
              <a:t>That being said what I have termed the “Cocky Cipher” is a general encryption mechanism which is sufficient for a thesis and can manage most of the requirements to making the app we built in STATS542 ready for production. It is in the class of monosyllabic substitution ciphers in basic forms, and in its most advanced form is a complex multi-variable substitution cipher which is unbreakable by modern technology.</a:t>
            </a:r>
          </a:p>
        </p:txBody>
      </p:sp>
    </p:spTree>
    <p:extLst>
      <p:ext uri="{BB962C8B-B14F-4D97-AF65-F5344CB8AC3E}">
        <p14:creationId xmlns:p14="http://schemas.microsoft.com/office/powerpoint/2010/main" val="297530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834B-5394-A41D-B418-D114C06AEDD8}"/>
              </a:ext>
            </a:extLst>
          </p:cNvPr>
          <p:cNvSpPr>
            <a:spLocks noGrp="1"/>
          </p:cNvSpPr>
          <p:nvPr>
            <p:ph type="title"/>
          </p:nvPr>
        </p:nvSpPr>
        <p:spPr/>
        <p:txBody>
          <a:bodyPr/>
          <a:lstStyle/>
          <a:p>
            <a:r>
              <a:rPr lang="en-US" dirty="0"/>
              <a:t>PAPER OPTION2 – REST AUDIT SCALING</a:t>
            </a:r>
          </a:p>
        </p:txBody>
      </p:sp>
      <p:sp>
        <p:nvSpPr>
          <p:cNvPr id="3" name="Content Placeholder 2">
            <a:extLst>
              <a:ext uri="{FF2B5EF4-FFF2-40B4-BE49-F238E27FC236}">
                <a16:creationId xmlns:a16="http://schemas.microsoft.com/office/drawing/2014/main" id="{41BAA2BB-B6E3-E8ED-04F3-D98121356685}"/>
              </a:ext>
            </a:extLst>
          </p:cNvPr>
          <p:cNvSpPr>
            <a:spLocks noGrp="1"/>
          </p:cNvSpPr>
          <p:nvPr>
            <p:ph idx="1"/>
          </p:nvPr>
        </p:nvSpPr>
        <p:spPr/>
        <p:txBody>
          <a:bodyPr>
            <a:normAutofit/>
          </a:bodyPr>
          <a:lstStyle/>
          <a:p>
            <a:r>
              <a:rPr lang="en-US" dirty="0"/>
              <a:t>Building an Application with 100 tables….</a:t>
            </a:r>
          </a:p>
          <a:p>
            <a:pPr lvl="1"/>
            <a:r>
              <a:rPr lang="en-US" dirty="0"/>
              <a:t>Generates on the Order of 500 REST EP’s</a:t>
            </a:r>
          </a:p>
          <a:p>
            <a:pPr lvl="1"/>
            <a:r>
              <a:rPr lang="en-US" dirty="0"/>
              <a:t>Generates Greater than 10 complex services</a:t>
            </a:r>
          </a:p>
          <a:p>
            <a:pPr lvl="1"/>
            <a:r>
              <a:rPr lang="en-US" dirty="0"/>
              <a:t>All EP’s have to be checked with constrained data services, authentication and encryption.</a:t>
            </a:r>
          </a:p>
          <a:p>
            <a:r>
              <a:rPr lang="en-US" dirty="0"/>
              <a:t>Challenges of Scaling Larger Endpoints</a:t>
            </a:r>
          </a:p>
        </p:txBody>
      </p:sp>
    </p:spTree>
    <p:extLst>
      <p:ext uri="{BB962C8B-B14F-4D97-AF65-F5344CB8AC3E}">
        <p14:creationId xmlns:p14="http://schemas.microsoft.com/office/powerpoint/2010/main" val="1139693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8473-6797-4B9D-FC46-85492DF9466B}"/>
              </a:ext>
            </a:extLst>
          </p:cNvPr>
          <p:cNvSpPr>
            <a:spLocks noGrp="1"/>
          </p:cNvSpPr>
          <p:nvPr>
            <p:ph type="title"/>
          </p:nvPr>
        </p:nvSpPr>
        <p:spPr/>
        <p:txBody>
          <a:bodyPr/>
          <a:lstStyle/>
          <a:p>
            <a:r>
              <a:rPr lang="en-US" dirty="0"/>
              <a:t>PAPER OPTION3 – TRAFFIC COLORING</a:t>
            </a:r>
          </a:p>
        </p:txBody>
      </p:sp>
      <p:sp>
        <p:nvSpPr>
          <p:cNvPr id="3" name="Content Placeholder 2">
            <a:extLst>
              <a:ext uri="{FF2B5EF4-FFF2-40B4-BE49-F238E27FC236}">
                <a16:creationId xmlns:a16="http://schemas.microsoft.com/office/drawing/2014/main" id="{61FF1257-8277-DE72-37DA-EB8CBDF7409F}"/>
              </a:ext>
            </a:extLst>
          </p:cNvPr>
          <p:cNvSpPr>
            <a:spLocks noGrp="1"/>
          </p:cNvSpPr>
          <p:nvPr>
            <p:ph idx="1"/>
          </p:nvPr>
        </p:nvSpPr>
        <p:spPr/>
        <p:txBody>
          <a:bodyPr/>
          <a:lstStyle/>
          <a:p>
            <a:r>
              <a:rPr lang="en-US" dirty="0"/>
              <a:t>Simply the Network Reporting of Colored API Traffic using common network models.</a:t>
            </a:r>
          </a:p>
          <a:p>
            <a:r>
              <a:rPr lang="en-US" dirty="0"/>
              <a:t>Moving 1000 APPS to REST would require 1000 Streams of Traffic.</a:t>
            </a:r>
          </a:p>
          <a:p>
            <a:r>
              <a:rPr lang="en-US" dirty="0"/>
              <a:t>Across up to 1000 LANS in a large Enterprise</a:t>
            </a:r>
          </a:p>
          <a:p>
            <a:r>
              <a:rPr lang="en-US" dirty="0"/>
              <a:t>Across a Hub-Scope Topology.</a:t>
            </a:r>
          </a:p>
        </p:txBody>
      </p:sp>
    </p:spTree>
    <p:extLst>
      <p:ext uri="{BB962C8B-B14F-4D97-AF65-F5344CB8AC3E}">
        <p14:creationId xmlns:p14="http://schemas.microsoft.com/office/powerpoint/2010/main" val="1838219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8473-6797-4B9D-FC46-85492DF9466B}"/>
              </a:ext>
            </a:extLst>
          </p:cNvPr>
          <p:cNvSpPr>
            <a:spLocks noGrp="1"/>
          </p:cNvSpPr>
          <p:nvPr>
            <p:ph type="title"/>
          </p:nvPr>
        </p:nvSpPr>
        <p:spPr>
          <a:xfrm>
            <a:off x="838200" y="365125"/>
            <a:ext cx="11104418" cy="1325563"/>
          </a:xfrm>
        </p:spPr>
        <p:txBody>
          <a:bodyPr/>
          <a:lstStyle/>
          <a:p>
            <a:r>
              <a:rPr lang="en-US" dirty="0"/>
              <a:t>PAPER OPTION4 – USAGE BASED API BILLING</a:t>
            </a:r>
          </a:p>
        </p:txBody>
      </p:sp>
      <p:sp>
        <p:nvSpPr>
          <p:cNvPr id="3" name="Content Placeholder 2">
            <a:extLst>
              <a:ext uri="{FF2B5EF4-FFF2-40B4-BE49-F238E27FC236}">
                <a16:creationId xmlns:a16="http://schemas.microsoft.com/office/drawing/2014/main" id="{61FF1257-8277-DE72-37DA-EB8CBDF7409F}"/>
              </a:ext>
            </a:extLst>
          </p:cNvPr>
          <p:cNvSpPr>
            <a:spLocks noGrp="1"/>
          </p:cNvSpPr>
          <p:nvPr>
            <p:ph idx="1"/>
          </p:nvPr>
        </p:nvSpPr>
        <p:spPr/>
        <p:txBody>
          <a:bodyPr/>
          <a:lstStyle/>
          <a:p>
            <a:r>
              <a:rPr lang="en-US" dirty="0"/>
              <a:t>Every API call has to be logged counted, and billed per application.</a:t>
            </a:r>
          </a:p>
          <a:p>
            <a:r>
              <a:rPr lang="en-US" dirty="0"/>
              <a:t>This is Entity Framework to Billing Requirement.</a:t>
            </a:r>
          </a:p>
        </p:txBody>
      </p:sp>
    </p:spTree>
    <p:extLst>
      <p:ext uri="{BB962C8B-B14F-4D97-AF65-F5344CB8AC3E}">
        <p14:creationId xmlns:p14="http://schemas.microsoft.com/office/powerpoint/2010/main" val="1591063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910C-BB13-B2EC-6BAD-4DC4639CEBD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702967E-AFB3-7E6D-4CB3-CB69C6795F95}"/>
              </a:ext>
            </a:extLst>
          </p:cNvPr>
          <p:cNvSpPr>
            <a:spLocks noGrp="1"/>
          </p:cNvSpPr>
          <p:nvPr>
            <p:ph idx="1"/>
          </p:nvPr>
        </p:nvSpPr>
        <p:spPr/>
        <p:txBody>
          <a:bodyPr>
            <a:normAutofit fontScale="92500" lnSpcReduction="10000"/>
          </a:bodyPr>
          <a:lstStyle/>
          <a:p>
            <a:r>
              <a:rPr lang="en-US" dirty="0"/>
              <a:t>The original plan of end to end application encryption from client to REST Fabric holds.</a:t>
            </a:r>
          </a:p>
          <a:p>
            <a:pPr lvl="1"/>
            <a:r>
              <a:rPr lang="en-US" dirty="0"/>
              <a:t>We made one modification and that’s to ensure Secure Transport over HTTPS independent of the rest of the architecture.</a:t>
            </a:r>
          </a:p>
          <a:p>
            <a:pPr lvl="1"/>
            <a:r>
              <a:rPr lang="en-US" dirty="0"/>
              <a:t>We have developed our own cipher which can operate in PGP mode with no keys delivered over the network, but with keys which could be decrypted by State/Federal actors with the WILL TO DO SO… or court orders.</a:t>
            </a:r>
          </a:p>
          <a:p>
            <a:pPr lvl="1"/>
            <a:r>
              <a:rPr lang="en-US" dirty="0"/>
              <a:t>We have a 5 Key System Per Stream which is </a:t>
            </a:r>
            <a:r>
              <a:rPr lang="en-US" dirty="0" err="1"/>
              <a:t>mathetically</a:t>
            </a:r>
            <a:r>
              <a:rPr lang="en-US" dirty="0"/>
              <a:t> impossible to break and has 1M years to run on 4GHZ single processor machine but the disk and memory requirements are so significant to run brute force calculations of more than 10B arrays that its quite literally not possible for non state actors with investments less than 10B dollars.</a:t>
            </a:r>
          </a:p>
          <a:p>
            <a:pPr lvl="1"/>
            <a:r>
              <a:rPr lang="en-US" dirty="0"/>
              <a:t>Our codes could be broken with large investments and lots of custom engineering resources. But not using word analysis or letter frequency.</a:t>
            </a:r>
          </a:p>
        </p:txBody>
      </p:sp>
    </p:spTree>
    <p:extLst>
      <p:ext uri="{BB962C8B-B14F-4D97-AF65-F5344CB8AC3E}">
        <p14:creationId xmlns:p14="http://schemas.microsoft.com/office/powerpoint/2010/main" val="978331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4600-5E47-ADDF-931C-8444FC3A30B4}"/>
              </a:ext>
            </a:extLst>
          </p:cNvPr>
          <p:cNvSpPr>
            <a:spLocks noGrp="1"/>
          </p:cNvSpPr>
          <p:nvPr>
            <p:ph type="title"/>
          </p:nvPr>
        </p:nvSpPr>
        <p:spPr/>
        <p:txBody>
          <a:bodyPr/>
          <a:lstStyle/>
          <a:p>
            <a:r>
              <a:rPr lang="en-US" dirty="0"/>
              <a:t>The Cocky Cipher System – The Basics</a:t>
            </a:r>
          </a:p>
        </p:txBody>
      </p:sp>
      <p:sp>
        <p:nvSpPr>
          <p:cNvPr id="3" name="Content Placeholder 2">
            <a:extLst>
              <a:ext uri="{FF2B5EF4-FFF2-40B4-BE49-F238E27FC236}">
                <a16:creationId xmlns:a16="http://schemas.microsoft.com/office/drawing/2014/main" id="{110704ED-4387-1E67-5671-6C69AFE2E9D0}"/>
              </a:ext>
            </a:extLst>
          </p:cNvPr>
          <p:cNvSpPr>
            <a:spLocks noGrp="1"/>
          </p:cNvSpPr>
          <p:nvPr>
            <p:ph idx="1"/>
          </p:nvPr>
        </p:nvSpPr>
        <p:spPr/>
        <p:txBody>
          <a:bodyPr>
            <a:normAutofit fontScale="85000" lnSpcReduction="20000"/>
          </a:bodyPr>
          <a:lstStyle/>
          <a:p>
            <a:r>
              <a:rPr lang="en-US" dirty="0"/>
              <a:t>Step1 – Breaks a Payload assumed to fit inside a 1500 Byte MTU used on most routed infrastructure with extra spaces at a fixed interval which we have arbitrarily set to 5. That means every word that is more than five letters gets broken up with a space… and that makes single letter keys near impossible. (A, I no longer the only single combination)</a:t>
            </a:r>
          </a:p>
          <a:p>
            <a:r>
              <a:rPr lang="en-US" dirty="0"/>
              <a:t>Step2 – Converts the Modified Payload to ASCII Values with a plus 96 shift which would puts every letter into the Extended ASCII control codes (They are no longer letters they are encoded binary and hex values).</a:t>
            </a:r>
          </a:p>
          <a:p>
            <a:r>
              <a:rPr lang="en-US" dirty="0"/>
              <a:t>Step3 – Applies 1 Key on all ASCII Values PGP (25! Factorial combinations)</a:t>
            </a:r>
          </a:p>
          <a:p>
            <a:pPr lvl="1"/>
            <a:r>
              <a:rPr lang="en-US" dirty="0"/>
              <a:t>OR Applies 5 Keys on all ASCII Values which changes the shift from the 96 base.</a:t>
            </a:r>
          </a:p>
          <a:p>
            <a:pPr lvl="1"/>
            <a:r>
              <a:rPr lang="en-US" dirty="0"/>
              <a:t>OR Applies a Prime Based Mutator using Modular division to force a distribution inside the extended ASCII set.</a:t>
            </a:r>
          </a:p>
          <a:p>
            <a:r>
              <a:rPr lang="en-US" dirty="0"/>
              <a:t>NOTES: The Keyless version of the Cocky Cipher can generate 5 keys using Network Time Protocol and can run in synchronous or </a:t>
            </a:r>
            <a:r>
              <a:rPr lang="en-US" dirty="0" err="1"/>
              <a:t>asynch</a:t>
            </a:r>
            <a:r>
              <a:rPr lang="en-US" dirty="0"/>
              <a:t> mode by simply subtracting 4 hours from the time. (4 Hour async option).</a:t>
            </a:r>
          </a:p>
        </p:txBody>
      </p:sp>
    </p:spTree>
    <p:extLst>
      <p:ext uri="{BB962C8B-B14F-4D97-AF65-F5344CB8AC3E}">
        <p14:creationId xmlns:p14="http://schemas.microsoft.com/office/powerpoint/2010/main" val="854642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0758-6318-2B38-2001-8C237F215B79}"/>
              </a:ext>
            </a:extLst>
          </p:cNvPr>
          <p:cNvSpPr>
            <a:spLocks noGrp="1"/>
          </p:cNvSpPr>
          <p:nvPr>
            <p:ph type="title"/>
          </p:nvPr>
        </p:nvSpPr>
        <p:spPr/>
        <p:txBody>
          <a:bodyPr/>
          <a:lstStyle/>
          <a:p>
            <a:r>
              <a:rPr lang="en-US" dirty="0"/>
              <a:t>Advanced Monosyllabic Cipher Family</a:t>
            </a:r>
          </a:p>
        </p:txBody>
      </p:sp>
      <p:sp>
        <p:nvSpPr>
          <p:cNvPr id="3" name="Content Placeholder 2">
            <a:extLst>
              <a:ext uri="{FF2B5EF4-FFF2-40B4-BE49-F238E27FC236}">
                <a16:creationId xmlns:a16="http://schemas.microsoft.com/office/drawing/2014/main" id="{25C17C76-2568-23D0-E8D3-D8047C92705D}"/>
              </a:ext>
            </a:extLst>
          </p:cNvPr>
          <p:cNvSpPr>
            <a:spLocks noGrp="1"/>
          </p:cNvSpPr>
          <p:nvPr>
            <p:ph idx="1"/>
          </p:nvPr>
        </p:nvSpPr>
        <p:spPr/>
        <p:txBody>
          <a:bodyPr>
            <a:normAutofit fontScale="85000" lnSpcReduction="20000"/>
          </a:bodyPr>
          <a:lstStyle/>
          <a:p>
            <a:r>
              <a:rPr lang="en-US" dirty="0"/>
              <a:t>Defeats Word Analysis(As it breaks words up in Pass1, and flips letter combinations)</a:t>
            </a:r>
          </a:p>
          <a:p>
            <a:r>
              <a:rPr lang="en-US" dirty="0"/>
              <a:t>Defeats Letter Analysis(As it doesn’t use letters)</a:t>
            </a:r>
          </a:p>
          <a:p>
            <a:r>
              <a:rPr lang="en-US" dirty="0"/>
              <a:t>Can be used for coded messages in any ISO variant of ASCII supporting all known language systems.</a:t>
            </a:r>
          </a:p>
          <a:p>
            <a:r>
              <a:rPr lang="en-US" dirty="0"/>
              <a:t>A Single Cipher of 255! Requires more than 200K years of time to brute force break a code assuming that Word and Letter Analysis are removed as a possibility.</a:t>
            </a:r>
          </a:p>
          <a:p>
            <a:r>
              <a:rPr lang="en-US" dirty="0"/>
              <a:t>Used the explanation of </a:t>
            </a:r>
            <a:r>
              <a:rPr lang="en-US" dirty="0" err="1"/>
              <a:t>CodeBreaking</a:t>
            </a:r>
            <a:r>
              <a:rPr lang="en-US" dirty="0"/>
              <a:t> from Carnegie Melon – Sr Instructor on Cryptology.</a:t>
            </a:r>
          </a:p>
          <a:p>
            <a:r>
              <a:rPr lang="en-US" dirty="0"/>
              <a:t>Can be used to encrypt any communications type (FR, SONET, ATM, IP, MPLS, TOKEN RING) as a substitution cipher using ASCII codes is something every computer on earth can do… and standard ASCII hardware escalation requires no modification.</a:t>
            </a:r>
          </a:p>
          <a:p>
            <a:endParaRPr lang="en-US" dirty="0"/>
          </a:p>
        </p:txBody>
      </p:sp>
    </p:spTree>
    <p:extLst>
      <p:ext uri="{BB962C8B-B14F-4D97-AF65-F5344CB8AC3E}">
        <p14:creationId xmlns:p14="http://schemas.microsoft.com/office/powerpoint/2010/main" val="1479200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59324-FA6E-29CF-9C2C-B226F87A991D}"/>
              </a:ext>
            </a:extLst>
          </p:cNvPr>
          <p:cNvSpPr>
            <a:spLocks noGrp="1"/>
          </p:cNvSpPr>
          <p:nvPr>
            <p:ph type="title"/>
          </p:nvPr>
        </p:nvSpPr>
        <p:spPr/>
        <p:txBody>
          <a:bodyPr/>
          <a:lstStyle/>
          <a:p>
            <a:r>
              <a:rPr lang="en-US" dirty="0"/>
              <a:t>Problems… Pagination….</a:t>
            </a:r>
          </a:p>
        </p:txBody>
      </p:sp>
      <p:sp>
        <p:nvSpPr>
          <p:cNvPr id="3" name="Content Placeholder 2">
            <a:extLst>
              <a:ext uri="{FF2B5EF4-FFF2-40B4-BE49-F238E27FC236}">
                <a16:creationId xmlns:a16="http://schemas.microsoft.com/office/drawing/2014/main" id="{96A4951D-D730-8EE8-B275-0D0894A0AD10}"/>
              </a:ext>
            </a:extLst>
          </p:cNvPr>
          <p:cNvSpPr>
            <a:spLocks noGrp="1"/>
          </p:cNvSpPr>
          <p:nvPr>
            <p:ph idx="1"/>
          </p:nvPr>
        </p:nvSpPr>
        <p:spPr/>
        <p:txBody>
          <a:bodyPr>
            <a:normAutofit fontScale="92500"/>
          </a:bodyPr>
          <a:lstStyle/>
          <a:p>
            <a:r>
              <a:rPr lang="en-US" dirty="0"/>
              <a:t>A 1500 Byte Payload which injects a space in ASCII after every 5</a:t>
            </a:r>
            <a:r>
              <a:rPr lang="en-US" baseline="30000" dirty="0"/>
              <a:t>th</a:t>
            </a:r>
            <a:r>
              <a:rPr lang="en-US" dirty="0"/>
              <a:t> letter makes the payload at least 20% bigger in practice or 1800 bytes… this makes the MTU </a:t>
            </a:r>
            <a:r>
              <a:rPr lang="en-US" dirty="0" err="1"/>
              <a:t>usuable</a:t>
            </a:r>
            <a:r>
              <a:rPr lang="en-US" dirty="0"/>
              <a:t> for data communication smaller on IP circuits to about 1200 Bytes to be safe.</a:t>
            </a:r>
          </a:p>
          <a:p>
            <a:r>
              <a:rPr lang="en-US" dirty="0"/>
              <a:t>1800 Bytes after encryption would force segmentation which is a normal process for the network layer to preform… but this means that we would need to have near full control of the stack, or use a standard stack, and simply deliver encrypted text to a standard network OSI model.</a:t>
            </a:r>
          </a:p>
          <a:p>
            <a:r>
              <a:rPr lang="en-US" dirty="0"/>
              <a:t>Networks are so fast…. These days… we might double packets during encryption on the worst case, but it would have to be measured…..</a:t>
            </a:r>
          </a:p>
        </p:txBody>
      </p:sp>
    </p:spTree>
    <p:extLst>
      <p:ext uri="{BB962C8B-B14F-4D97-AF65-F5344CB8AC3E}">
        <p14:creationId xmlns:p14="http://schemas.microsoft.com/office/powerpoint/2010/main" val="3850796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77E23-4CB5-97AE-8D17-FD72C83CBEDC}"/>
              </a:ext>
            </a:extLst>
          </p:cNvPr>
          <p:cNvSpPr>
            <a:spLocks noGrp="1"/>
          </p:cNvSpPr>
          <p:nvPr>
            <p:ph type="title"/>
          </p:nvPr>
        </p:nvSpPr>
        <p:spPr/>
        <p:txBody>
          <a:bodyPr/>
          <a:lstStyle/>
          <a:p>
            <a:r>
              <a:rPr lang="en-US" dirty="0"/>
              <a:t>Options For Measurement….</a:t>
            </a:r>
          </a:p>
        </p:txBody>
      </p:sp>
      <p:sp>
        <p:nvSpPr>
          <p:cNvPr id="3" name="Content Placeholder 2">
            <a:extLst>
              <a:ext uri="{FF2B5EF4-FFF2-40B4-BE49-F238E27FC236}">
                <a16:creationId xmlns:a16="http://schemas.microsoft.com/office/drawing/2014/main" id="{8C2FD003-4626-83AB-5666-763D5CD1F729}"/>
              </a:ext>
            </a:extLst>
          </p:cNvPr>
          <p:cNvSpPr>
            <a:spLocks noGrp="1"/>
          </p:cNvSpPr>
          <p:nvPr>
            <p:ph idx="1"/>
          </p:nvPr>
        </p:nvSpPr>
        <p:spPr>
          <a:xfrm>
            <a:off x="838200" y="1825625"/>
            <a:ext cx="5257800" cy="4351338"/>
          </a:xfrm>
        </p:spPr>
        <p:txBody>
          <a:bodyPr>
            <a:normAutofit lnSpcReduction="10000"/>
          </a:bodyPr>
          <a:lstStyle/>
          <a:p>
            <a:r>
              <a:rPr lang="en-US" dirty="0"/>
              <a:t>Generate a Large Block of Text -&gt; 150 Page+ PD</a:t>
            </a:r>
          </a:p>
          <a:p>
            <a:pPr lvl="1"/>
            <a:r>
              <a:rPr lang="en-US" dirty="0"/>
              <a:t>Send across a normal network (Count the packets)</a:t>
            </a:r>
          </a:p>
          <a:p>
            <a:pPr lvl="1"/>
            <a:r>
              <a:rPr lang="en-US" dirty="0"/>
              <a:t>Encrypt the same block (Count the packets)</a:t>
            </a:r>
          </a:p>
          <a:p>
            <a:pPr lvl="1"/>
            <a:r>
              <a:rPr lang="en-US" dirty="0"/>
              <a:t>Perhaps a full dictionary of several thousand pages.</a:t>
            </a:r>
          </a:p>
          <a:p>
            <a:pPr lvl="1"/>
            <a:r>
              <a:rPr lang="en-US" dirty="0"/>
              <a:t>Understand the overhead of the cipher.</a:t>
            </a:r>
          </a:p>
          <a:p>
            <a:pPr lvl="1"/>
            <a:r>
              <a:rPr lang="en-US" dirty="0"/>
              <a:t>Generate an Estimate on Delay via fine grained C++ calcs.</a:t>
            </a:r>
          </a:p>
        </p:txBody>
      </p:sp>
      <p:pic>
        <p:nvPicPr>
          <p:cNvPr id="5" name="Picture 4">
            <a:extLst>
              <a:ext uri="{FF2B5EF4-FFF2-40B4-BE49-F238E27FC236}">
                <a16:creationId xmlns:a16="http://schemas.microsoft.com/office/drawing/2014/main" id="{5BA1160A-B2F6-82DC-BD4A-8B457DF7E9EB}"/>
              </a:ext>
            </a:extLst>
          </p:cNvPr>
          <p:cNvPicPr>
            <a:picLocks noChangeAspect="1"/>
          </p:cNvPicPr>
          <p:nvPr/>
        </p:nvPicPr>
        <p:blipFill>
          <a:blip r:embed="rId2"/>
          <a:stretch>
            <a:fillRect/>
          </a:stretch>
        </p:blipFill>
        <p:spPr>
          <a:xfrm>
            <a:off x="6922654" y="1690688"/>
            <a:ext cx="4789054" cy="4248355"/>
          </a:xfrm>
          <a:prstGeom prst="rect">
            <a:avLst/>
          </a:prstGeom>
        </p:spPr>
      </p:pic>
    </p:spTree>
    <p:extLst>
      <p:ext uri="{BB962C8B-B14F-4D97-AF65-F5344CB8AC3E}">
        <p14:creationId xmlns:p14="http://schemas.microsoft.com/office/powerpoint/2010/main" val="3170608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814555-CEA3-3A1E-A292-F9242730C8F7}"/>
              </a:ext>
            </a:extLst>
          </p:cNvPr>
          <p:cNvSpPr>
            <a:spLocks noGrp="1"/>
          </p:cNvSpPr>
          <p:nvPr>
            <p:ph type="title"/>
          </p:nvPr>
        </p:nvSpPr>
        <p:spPr/>
        <p:txBody>
          <a:bodyPr/>
          <a:lstStyle/>
          <a:p>
            <a:r>
              <a:rPr lang="en-US" dirty="0"/>
              <a:t>The Text</a:t>
            </a:r>
          </a:p>
        </p:txBody>
      </p:sp>
      <p:sp>
        <p:nvSpPr>
          <p:cNvPr id="5" name="Content Placeholder 4">
            <a:extLst>
              <a:ext uri="{FF2B5EF4-FFF2-40B4-BE49-F238E27FC236}">
                <a16:creationId xmlns:a16="http://schemas.microsoft.com/office/drawing/2014/main" id="{A77C2170-3CBD-B6C3-5BDC-813105ADE6BA}"/>
              </a:ext>
            </a:extLst>
          </p:cNvPr>
          <p:cNvSpPr>
            <a:spLocks noGrp="1"/>
          </p:cNvSpPr>
          <p:nvPr>
            <p:ph idx="1"/>
          </p:nvPr>
        </p:nvSpPr>
        <p:spPr/>
        <p:txBody>
          <a:bodyPr>
            <a:normAutofit fontScale="85000" lnSpcReduction="20000"/>
          </a:bodyPr>
          <a:lstStyle/>
          <a:p>
            <a:r>
              <a:rPr lang="en-US" dirty="0"/>
              <a:t>The Case Studies</a:t>
            </a:r>
          </a:p>
          <a:p>
            <a:r>
              <a:rPr lang="en-US" dirty="0"/>
              <a:t>The Security Project</a:t>
            </a:r>
          </a:p>
          <a:p>
            <a:r>
              <a:rPr lang="en-US" dirty="0"/>
              <a:t>The Application Framework</a:t>
            </a:r>
          </a:p>
          <a:p>
            <a:r>
              <a:rPr lang="en-US" dirty="0"/>
              <a:t>The REST Fabric Standards</a:t>
            </a:r>
          </a:p>
          <a:p>
            <a:r>
              <a:rPr lang="en-US" dirty="0"/>
              <a:t>And Historical Training on Location, PLL, FLL is nearly complete to an RBOC standard. This is a human document which usually gets 100s of edits by the project team.</a:t>
            </a:r>
          </a:p>
          <a:p>
            <a:r>
              <a:rPr lang="en-US" dirty="0"/>
              <a:t>Natasha, Linda, Igor, Bob, and everyone who touches the document would be expected to write in-line redlines in a document management system like Ariba as part of their participation in the project with emails.</a:t>
            </a:r>
          </a:p>
          <a:p>
            <a:r>
              <a:rPr lang="en-US" dirty="0"/>
              <a:t>Linda would be expected to build a repository like Teams, </a:t>
            </a:r>
            <a:r>
              <a:rPr lang="en-US" dirty="0" err="1"/>
              <a:t>Github</a:t>
            </a:r>
            <a:r>
              <a:rPr lang="en-US" dirty="0"/>
              <a:t>, </a:t>
            </a:r>
            <a:r>
              <a:rPr lang="en-US" dirty="0" err="1"/>
              <a:t>Sharepoint</a:t>
            </a:r>
            <a:r>
              <a:rPr lang="en-US" dirty="0"/>
              <a:t> site with literally every document, and Gant chart, </a:t>
            </a:r>
            <a:r>
              <a:rPr lang="en-US" dirty="0" err="1"/>
              <a:t>etc</a:t>
            </a:r>
            <a:r>
              <a:rPr lang="en-US" dirty="0"/>
              <a:t> which is a massive job in itself.</a:t>
            </a:r>
          </a:p>
        </p:txBody>
      </p:sp>
    </p:spTree>
    <p:extLst>
      <p:ext uri="{BB962C8B-B14F-4D97-AF65-F5344CB8AC3E}">
        <p14:creationId xmlns:p14="http://schemas.microsoft.com/office/powerpoint/2010/main" val="772072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509F-06D9-F630-932B-4A41291DFAF6}"/>
              </a:ext>
            </a:extLst>
          </p:cNvPr>
          <p:cNvSpPr>
            <a:spLocks noGrp="1"/>
          </p:cNvSpPr>
          <p:nvPr>
            <p:ph type="title"/>
          </p:nvPr>
        </p:nvSpPr>
        <p:spPr/>
        <p:txBody>
          <a:bodyPr/>
          <a:lstStyle/>
          <a:p>
            <a:r>
              <a:rPr lang="en-US" dirty="0"/>
              <a:t>Note….</a:t>
            </a:r>
          </a:p>
        </p:txBody>
      </p:sp>
      <p:sp>
        <p:nvSpPr>
          <p:cNvPr id="3" name="Content Placeholder 2">
            <a:extLst>
              <a:ext uri="{FF2B5EF4-FFF2-40B4-BE49-F238E27FC236}">
                <a16:creationId xmlns:a16="http://schemas.microsoft.com/office/drawing/2014/main" id="{ED47E081-F603-A81A-173C-4717E41B97BA}"/>
              </a:ext>
            </a:extLst>
          </p:cNvPr>
          <p:cNvSpPr>
            <a:spLocks noGrp="1"/>
          </p:cNvSpPr>
          <p:nvPr>
            <p:ph idx="1"/>
          </p:nvPr>
        </p:nvSpPr>
        <p:spPr/>
        <p:txBody>
          <a:bodyPr>
            <a:normAutofit fontScale="92500" lnSpcReduction="20000"/>
          </a:bodyPr>
          <a:lstStyle/>
          <a:p>
            <a:r>
              <a:rPr lang="en-US" dirty="0"/>
              <a:t>I had 4 professionals helping me in 542 who were well trained data architects.</a:t>
            </a:r>
          </a:p>
          <a:p>
            <a:r>
              <a:rPr lang="en-US" dirty="0"/>
              <a:t>It took us three months or 12 man </a:t>
            </a:r>
            <a:r>
              <a:rPr lang="en-US" dirty="0" err="1"/>
              <a:t>mos</a:t>
            </a:r>
            <a:r>
              <a:rPr lang="en-US" dirty="0"/>
              <a:t> to build Gen1 and it had exactly two tables, and two pages of R code. </a:t>
            </a:r>
          </a:p>
          <a:p>
            <a:r>
              <a:rPr lang="en-US" dirty="0"/>
              <a:t>My only advantage is this my 10</a:t>
            </a:r>
            <a:r>
              <a:rPr lang="en-US" baseline="30000" dirty="0"/>
              <a:t>th</a:t>
            </a:r>
            <a:r>
              <a:rPr lang="en-US" dirty="0"/>
              <a:t> project in software engineering methods here at the University and I have a lot of code built and working.</a:t>
            </a:r>
          </a:p>
          <a:p>
            <a:r>
              <a:rPr lang="en-US" dirty="0"/>
              <a:t>My assembly will include some prebuilt code, and some new. </a:t>
            </a:r>
          </a:p>
          <a:p>
            <a:r>
              <a:rPr lang="en-US" dirty="0"/>
              <a:t>I intend to use </a:t>
            </a:r>
            <a:r>
              <a:rPr lang="en-US" dirty="0" err="1"/>
              <a:t>claude</a:t>
            </a:r>
            <a:r>
              <a:rPr lang="en-US" dirty="0"/>
              <a:t> code to assist with UI development, and mostly copilot and my own hand work in the </a:t>
            </a:r>
            <a:r>
              <a:rPr lang="en-US" dirty="0" err="1"/>
              <a:t>backoffice</a:t>
            </a:r>
            <a:r>
              <a:rPr lang="en-US" dirty="0"/>
              <a:t> for Gen4.</a:t>
            </a:r>
          </a:p>
          <a:p>
            <a:r>
              <a:rPr lang="en-US" dirty="0"/>
              <a:t>To put things in perspective LUNA has had 700 Revisions since February.</a:t>
            </a:r>
          </a:p>
        </p:txBody>
      </p:sp>
    </p:spTree>
    <p:extLst>
      <p:ext uri="{BB962C8B-B14F-4D97-AF65-F5344CB8AC3E}">
        <p14:creationId xmlns:p14="http://schemas.microsoft.com/office/powerpoint/2010/main" val="2720445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4781</Words>
  <Application>Microsoft Office PowerPoint</Application>
  <PresentationFormat>Widescreen</PresentationFormat>
  <Paragraphs>344</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Aptos Display</vt:lpstr>
      <vt:lpstr>Arial</vt:lpstr>
      <vt:lpstr>Office Theme</vt:lpstr>
      <vt:lpstr>Scope of Work Sprint2/3 Plan</vt:lpstr>
      <vt:lpstr>Sprint Status</vt:lpstr>
      <vt:lpstr>Case Study Next Generation GWIM Tools Deployment</vt:lpstr>
      <vt:lpstr>We Are Cocky Financial… A Virtual Company</vt:lpstr>
      <vt:lpstr>Bob &amp; Linda have problems….</vt:lpstr>
      <vt:lpstr>Other Concerns….</vt:lpstr>
      <vt:lpstr>Bob and Linda want speed….</vt:lpstr>
      <vt:lpstr>Linda’s Response</vt:lpstr>
      <vt:lpstr>Natasha’s Response</vt:lpstr>
      <vt:lpstr>Igors Response….</vt:lpstr>
      <vt:lpstr>Lindas Review of App Status  &amp; NextGen GWIM Business Requirements</vt:lpstr>
      <vt:lpstr>Product Cycle Requirements</vt:lpstr>
      <vt:lpstr>Stakeholders Meeting (Sprint2) – Oct16</vt:lpstr>
      <vt:lpstr>From Bikes To Market Payloads</vt:lpstr>
      <vt:lpstr>Example CF.SB &amp; CF.NB JSON Payloads</vt:lpstr>
      <vt:lpstr>Case Ready To Production</vt:lpstr>
      <vt:lpstr>Disclaimer….And Important Point….</vt:lpstr>
      <vt:lpstr>Plan of Record</vt:lpstr>
      <vt:lpstr>First the App… then the method</vt:lpstr>
      <vt:lpstr>To the Requirements…..</vt:lpstr>
      <vt:lpstr>Gen4… Self Modeling?</vt:lpstr>
      <vt:lpstr>Paper Options</vt:lpstr>
      <vt:lpstr>Igors List… Generic Architecture Docs</vt:lpstr>
      <vt:lpstr>PAPER OPTION1 – PGP – Client-Server over REST</vt:lpstr>
      <vt:lpstr>PAPER OPTION2 – REST AUDIT SCALING</vt:lpstr>
      <vt:lpstr>PAPER OPTION3 – TRAFFIC COLORING</vt:lpstr>
      <vt:lpstr>PAPER OPTION4 – USAGE BASED API BILLING</vt:lpstr>
      <vt:lpstr>Summary</vt:lpstr>
      <vt:lpstr>The Cocky Cipher System – The Basics</vt:lpstr>
      <vt:lpstr>Advanced Monosyllabic Cipher Family</vt:lpstr>
      <vt:lpstr>Problems… Pagination….</vt:lpstr>
      <vt:lpstr>Options For Measurement….</vt:lpstr>
      <vt:lpstr>The Text</vt:lpstr>
      <vt:lpstr>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Stritzinger, John</dc:creator>
  <cp:lastModifiedBy>Stritzinger, John</cp:lastModifiedBy>
  <cp:revision>41</cp:revision>
  <dcterms:created xsi:type="dcterms:W3CDTF">2026-09-23T14:18:55Z</dcterms:created>
  <dcterms:modified xsi:type="dcterms:W3CDTF">2026-09-24T13:55:39Z</dcterms:modified>
</cp:coreProperties>
</file>