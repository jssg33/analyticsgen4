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256" r:id="rId2"/>
    <p:sldId id="257" r:id="rId3"/>
    <p:sldId id="271" r:id="rId4"/>
    <p:sldId id="259" r:id="rId5"/>
    <p:sldId id="260" r:id="rId6"/>
    <p:sldId id="264" r:id="rId7"/>
    <p:sldId id="261" r:id="rId8"/>
    <p:sldId id="262" r:id="rId9"/>
    <p:sldId id="263" r:id="rId10"/>
    <p:sldId id="265" r:id="rId11"/>
    <p:sldId id="266" r:id="rId12"/>
    <p:sldId id="267" r:id="rId13"/>
    <p:sldId id="268" r:id="rId14"/>
    <p:sldId id="269" r:id="rId15"/>
    <p:sldId id="270" r:id="rId16"/>
    <p:sldId id="272" r:id="rId17"/>
    <p:sldId id="2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94"/>
  </p:normalViewPr>
  <p:slideViewPr>
    <p:cSldViewPr snapToGrid="0" snapToObjects="1">
      <p:cViewPr>
        <p:scale>
          <a:sx n="120" d="100"/>
          <a:sy n="120" d="100"/>
        </p:scale>
        <p:origin x="120" y="-15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9/28/2026</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A3E603-0EE4-3042-9661-047EB577E4A2}" type="slidenum">
              <a:rPr lang="en-US" smtClean="0"/>
              <a:t>2</a:t>
            </a:fld>
            <a:endParaRPr lang="en-US"/>
          </a:p>
        </p:txBody>
      </p:sp>
    </p:spTree>
    <p:extLst>
      <p:ext uri="{BB962C8B-B14F-4D97-AF65-F5344CB8AC3E}">
        <p14:creationId xmlns:p14="http://schemas.microsoft.com/office/powerpoint/2010/main" val="177043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lstStyle>
            <a:lvl1pPr algn="ctr">
              <a:defRPr sz="6000">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9" name="Picture 8" descr="University of South Carolina logo.">
            <a:extLst>
              <a:ext uri="{FF2B5EF4-FFF2-40B4-BE49-F238E27FC236}">
                <a16:creationId xmlns:a16="http://schemas.microsoft.com/office/drawing/2014/main" id="{C81DC1BB-A980-8448-BB01-0788DE4349F9}"/>
              </a:ext>
            </a:extLst>
          </p:cNvPr>
          <p:cNvPicPr>
            <a:picLocks noChangeAspect="1"/>
          </p:cNvPicPr>
          <p:nvPr userDrawn="1"/>
        </p:nvPicPr>
        <p:blipFill>
          <a:blip r:embed="rId2"/>
          <a:stretch>
            <a:fillRect/>
          </a:stretch>
        </p:blipFill>
        <p:spPr>
          <a:xfrm>
            <a:off x="4509370" y="4429919"/>
            <a:ext cx="3173260" cy="2115507"/>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p:nvPr>
        </p:nvSpPr>
        <p:spPr>
          <a:xfrm>
            <a:off x="831850" y="4589463"/>
            <a:ext cx="10515600" cy="12017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7ADC64B-5CD5-7341-B6E0-9B4F677F9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8467-A91D-B840-9781-A402C93E7E3A}"/>
              </a:ext>
            </a:extLst>
          </p:cNvPr>
          <p:cNvSpPr>
            <a:spLocks noGrp="1"/>
          </p:cNvSpPr>
          <p:nvPr>
            <p:ph type="sldNum" sz="quarter" idx="12"/>
          </p:nvPr>
        </p:nvSpPr>
        <p:spPr>
          <a:xfrm>
            <a:off x="838200" y="6004322"/>
            <a:ext cx="266502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88401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802-B46A-204D-94D4-E50D913AEE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D7812B-2A55-D049-A1C2-A4C973ACA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8766B-6B24-3B45-B55F-3D85F881F93D}"/>
              </a:ext>
            </a:extLst>
          </p:cNvPr>
          <p:cNvSpPr>
            <a:spLocks noGrp="1"/>
          </p:cNvSpPr>
          <p:nvPr>
            <p:ph sz="half" idx="2"/>
          </p:nvPr>
        </p:nvSpPr>
        <p:spPr>
          <a:xfrm>
            <a:off x="839788" y="2505075"/>
            <a:ext cx="5157787"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A7F728-2418-1540-9191-5FDFA36D8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48585-BFC1-9148-A0B5-07C83C2F21BA}"/>
              </a:ext>
            </a:extLst>
          </p:cNvPr>
          <p:cNvSpPr>
            <a:spLocks noGrp="1"/>
          </p:cNvSpPr>
          <p:nvPr>
            <p:ph sz="quarter" idx="4"/>
          </p:nvPr>
        </p:nvSpPr>
        <p:spPr>
          <a:xfrm>
            <a:off x="6172200" y="2505075"/>
            <a:ext cx="5183188"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BD1371BF-1A9F-5641-95DB-6C0FE67BB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121846-D4EB-5949-B8F3-E40099164899}"/>
              </a:ext>
            </a:extLst>
          </p:cNvPr>
          <p:cNvSpPr>
            <a:spLocks noGrp="1"/>
          </p:cNvSpPr>
          <p:nvPr>
            <p:ph type="sldNum" sz="quarter" idx="12"/>
          </p:nvPr>
        </p:nvSpPr>
        <p:spPr>
          <a:xfrm>
            <a:off x="838200" y="6004323"/>
            <a:ext cx="268283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16458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C8BA86-4F41-AF40-BBD9-45DCB3C336DD}"/>
              </a:ext>
            </a:extLst>
          </p:cNvPr>
          <p:cNvSpPr>
            <a:spLocks noGrp="1"/>
          </p:cNvSpPr>
          <p:nvPr>
            <p:ph type="title"/>
          </p:nvPr>
        </p:nvSpPr>
        <p:spPr>
          <a:xfrm>
            <a:off x="0" y="-1538831"/>
            <a:ext cx="10515600" cy="1325563"/>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7AE991BC-E157-B340-860E-81A4EBD04B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805CF-1707-5749-8109-20FA44953EE0}"/>
              </a:ext>
            </a:extLst>
          </p:cNvPr>
          <p:cNvSpPr>
            <a:spLocks noGrp="1"/>
          </p:cNvSpPr>
          <p:nvPr>
            <p:ph type="sldNum" sz="quarter" idx="12"/>
          </p:nvPr>
        </p:nvSpPr>
        <p:spPr>
          <a:xfrm>
            <a:off x="838200" y="6004322"/>
            <a:ext cx="260564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69474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54A1-6207-5141-AAB1-9A7630DA9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39F95B-0887-9F4F-BA1C-0B9CBE5AE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515B1-8A32-AB43-82F2-51A60BC2E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FC3D973-68F9-5B46-A3D8-B7AF20B00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A68CE-A588-FE4D-9C1E-5BE4A1A82F81}"/>
              </a:ext>
            </a:extLst>
          </p:cNvPr>
          <p:cNvSpPr>
            <a:spLocks noGrp="1"/>
          </p:cNvSpPr>
          <p:nvPr>
            <p:ph type="sldNum" sz="quarter" idx="12"/>
          </p:nvPr>
        </p:nvSpPr>
        <p:spPr>
          <a:xfrm>
            <a:off x="838200" y="6004323"/>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4833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185-7056-B946-8F27-7890BB2A3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0AF3B6-3151-9346-B00D-EBED7ED75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A5EF208-3C62-3840-A816-A69F27E0B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B0C1DD0-6624-6048-953E-41055A0D3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C492C-9027-2B43-9637-56046A0631C2}"/>
              </a:ext>
            </a:extLst>
          </p:cNvPr>
          <p:cNvSpPr>
            <a:spLocks noGrp="1"/>
          </p:cNvSpPr>
          <p:nvPr>
            <p:ph type="sldNum" sz="quarter" idx="12"/>
          </p:nvPr>
        </p:nvSpPr>
        <p:spPr>
          <a:xfrm>
            <a:off x="838200" y="6004323"/>
            <a:ext cx="2676896"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12840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656521"/>
            <a:ext cx="10515600" cy="2187986"/>
          </a:xfrm>
        </p:spPr>
        <p:txBody>
          <a:bodyPr anchor="t"/>
          <a:lstStyle>
            <a:lvl1pPr algn="ctr">
              <a:defRPr sz="6000">
                <a:solidFill>
                  <a:schemeClr val="bg1"/>
                </a:solidFill>
              </a:defRPr>
            </a:lvl1pPr>
          </a:lstStyle>
          <a:p>
            <a:r>
              <a:rPr lang="en-US" dirty="0"/>
              <a:t>Conclusion</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2" name="Picture 11">
            <a:extLst>
              <a:ext uri="{FF2B5EF4-FFF2-40B4-BE49-F238E27FC236}">
                <a16:creationId xmlns:a16="http://schemas.microsoft.com/office/drawing/2014/main" id="{33EDFD73-0710-2244-860D-4BA6234A0E5E}"/>
              </a:ext>
            </a:extLst>
          </p:cNvPr>
          <p:cNvPicPr>
            <a:picLocks noChangeAspect="1"/>
          </p:cNvPicPr>
          <p:nvPr userDrawn="1"/>
        </p:nvPicPr>
        <p:blipFill>
          <a:blip r:embed="rId3"/>
          <a:srcRect/>
          <a:stretch/>
        </p:blipFill>
        <p:spPr>
          <a:xfrm>
            <a:off x="8726555" y="5790260"/>
            <a:ext cx="2892287" cy="577876"/>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pic>
        <p:nvPicPr>
          <p:cNvPr id="12" name="Picture 11">
            <a:extLst>
              <a:ext uri="{FF2B5EF4-FFF2-40B4-BE49-F238E27FC236}">
                <a16:creationId xmlns:a16="http://schemas.microsoft.com/office/drawing/2014/main" id="{6A0032F1-0121-BE4C-B781-236291AD7975}"/>
              </a:ext>
            </a:extLst>
          </p:cNvPr>
          <p:cNvPicPr>
            <a:picLocks noChangeAspect="1"/>
          </p:cNvPicPr>
          <p:nvPr userDrawn="1"/>
        </p:nvPicPr>
        <p:blipFill>
          <a:blip r:embed="rId13"/>
          <a:srcRect t="4530" b="4530"/>
          <a:stretch/>
        </p:blipFill>
        <p:spPr>
          <a:xfrm>
            <a:off x="9022846" y="5946775"/>
            <a:ext cx="2695388" cy="487282"/>
          </a:xfrm>
          <a:prstGeom prst="rect">
            <a:avLst/>
          </a:prstGeom>
        </p:spPr>
      </p:pic>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cap="all" baseline="0">
          <a:solidFill>
            <a:schemeClr val="tx1"/>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F61-B891-3944-9E22-503B0C38A722}"/>
              </a:ext>
            </a:extLst>
          </p:cNvPr>
          <p:cNvSpPr>
            <a:spLocks noGrp="1"/>
          </p:cNvSpPr>
          <p:nvPr>
            <p:ph type="ctrTitle"/>
          </p:nvPr>
        </p:nvSpPr>
        <p:spPr/>
        <p:txBody>
          <a:bodyPr/>
          <a:lstStyle/>
          <a:p>
            <a:r>
              <a:rPr lang="en-US" dirty="0"/>
              <a:t>SOCIAL MEDIA EXTENSIONS</a:t>
            </a:r>
            <a:br>
              <a:rPr lang="en-US" dirty="0"/>
            </a:br>
            <a:r>
              <a:rPr lang="en-US" dirty="0"/>
              <a:t>Arch REQ6</a:t>
            </a:r>
          </a:p>
        </p:txBody>
      </p:sp>
      <p:sp>
        <p:nvSpPr>
          <p:cNvPr id="3" name="Subtitle 2">
            <a:extLst>
              <a:ext uri="{FF2B5EF4-FFF2-40B4-BE49-F238E27FC236}">
                <a16:creationId xmlns:a16="http://schemas.microsoft.com/office/drawing/2014/main" id="{8B96A461-863C-424F-BAE7-45F2ACA74C3E}"/>
              </a:ext>
            </a:extLst>
          </p:cNvPr>
          <p:cNvSpPr>
            <a:spLocks noGrp="1"/>
          </p:cNvSpPr>
          <p:nvPr>
            <p:ph type="subTitle" idx="1"/>
          </p:nvPr>
        </p:nvSpPr>
        <p:spPr/>
        <p:txBody>
          <a:bodyPr/>
          <a:lstStyle/>
          <a:p>
            <a:r>
              <a:rPr lang="en-US" dirty="0"/>
              <a:t>09/28</a:t>
            </a:r>
          </a:p>
        </p:txBody>
      </p:sp>
    </p:spTree>
    <p:extLst>
      <p:ext uri="{BB962C8B-B14F-4D97-AF65-F5344CB8AC3E}">
        <p14:creationId xmlns:p14="http://schemas.microsoft.com/office/powerpoint/2010/main" val="358700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3FBAD-F450-1448-A36A-72F6AB77EEC3}"/>
              </a:ext>
            </a:extLst>
          </p:cNvPr>
          <p:cNvSpPr>
            <a:spLocks noGrp="1"/>
          </p:cNvSpPr>
          <p:nvPr>
            <p:ph type="title"/>
          </p:nvPr>
        </p:nvSpPr>
        <p:spPr/>
        <p:txBody>
          <a:bodyPr/>
          <a:lstStyle/>
          <a:p>
            <a:r>
              <a:rPr lang="en-US" dirty="0"/>
              <a:t>Headline </a:t>
            </a:r>
          </a:p>
        </p:txBody>
      </p:sp>
      <p:sp>
        <p:nvSpPr>
          <p:cNvPr id="3" name="Content Placeholder 2">
            <a:extLst>
              <a:ext uri="{FF2B5EF4-FFF2-40B4-BE49-F238E27FC236}">
                <a16:creationId xmlns:a16="http://schemas.microsoft.com/office/drawing/2014/main" id="{A3FC7E89-62C2-B143-BEBA-CA6D34981BFF}"/>
              </a:ext>
            </a:extLst>
          </p:cNvPr>
          <p:cNvSpPr>
            <a:spLocks noGrp="1"/>
          </p:cNvSpPr>
          <p:nvPr>
            <p:ph idx="1"/>
          </p:nvPr>
        </p:nvSpPr>
        <p:spPr/>
        <p:txBody>
          <a:bodyPr/>
          <a:lstStyle/>
          <a:p>
            <a:r>
              <a:rPr lang="en-US" dirty="0"/>
              <a:t>API SSO</a:t>
            </a:r>
          </a:p>
          <a:p>
            <a:r>
              <a:rPr lang="en-US" dirty="0"/>
              <a:t>SOCIAL MEDIA EXTENSIONS</a:t>
            </a:r>
          </a:p>
          <a:p>
            <a:r>
              <a:rPr lang="en-US" dirty="0"/>
              <a:t>COMBINED OPERATIONS FOR TWO FACTOR AUTHENTICATION</a:t>
            </a:r>
          </a:p>
          <a:p>
            <a:endParaRPr lang="en-US" dirty="0"/>
          </a:p>
        </p:txBody>
      </p:sp>
    </p:spTree>
    <p:extLst>
      <p:ext uri="{BB962C8B-B14F-4D97-AF65-F5344CB8AC3E}">
        <p14:creationId xmlns:p14="http://schemas.microsoft.com/office/powerpoint/2010/main" val="3982141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95AA6-54E4-8A10-FF46-2A32EA100FF3}"/>
              </a:ext>
            </a:extLst>
          </p:cNvPr>
          <p:cNvSpPr>
            <a:spLocks noGrp="1"/>
          </p:cNvSpPr>
          <p:nvPr>
            <p:ph type="title"/>
          </p:nvPr>
        </p:nvSpPr>
        <p:spPr/>
        <p:txBody>
          <a:bodyPr/>
          <a:lstStyle/>
          <a:p>
            <a:r>
              <a:rPr lang="en-US" dirty="0"/>
              <a:t>ARCH OVERVIEW – SEE CASE #8</a:t>
            </a:r>
          </a:p>
        </p:txBody>
      </p:sp>
      <p:sp>
        <p:nvSpPr>
          <p:cNvPr id="4" name="Rectangle 3">
            <a:extLst>
              <a:ext uri="{FF2B5EF4-FFF2-40B4-BE49-F238E27FC236}">
                <a16:creationId xmlns:a16="http://schemas.microsoft.com/office/drawing/2014/main" id="{77DC4F06-63B3-029C-C88F-D3D1300E7D85}"/>
              </a:ext>
            </a:extLst>
          </p:cNvPr>
          <p:cNvSpPr/>
          <p:nvPr/>
        </p:nvSpPr>
        <p:spPr>
          <a:xfrm>
            <a:off x="1184744" y="2353586"/>
            <a:ext cx="1844703" cy="2067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cxnSp>
        <p:nvCxnSpPr>
          <p:cNvPr id="6" name="Straight Arrow Connector 5">
            <a:extLst>
              <a:ext uri="{FF2B5EF4-FFF2-40B4-BE49-F238E27FC236}">
                <a16:creationId xmlns:a16="http://schemas.microsoft.com/office/drawing/2014/main" id="{99A1691A-6597-6618-271F-ED73C5151E35}"/>
              </a:ext>
            </a:extLst>
          </p:cNvPr>
          <p:cNvCxnSpPr/>
          <p:nvPr/>
        </p:nvCxnSpPr>
        <p:spPr>
          <a:xfrm>
            <a:off x="3196424" y="2711395"/>
            <a:ext cx="20593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77A46E70-9492-A57B-8161-863ABA37071B}"/>
              </a:ext>
            </a:extLst>
          </p:cNvPr>
          <p:cNvSpPr/>
          <p:nvPr/>
        </p:nvSpPr>
        <p:spPr>
          <a:xfrm>
            <a:off x="5383033" y="2083242"/>
            <a:ext cx="2989690" cy="2528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IAM</a:t>
            </a:r>
          </a:p>
          <a:p>
            <a:pPr algn="ctr"/>
            <a:r>
              <a:rPr lang="en-US" dirty="0"/>
              <a:t>Provider</a:t>
            </a:r>
          </a:p>
          <a:p>
            <a:pPr algn="ctr"/>
            <a:r>
              <a:rPr lang="en-US" dirty="0"/>
              <a:t>API</a:t>
            </a:r>
          </a:p>
        </p:txBody>
      </p:sp>
      <p:cxnSp>
        <p:nvCxnSpPr>
          <p:cNvPr id="9" name="Straight Arrow Connector 8">
            <a:extLst>
              <a:ext uri="{FF2B5EF4-FFF2-40B4-BE49-F238E27FC236}">
                <a16:creationId xmlns:a16="http://schemas.microsoft.com/office/drawing/2014/main" id="{816A9FC0-5AE4-685A-44AB-102C55149E7F}"/>
              </a:ext>
            </a:extLst>
          </p:cNvPr>
          <p:cNvCxnSpPr/>
          <p:nvPr/>
        </p:nvCxnSpPr>
        <p:spPr>
          <a:xfrm>
            <a:off x="8468139" y="2353586"/>
            <a:ext cx="10734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E89BBCF3-DC51-A5DA-7DBE-CAD7780610B8}"/>
              </a:ext>
            </a:extLst>
          </p:cNvPr>
          <p:cNvSpPr/>
          <p:nvPr/>
        </p:nvSpPr>
        <p:spPr>
          <a:xfrm>
            <a:off x="9621078" y="1932167"/>
            <a:ext cx="1995778" cy="8984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Session Table</a:t>
            </a:r>
          </a:p>
        </p:txBody>
      </p:sp>
      <p:cxnSp>
        <p:nvCxnSpPr>
          <p:cNvPr id="12" name="Straight Arrow Connector 11">
            <a:extLst>
              <a:ext uri="{FF2B5EF4-FFF2-40B4-BE49-F238E27FC236}">
                <a16:creationId xmlns:a16="http://schemas.microsoft.com/office/drawing/2014/main" id="{7E1F94C9-7563-A8CC-09F3-962CF6080FB2}"/>
              </a:ext>
            </a:extLst>
          </p:cNvPr>
          <p:cNvCxnSpPr/>
          <p:nvPr/>
        </p:nvCxnSpPr>
        <p:spPr>
          <a:xfrm>
            <a:off x="8468139" y="3429000"/>
            <a:ext cx="11529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8E68049-91DC-8363-BE2A-3A8566B87839}"/>
              </a:ext>
            </a:extLst>
          </p:cNvPr>
          <p:cNvSpPr/>
          <p:nvPr/>
        </p:nvSpPr>
        <p:spPr>
          <a:xfrm>
            <a:off x="9716495" y="3061252"/>
            <a:ext cx="1900362" cy="1089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Social </a:t>
            </a:r>
          </a:p>
          <a:p>
            <a:pPr algn="ctr"/>
            <a:r>
              <a:rPr lang="en-US" dirty="0"/>
              <a:t>Providers X50</a:t>
            </a:r>
          </a:p>
        </p:txBody>
      </p:sp>
      <p:cxnSp>
        <p:nvCxnSpPr>
          <p:cNvPr id="15" name="Straight Arrow Connector 14">
            <a:extLst>
              <a:ext uri="{FF2B5EF4-FFF2-40B4-BE49-F238E27FC236}">
                <a16:creationId xmlns:a16="http://schemas.microsoft.com/office/drawing/2014/main" id="{D553BB01-1777-FB81-FD7F-019A00D77A04}"/>
              </a:ext>
            </a:extLst>
          </p:cNvPr>
          <p:cNvCxnSpPr/>
          <p:nvPr/>
        </p:nvCxnSpPr>
        <p:spPr>
          <a:xfrm flipV="1">
            <a:off x="8189843" y="1415332"/>
            <a:ext cx="1065475" cy="6679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31330B6D-1A02-A29A-BC82-94588793DCCA}"/>
              </a:ext>
            </a:extLst>
          </p:cNvPr>
          <p:cNvSpPr/>
          <p:nvPr/>
        </p:nvSpPr>
        <p:spPr>
          <a:xfrm>
            <a:off x="9422296" y="834887"/>
            <a:ext cx="2194560" cy="8984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Account Mirrors</a:t>
            </a:r>
          </a:p>
          <a:p>
            <a:pPr algn="ctr"/>
            <a:r>
              <a:rPr lang="en-US" dirty="0"/>
              <a:t>(CRM Tools)</a:t>
            </a:r>
          </a:p>
        </p:txBody>
      </p:sp>
      <p:cxnSp>
        <p:nvCxnSpPr>
          <p:cNvPr id="18" name="Straight Arrow Connector 17">
            <a:extLst>
              <a:ext uri="{FF2B5EF4-FFF2-40B4-BE49-F238E27FC236}">
                <a16:creationId xmlns:a16="http://schemas.microsoft.com/office/drawing/2014/main" id="{AC3B57BC-C980-B21D-3C6B-C0FACBBCDC91}"/>
              </a:ext>
            </a:extLst>
          </p:cNvPr>
          <p:cNvCxnSpPr/>
          <p:nvPr/>
        </p:nvCxnSpPr>
        <p:spPr>
          <a:xfrm flipV="1">
            <a:off x="10424160" y="2830664"/>
            <a:ext cx="0" cy="230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EED37C2-8C20-22E8-F2A7-11A8FD152398}"/>
              </a:ext>
            </a:extLst>
          </p:cNvPr>
          <p:cNvCxnSpPr/>
          <p:nvPr/>
        </p:nvCxnSpPr>
        <p:spPr>
          <a:xfrm flipH="1">
            <a:off x="3124863" y="3641697"/>
            <a:ext cx="213094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B2D08A9-EB8B-F9B7-98F2-71AFABAA300C}"/>
              </a:ext>
            </a:extLst>
          </p:cNvPr>
          <p:cNvSpPr txBox="1"/>
          <p:nvPr/>
        </p:nvSpPr>
        <p:spPr>
          <a:xfrm>
            <a:off x="3101008" y="3740055"/>
            <a:ext cx="2162756" cy="600164"/>
          </a:xfrm>
          <a:prstGeom prst="rect">
            <a:avLst/>
          </a:prstGeom>
          <a:noFill/>
        </p:spPr>
        <p:txBody>
          <a:bodyPr wrap="square" rtlCol="0">
            <a:spAutoFit/>
          </a:bodyPr>
          <a:lstStyle/>
          <a:p>
            <a:r>
              <a:rPr lang="en-US" sz="1100" dirty="0"/>
              <a:t>Token, Partial Login…..Profile</a:t>
            </a:r>
          </a:p>
          <a:p>
            <a:r>
              <a:rPr lang="en-US" sz="1100" dirty="0"/>
              <a:t>Roles, Application Permissions,</a:t>
            </a:r>
          </a:p>
          <a:p>
            <a:r>
              <a:rPr lang="en-US" sz="1100" dirty="0"/>
              <a:t>Bootstrap Client Details.</a:t>
            </a:r>
          </a:p>
        </p:txBody>
      </p:sp>
      <p:sp>
        <p:nvSpPr>
          <p:cNvPr id="22" name="Rectangle: Rounded Corners 21">
            <a:extLst>
              <a:ext uri="{FF2B5EF4-FFF2-40B4-BE49-F238E27FC236}">
                <a16:creationId xmlns:a16="http://schemas.microsoft.com/office/drawing/2014/main" id="{072A197F-E94A-765E-35E7-811E8CFF57C5}"/>
              </a:ext>
            </a:extLst>
          </p:cNvPr>
          <p:cNvSpPr/>
          <p:nvPr/>
        </p:nvSpPr>
        <p:spPr>
          <a:xfrm>
            <a:off x="9716495" y="4309607"/>
            <a:ext cx="1900361" cy="8110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TwoFactor</a:t>
            </a:r>
            <a:endParaRPr lang="en-US" dirty="0"/>
          </a:p>
          <a:p>
            <a:pPr algn="ctr"/>
            <a:r>
              <a:rPr lang="en-US" dirty="0"/>
              <a:t>Services</a:t>
            </a:r>
          </a:p>
        </p:txBody>
      </p:sp>
      <p:cxnSp>
        <p:nvCxnSpPr>
          <p:cNvPr id="24" name="Straight Arrow Connector 23">
            <a:extLst>
              <a:ext uri="{FF2B5EF4-FFF2-40B4-BE49-F238E27FC236}">
                <a16:creationId xmlns:a16="http://schemas.microsoft.com/office/drawing/2014/main" id="{5BC62607-14A7-E3D8-5FDF-F49AAA4A1701}"/>
              </a:ext>
            </a:extLst>
          </p:cNvPr>
          <p:cNvCxnSpPr/>
          <p:nvPr/>
        </p:nvCxnSpPr>
        <p:spPr>
          <a:xfrm flipH="1" flipV="1">
            <a:off x="8468139" y="4071068"/>
            <a:ext cx="1152939" cy="652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3733DF81-D1E8-F9FA-C1BE-986FD0142F1E}"/>
              </a:ext>
            </a:extLst>
          </p:cNvPr>
          <p:cNvSpPr/>
          <p:nvPr/>
        </p:nvSpPr>
        <p:spPr>
          <a:xfrm>
            <a:off x="5478449" y="4826442"/>
            <a:ext cx="2775005" cy="9621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 State</a:t>
            </a:r>
          </a:p>
          <a:p>
            <a:pPr algn="ctr"/>
            <a:r>
              <a:rPr lang="en-US" dirty="0"/>
              <a:t>Machine</a:t>
            </a:r>
          </a:p>
        </p:txBody>
      </p:sp>
      <p:cxnSp>
        <p:nvCxnSpPr>
          <p:cNvPr id="27" name="Straight Arrow Connector 26">
            <a:extLst>
              <a:ext uri="{FF2B5EF4-FFF2-40B4-BE49-F238E27FC236}">
                <a16:creationId xmlns:a16="http://schemas.microsoft.com/office/drawing/2014/main" id="{1065008F-0C9D-4361-16B7-E755DC230C2B}"/>
              </a:ext>
            </a:extLst>
          </p:cNvPr>
          <p:cNvCxnSpPr/>
          <p:nvPr/>
        </p:nvCxnSpPr>
        <p:spPr>
          <a:xfrm>
            <a:off x="8372723" y="5208104"/>
            <a:ext cx="1105232" cy="254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3372644F-E31D-03F8-F68C-B9ADF0DC64DB}"/>
              </a:ext>
            </a:extLst>
          </p:cNvPr>
          <p:cNvSpPr/>
          <p:nvPr/>
        </p:nvSpPr>
        <p:spPr>
          <a:xfrm>
            <a:off x="9621078" y="5231960"/>
            <a:ext cx="1995779" cy="6520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Building Access</a:t>
            </a:r>
          </a:p>
          <a:p>
            <a:pPr algn="ctr"/>
            <a:r>
              <a:rPr lang="en-US" dirty="0"/>
              <a:t>Systems</a:t>
            </a:r>
          </a:p>
        </p:txBody>
      </p:sp>
      <p:cxnSp>
        <p:nvCxnSpPr>
          <p:cNvPr id="30" name="Straight Arrow Connector 29">
            <a:extLst>
              <a:ext uri="{FF2B5EF4-FFF2-40B4-BE49-F238E27FC236}">
                <a16:creationId xmlns:a16="http://schemas.microsoft.com/office/drawing/2014/main" id="{0998E449-0245-EFEF-302D-DC654E74BE34}"/>
              </a:ext>
            </a:extLst>
          </p:cNvPr>
          <p:cNvCxnSpPr/>
          <p:nvPr/>
        </p:nvCxnSpPr>
        <p:spPr>
          <a:xfrm flipV="1">
            <a:off x="6384897" y="4611757"/>
            <a:ext cx="0" cy="214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4535CDE-F41E-CE98-1FB9-9F3857015FE2}"/>
              </a:ext>
            </a:extLst>
          </p:cNvPr>
          <p:cNvCxnSpPr/>
          <p:nvPr/>
        </p:nvCxnSpPr>
        <p:spPr>
          <a:xfrm>
            <a:off x="7736619" y="4611757"/>
            <a:ext cx="0" cy="214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13CC4A4-1BC7-B891-FB81-D37DEB7B972C}"/>
              </a:ext>
            </a:extLst>
          </p:cNvPr>
          <p:cNvSpPr txBox="1"/>
          <p:nvPr/>
        </p:nvSpPr>
        <p:spPr>
          <a:xfrm>
            <a:off x="3172570" y="2249243"/>
            <a:ext cx="2083242" cy="461665"/>
          </a:xfrm>
          <a:prstGeom prst="rect">
            <a:avLst/>
          </a:prstGeom>
          <a:noFill/>
        </p:spPr>
        <p:txBody>
          <a:bodyPr wrap="square" rtlCol="0">
            <a:spAutoFit/>
          </a:bodyPr>
          <a:lstStyle/>
          <a:p>
            <a:r>
              <a:rPr lang="en-US" sz="1200" dirty="0"/>
              <a:t>Username/Password Or Social Token + Identity Stuff</a:t>
            </a:r>
          </a:p>
        </p:txBody>
      </p:sp>
    </p:spTree>
    <p:extLst>
      <p:ext uri="{BB962C8B-B14F-4D97-AF65-F5344CB8AC3E}">
        <p14:creationId xmlns:p14="http://schemas.microsoft.com/office/powerpoint/2010/main" val="4113916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62F7-D6FB-3697-7F87-2FAB9769F6FC}"/>
              </a:ext>
            </a:extLst>
          </p:cNvPr>
          <p:cNvSpPr>
            <a:spLocks noGrp="1"/>
          </p:cNvSpPr>
          <p:nvPr>
            <p:ph type="title"/>
          </p:nvPr>
        </p:nvSpPr>
        <p:spPr/>
        <p:txBody>
          <a:bodyPr/>
          <a:lstStyle/>
          <a:p>
            <a:r>
              <a:rPr lang="en-US" dirty="0"/>
              <a:t>To deliver </a:t>
            </a:r>
            <a:r>
              <a:rPr lang="en-US" dirty="0" err="1"/>
              <a:t>sso</a:t>
            </a:r>
            <a:r>
              <a:rPr lang="en-US" dirty="0"/>
              <a:t>: MINIMUM</a:t>
            </a:r>
          </a:p>
        </p:txBody>
      </p:sp>
      <p:sp>
        <p:nvSpPr>
          <p:cNvPr id="3" name="Content Placeholder 2">
            <a:extLst>
              <a:ext uri="{FF2B5EF4-FFF2-40B4-BE49-F238E27FC236}">
                <a16:creationId xmlns:a16="http://schemas.microsoft.com/office/drawing/2014/main" id="{14E2D05A-A96B-527A-CF5D-7244DB42C0A3}"/>
              </a:ext>
            </a:extLst>
          </p:cNvPr>
          <p:cNvSpPr>
            <a:spLocks noGrp="1"/>
          </p:cNvSpPr>
          <p:nvPr>
            <p:ph idx="1"/>
          </p:nvPr>
        </p:nvSpPr>
        <p:spPr/>
        <p:txBody>
          <a:bodyPr>
            <a:normAutofit fontScale="85000" lnSpcReduction="20000"/>
          </a:bodyPr>
          <a:lstStyle/>
          <a:p>
            <a:pPr marL="0" indent="0">
              <a:buNone/>
            </a:pPr>
            <a:r>
              <a:rPr lang="en-US" dirty="0"/>
              <a:t>STEP1 -&gt; You have to validate a username and password against an API, SSO Provider or Local database using a CRM tool or Enterprise Domain Manager. And Generate a login token which has the time of access at a minimum. It needs to be complex and cant be guessed.</a:t>
            </a:r>
          </a:p>
          <a:p>
            <a:pPr marL="0" indent="0">
              <a:buNone/>
            </a:pPr>
            <a:r>
              <a:rPr lang="en-US" dirty="0"/>
              <a:t>STEP2 -&gt; You have to create a session table with the list of logged in users. If this is an API this is a server side call. If this is a local DB there may be a proprietary database insert. The Session Table has to store the token generated by Step1.</a:t>
            </a:r>
          </a:p>
          <a:p>
            <a:pPr marL="0" indent="0">
              <a:buNone/>
            </a:pPr>
            <a:r>
              <a:rPr lang="en-US" dirty="0"/>
              <a:t>STEP3 -&gt; You have to return the token to the client which is how it validates its roles and permissions, and age of login.</a:t>
            </a:r>
          </a:p>
          <a:p>
            <a:pPr marL="0" indent="0">
              <a:buNone/>
            </a:pPr>
            <a:r>
              <a:rPr lang="en-US" dirty="0"/>
              <a:t>OPTIONS: CRM Tools(Joomla, </a:t>
            </a:r>
            <a:r>
              <a:rPr lang="en-US" dirty="0" err="1"/>
              <a:t>Wordpress</a:t>
            </a:r>
            <a:r>
              <a:rPr lang="en-US" dirty="0"/>
              <a:t>, Drupal), Social(G, FB, Yahoo, IG, MSFT), Microsoft Domain Controller, Microfocus/Novell </a:t>
            </a:r>
            <a:r>
              <a:rPr lang="en-US" dirty="0" err="1"/>
              <a:t>eDirectory</a:t>
            </a:r>
            <a:r>
              <a:rPr lang="en-US" dirty="0"/>
              <a:t> &gt; 90% market share collectively. Proprietary API calls &lt; 10%.</a:t>
            </a:r>
          </a:p>
        </p:txBody>
      </p:sp>
    </p:spTree>
    <p:extLst>
      <p:ext uri="{BB962C8B-B14F-4D97-AF65-F5344CB8AC3E}">
        <p14:creationId xmlns:p14="http://schemas.microsoft.com/office/powerpoint/2010/main" val="1908510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1FD7-AFA4-F588-047E-E9090F01522B}"/>
              </a:ext>
            </a:extLst>
          </p:cNvPr>
          <p:cNvSpPr>
            <a:spLocks noGrp="1"/>
          </p:cNvSpPr>
          <p:nvPr>
            <p:ph type="title"/>
          </p:nvPr>
        </p:nvSpPr>
        <p:spPr/>
        <p:txBody>
          <a:bodyPr/>
          <a:lstStyle/>
          <a:p>
            <a:r>
              <a:rPr lang="en-US" dirty="0"/>
              <a:t>SSO ARCHITECTURES USING COMPLEX MODELS</a:t>
            </a:r>
          </a:p>
        </p:txBody>
      </p:sp>
      <p:sp>
        <p:nvSpPr>
          <p:cNvPr id="3" name="Content Placeholder 2">
            <a:extLst>
              <a:ext uri="{FF2B5EF4-FFF2-40B4-BE49-F238E27FC236}">
                <a16:creationId xmlns:a16="http://schemas.microsoft.com/office/drawing/2014/main" id="{BD1B725B-AA4D-C1C9-80D1-34CF579B155A}"/>
              </a:ext>
            </a:extLst>
          </p:cNvPr>
          <p:cNvSpPr>
            <a:spLocks noGrp="1"/>
          </p:cNvSpPr>
          <p:nvPr>
            <p:ph idx="1"/>
          </p:nvPr>
        </p:nvSpPr>
        <p:spPr/>
        <p:txBody>
          <a:bodyPr>
            <a:normAutofit fontScale="77500" lnSpcReduction="20000"/>
          </a:bodyPr>
          <a:lstStyle/>
          <a:p>
            <a:r>
              <a:rPr lang="en-US" dirty="0"/>
              <a:t>Allowing logins in multiple forms is common on the Internet.</a:t>
            </a:r>
          </a:p>
          <a:p>
            <a:r>
              <a:rPr lang="en-US" dirty="0"/>
              <a:t>Example Spotify Music Service, NYT, </a:t>
            </a:r>
            <a:r>
              <a:rPr lang="en-US" dirty="0" err="1"/>
              <a:t>WashingtonPost</a:t>
            </a:r>
            <a:r>
              <a:rPr lang="en-US" dirty="0"/>
              <a:t>, </a:t>
            </a:r>
            <a:r>
              <a:rPr lang="en-US" dirty="0" err="1"/>
              <a:t>etc</a:t>
            </a:r>
            <a:r>
              <a:rPr lang="en-US" dirty="0"/>
              <a:t>… all support complex login processes which have unique characteristics.</a:t>
            </a:r>
          </a:p>
          <a:p>
            <a:r>
              <a:rPr lang="en-US" dirty="0"/>
              <a:t>For Example… you have your own API/SSO process you have invested for your enterprise Acme.com…. But no one is using your website as they don’t want to maintain an Acme.com login.</a:t>
            </a:r>
          </a:p>
          <a:p>
            <a:r>
              <a:rPr lang="en-US" dirty="0"/>
              <a:t>Acme has three options: 1) Partner with a Big SSO provider which can provide direct feeds to them with real data for a price. 2) Accept a validated social login token 3) Use Microsoft </a:t>
            </a:r>
            <a:r>
              <a:rPr lang="en-US" dirty="0" err="1"/>
              <a:t>EntraID</a:t>
            </a:r>
            <a:r>
              <a:rPr lang="en-US" dirty="0"/>
              <a:t> which could extend Acme domain controllers to the Internet as a cloud tenant 4) There is a company called one-all which does a complex smash up which is two level model. 5) Build your own API. 6) Use a CRM login. 7) Use PAM based login with Unix LDAP extensions.</a:t>
            </a:r>
          </a:p>
          <a:p>
            <a:r>
              <a:rPr lang="en-US" dirty="0"/>
              <a:t>Acme could do all five… which is a complicated process…. Which we are trying to accomplish….</a:t>
            </a:r>
          </a:p>
        </p:txBody>
      </p:sp>
    </p:spTree>
    <p:extLst>
      <p:ext uri="{BB962C8B-B14F-4D97-AF65-F5344CB8AC3E}">
        <p14:creationId xmlns:p14="http://schemas.microsoft.com/office/powerpoint/2010/main" val="148481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7ECB0-1976-27A2-9874-0F59F3EA3A4D}"/>
              </a:ext>
            </a:extLst>
          </p:cNvPr>
          <p:cNvSpPr>
            <a:spLocks noGrp="1"/>
          </p:cNvSpPr>
          <p:nvPr>
            <p:ph type="title"/>
          </p:nvPr>
        </p:nvSpPr>
        <p:spPr/>
        <p:txBody>
          <a:bodyPr/>
          <a:lstStyle/>
          <a:p>
            <a:r>
              <a:rPr lang="en-US" dirty="0"/>
              <a:t>CASE1 – PARTNER WITH A BIG COMPANY</a:t>
            </a:r>
          </a:p>
        </p:txBody>
      </p:sp>
      <p:sp>
        <p:nvSpPr>
          <p:cNvPr id="3" name="Content Placeholder 2">
            <a:extLst>
              <a:ext uri="{FF2B5EF4-FFF2-40B4-BE49-F238E27FC236}">
                <a16:creationId xmlns:a16="http://schemas.microsoft.com/office/drawing/2014/main" id="{6C642EFB-6CEC-9CFC-BBAF-A18AAC32C0E9}"/>
              </a:ext>
            </a:extLst>
          </p:cNvPr>
          <p:cNvSpPr>
            <a:spLocks noGrp="1"/>
          </p:cNvSpPr>
          <p:nvPr>
            <p:ph idx="1"/>
          </p:nvPr>
        </p:nvSpPr>
        <p:spPr/>
        <p:txBody>
          <a:bodyPr>
            <a:normAutofit fontScale="77500" lnSpcReduction="20000"/>
          </a:bodyPr>
          <a:lstStyle/>
          <a:p>
            <a:r>
              <a:rPr lang="en-US" dirty="0"/>
              <a:t>Google Business does offer a Yourdomain.com service. It requires they control your DNS or have a secondary DNS write capability to synch to your primary controller.</a:t>
            </a:r>
          </a:p>
          <a:p>
            <a:r>
              <a:rPr lang="en-US" dirty="0"/>
              <a:t>Acme.com becomes a google shared domain. You add users on google, and they work for your entire enterprise.</a:t>
            </a:r>
          </a:p>
          <a:p>
            <a:r>
              <a:rPr lang="en-US" dirty="0"/>
              <a:t>Option2: You are a big Facebook Customer…. And they sign a custom deal for IAM where they let you do your account management for your enterprise with them. Then you are riding their SSO system for your enterprise… also a good deal.</a:t>
            </a:r>
          </a:p>
          <a:p>
            <a:r>
              <a:rPr lang="en-US" dirty="0"/>
              <a:t>They all can do this if they want to… but Google is only company which has this productized. This is very cool as your personal devices can use GMAIL to the company and personal mail at same time.</a:t>
            </a:r>
          </a:p>
          <a:p>
            <a:r>
              <a:rPr lang="en-US" dirty="0"/>
              <a:t>Apple Accounts also have this capability. New Apple Servers can use </a:t>
            </a:r>
            <a:r>
              <a:rPr lang="en-US" dirty="0" err="1"/>
              <a:t>AppleID</a:t>
            </a:r>
            <a:r>
              <a:rPr lang="en-US" dirty="0"/>
              <a:t> global ID systems.</a:t>
            </a:r>
          </a:p>
        </p:txBody>
      </p:sp>
    </p:spTree>
    <p:extLst>
      <p:ext uri="{BB962C8B-B14F-4D97-AF65-F5344CB8AC3E}">
        <p14:creationId xmlns:p14="http://schemas.microsoft.com/office/powerpoint/2010/main" val="1896975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0DA1-F33B-0137-5687-2E36B9FAEBF6}"/>
              </a:ext>
            </a:extLst>
          </p:cNvPr>
          <p:cNvSpPr>
            <a:spLocks noGrp="1"/>
          </p:cNvSpPr>
          <p:nvPr>
            <p:ph type="title"/>
          </p:nvPr>
        </p:nvSpPr>
        <p:spPr/>
        <p:txBody>
          <a:bodyPr/>
          <a:lstStyle/>
          <a:p>
            <a:r>
              <a:rPr lang="en-US" dirty="0"/>
              <a:t>CASE2 PT1 -&gt; Accept a validate social token.</a:t>
            </a:r>
          </a:p>
        </p:txBody>
      </p:sp>
      <p:sp>
        <p:nvSpPr>
          <p:cNvPr id="3" name="Content Placeholder 2">
            <a:extLst>
              <a:ext uri="{FF2B5EF4-FFF2-40B4-BE49-F238E27FC236}">
                <a16:creationId xmlns:a16="http://schemas.microsoft.com/office/drawing/2014/main" id="{46447DF6-29D2-DFF2-EDFE-3465F41DCB65}"/>
              </a:ext>
            </a:extLst>
          </p:cNvPr>
          <p:cNvSpPr>
            <a:spLocks noGrp="1"/>
          </p:cNvSpPr>
          <p:nvPr>
            <p:ph idx="1"/>
          </p:nvPr>
        </p:nvSpPr>
        <p:spPr/>
        <p:txBody>
          <a:bodyPr>
            <a:normAutofit fontScale="85000" lnSpcReduction="20000"/>
          </a:bodyPr>
          <a:lstStyle/>
          <a:p>
            <a:r>
              <a:rPr lang="en-US" dirty="0"/>
              <a:t>In this model, you login to a Google, Facebook, Other Third party token service as all Social </a:t>
            </a:r>
            <a:r>
              <a:rPr lang="en-US" dirty="0" err="1"/>
              <a:t>companys</a:t>
            </a:r>
            <a:r>
              <a:rPr lang="en-US" dirty="0"/>
              <a:t> usually offer an identity service.</a:t>
            </a:r>
          </a:p>
          <a:p>
            <a:r>
              <a:rPr lang="en-US" dirty="0"/>
              <a:t>In this model a Facebook user logs into his normal account and has a login token. When he clicks on your login, Facebook validates the additional service, and returns a secondary token to you the service provider which is validated.</a:t>
            </a:r>
          </a:p>
          <a:p>
            <a:pPr lvl="1"/>
            <a:r>
              <a:rPr lang="en-US" dirty="0"/>
              <a:t>“Facebook is telling you this user is valid on their system(which doesn’t mean they are a real person), and will return a working email, and phone number if their customer lists it.</a:t>
            </a:r>
          </a:p>
          <a:p>
            <a:pPr lvl="1"/>
            <a:r>
              <a:rPr lang="en-US" dirty="0"/>
              <a:t>You as an App provider now have a validate user from Facebook, and basics of the login….BUT HERE IS THE PROBLEM….</a:t>
            </a:r>
          </a:p>
          <a:p>
            <a:pPr lvl="1"/>
            <a:r>
              <a:rPr lang="en-US" dirty="0"/>
              <a:t>#1 -&gt; The User may not exist on your system yet.</a:t>
            </a:r>
          </a:p>
          <a:p>
            <a:pPr lvl="1"/>
            <a:r>
              <a:rPr lang="en-US" dirty="0"/>
              <a:t>#2 -&gt; The User may exist on your system already before they used social media.</a:t>
            </a:r>
          </a:p>
          <a:p>
            <a:pPr lvl="1"/>
            <a:r>
              <a:rPr lang="en-US" dirty="0"/>
              <a:t>#3 -&gt; The User may have used a social media login before.</a:t>
            </a:r>
          </a:p>
        </p:txBody>
      </p:sp>
    </p:spTree>
    <p:extLst>
      <p:ext uri="{BB962C8B-B14F-4D97-AF65-F5344CB8AC3E}">
        <p14:creationId xmlns:p14="http://schemas.microsoft.com/office/powerpoint/2010/main" val="4170406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A6B15-37D1-3154-2C9B-C3AE01E59449}"/>
              </a:ext>
            </a:extLst>
          </p:cNvPr>
          <p:cNvSpPr>
            <a:spLocks noGrp="1"/>
          </p:cNvSpPr>
          <p:nvPr>
            <p:ph type="title"/>
          </p:nvPr>
        </p:nvSpPr>
        <p:spPr/>
        <p:txBody>
          <a:bodyPr/>
          <a:lstStyle/>
          <a:p>
            <a:r>
              <a:rPr lang="en-US" dirty="0"/>
              <a:t>CASE2 - SOCIAL PT2 – WHAT TO DO NOW?</a:t>
            </a:r>
          </a:p>
        </p:txBody>
      </p:sp>
      <p:sp>
        <p:nvSpPr>
          <p:cNvPr id="3" name="Content Placeholder 2">
            <a:extLst>
              <a:ext uri="{FF2B5EF4-FFF2-40B4-BE49-F238E27FC236}">
                <a16:creationId xmlns:a16="http://schemas.microsoft.com/office/drawing/2014/main" id="{32496EEF-3772-8309-BC45-9A5ECB8E6F0C}"/>
              </a:ext>
            </a:extLst>
          </p:cNvPr>
          <p:cNvSpPr>
            <a:spLocks noGrp="1"/>
          </p:cNvSpPr>
          <p:nvPr>
            <p:ph idx="1"/>
          </p:nvPr>
        </p:nvSpPr>
        <p:spPr/>
        <p:txBody>
          <a:bodyPr>
            <a:normAutofit fontScale="55000" lnSpcReduction="20000"/>
          </a:bodyPr>
          <a:lstStyle/>
          <a:p>
            <a:r>
              <a:rPr lang="en-US" dirty="0"/>
              <a:t>You’ve Got a valid token you have to decide what to do with it….</a:t>
            </a:r>
          </a:p>
          <a:p>
            <a:pPr lvl="1"/>
            <a:r>
              <a:rPr lang="en-US" dirty="0"/>
              <a:t>#1 – You have to check the email, or phone number returned from the Social company. If it doesn’t exist, you need to build a new account. The account type is </a:t>
            </a:r>
            <a:r>
              <a:rPr lang="en-US" dirty="0" err="1"/>
              <a:t>ThirdParty</a:t>
            </a:r>
            <a:r>
              <a:rPr lang="en-US" dirty="0"/>
              <a:t> Social… and you don’t have their password…. So you have to restrict logins to only this type of access. If you build a new account you need to then add a session for the first access, OR make them login again(As most sites do).</a:t>
            </a:r>
          </a:p>
          <a:p>
            <a:pPr lvl="1"/>
            <a:r>
              <a:rPr lang="en-US" dirty="0"/>
              <a:t>#2 – Second or more uses…After the second use, you have to continue to put a foreign session cookie/token in your session table. That means your session process has to accept and have multiple fields for the token. Your client/app has to use this token to check its own status.</a:t>
            </a:r>
          </a:p>
          <a:p>
            <a:r>
              <a:rPr lang="en-US" dirty="0"/>
              <a:t>Invalid Tokens</a:t>
            </a:r>
          </a:p>
          <a:p>
            <a:pPr lvl="1"/>
            <a:r>
              <a:rPr lang="en-US" dirty="0"/>
              <a:t>You don’t have a good login from Google, Facebook, </a:t>
            </a:r>
            <a:r>
              <a:rPr lang="en-US" dirty="0" err="1"/>
              <a:t>etc</a:t>
            </a:r>
            <a:r>
              <a:rPr lang="en-US" dirty="0"/>
              <a:t>… which could mean two things… the User is bad, or your controller is broken… this is a complex process.</a:t>
            </a:r>
          </a:p>
          <a:p>
            <a:r>
              <a:rPr lang="en-US" dirty="0"/>
              <a:t>When things work right….your validated social token, matches an existing email, and is given permissions associated with that account. That means that usually a Social Login is always a GUEST user. They cannot be an admin.</a:t>
            </a:r>
          </a:p>
          <a:p>
            <a:r>
              <a:rPr lang="en-US" dirty="0"/>
              <a:t>If a Social User Needs to be an Admin… you have to have an exception process to understand why they want to do that and if you are comfortable with it…. Usually not. Admins usually have to be a local account, and have special 2 factor authentication. Why? A FB/Google Account only needs access to </a:t>
            </a:r>
            <a:r>
              <a:rPr lang="en-US" dirty="0" err="1"/>
              <a:t>someones</a:t>
            </a:r>
            <a:r>
              <a:rPr lang="en-US" dirty="0"/>
              <a:t> phone for a few seconds, or if 2factor is off you wont know.</a:t>
            </a:r>
          </a:p>
          <a:p>
            <a:r>
              <a:rPr lang="en-US" dirty="0"/>
              <a:t>EXTRAS -&gt; You can still request 2factor post social login to validate that you have all the right information… and this might help clean up your own database information. You could for example require 2factor SMS to use the service from Facebook, google, etc.</a:t>
            </a:r>
          </a:p>
        </p:txBody>
      </p:sp>
    </p:spTree>
    <p:extLst>
      <p:ext uri="{BB962C8B-B14F-4D97-AF65-F5344CB8AC3E}">
        <p14:creationId xmlns:p14="http://schemas.microsoft.com/office/powerpoint/2010/main" val="3497025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B50B6-36F5-54BF-B7EB-76C969E8B90B}"/>
              </a:ext>
            </a:extLst>
          </p:cNvPr>
          <p:cNvSpPr>
            <a:spLocks noGrp="1"/>
          </p:cNvSpPr>
          <p:nvPr>
            <p:ph type="title"/>
          </p:nvPr>
        </p:nvSpPr>
        <p:spPr/>
        <p:txBody>
          <a:bodyPr/>
          <a:lstStyle/>
          <a:p>
            <a:r>
              <a:rPr lang="en-US" dirty="0"/>
              <a:t>CASE 3 -&gt;Microsoft ENTRA ID</a:t>
            </a:r>
          </a:p>
        </p:txBody>
      </p:sp>
      <p:sp>
        <p:nvSpPr>
          <p:cNvPr id="3" name="Content Placeholder 2">
            <a:extLst>
              <a:ext uri="{FF2B5EF4-FFF2-40B4-BE49-F238E27FC236}">
                <a16:creationId xmlns:a16="http://schemas.microsoft.com/office/drawing/2014/main" id="{8DF73153-58F8-855E-3F13-67859DF080A4}"/>
              </a:ext>
            </a:extLst>
          </p:cNvPr>
          <p:cNvSpPr>
            <a:spLocks noGrp="1"/>
          </p:cNvSpPr>
          <p:nvPr>
            <p:ph idx="1"/>
          </p:nvPr>
        </p:nvSpPr>
        <p:spPr/>
        <p:txBody>
          <a:bodyPr/>
          <a:lstStyle/>
          <a:p>
            <a:r>
              <a:rPr lang="en-US" dirty="0"/>
              <a:t>Microsoft Entra IDs do create tokens and are just like any other social provider…BUT… usually you own the domain controller, and have full information in Azure… it’s a pretty good solution.</a:t>
            </a:r>
          </a:p>
          <a:p>
            <a:r>
              <a:rPr lang="en-US" dirty="0"/>
              <a:t>This process is the same as Case2.</a:t>
            </a:r>
          </a:p>
        </p:txBody>
      </p:sp>
    </p:spTree>
    <p:extLst>
      <p:ext uri="{BB962C8B-B14F-4D97-AF65-F5344CB8AC3E}">
        <p14:creationId xmlns:p14="http://schemas.microsoft.com/office/powerpoint/2010/main" val="1783496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69C8B-2170-93DC-BA29-0F817BAD5F5E}"/>
              </a:ext>
            </a:extLst>
          </p:cNvPr>
          <p:cNvSpPr>
            <a:spLocks noGrp="1"/>
          </p:cNvSpPr>
          <p:nvPr>
            <p:ph type="title"/>
          </p:nvPr>
        </p:nvSpPr>
        <p:spPr/>
        <p:txBody>
          <a:bodyPr/>
          <a:lstStyle/>
          <a:p>
            <a:r>
              <a:rPr lang="en-US" dirty="0"/>
              <a:t>CASE4: COMPLEX SSO FROM INTERNET PROVIDER</a:t>
            </a:r>
          </a:p>
        </p:txBody>
      </p:sp>
      <p:sp>
        <p:nvSpPr>
          <p:cNvPr id="3" name="Content Placeholder 2">
            <a:extLst>
              <a:ext uri="{FF2B5EF4-FFF2-40B4-BE49-F238E27FC236}">
                <a16:creationId xmlns:a16="http://schemas.microsoft.com/office/drawing/2014/main" id="{74E5F87E-1DA4-BB22-97C8-5618703146F9}"/>
              </a:ext>
            </a:extLst>
          </p:cNvPr>
          <p:cNvSpPr>
            <a:spLocks noGrp="1"/>
          </p:cNvSpPr>
          <p:nvPr>
            <p:ph idx="1"/>
          </p:nvPr>
        </p:nvSpPr>
        <p:spPr/>
        <p:txBody>
          <a:bodyPr>
            <a:normAutofit fontScale="85000" lnSpcReduction="20000"/>
          </a:bodyPr>
          <a:lstStyle/>
          <a:p>
            <a:r>
              <a:rPr lang="en-US" dirty="0"/>
              <a:t>There are several Internet IAM providers which do this complex process for you… its very complicated with lots of sub tree problems which we have solved over the years….</a:t>
            </a:r>
          </a:p>
          <a:p>
            <a:r>
              <a:rPr lang="en-US" dirty="0"/>
              <a:t>Examples OpenAPI.com (which has its own clients and CRM plugins to Drupal, WP, Joomla)</a:t>
            </a:r>
          </a:p>
          <a:p>
            <a:r>
              <a:rPr lang="en-US" dirty="0"/>
              <a:t>Examples Oneall.com</a:t>
            </a:r>
          </a:p>
          <a:p>
            <a:pPr lvl="1"/>
            <a:r>
              <a:rPr lang="en-US" dirty="0"/>
              <a:t>We like Oneall.com they provide local </a:t>
            </a:r>
            <a:r>
              <a:rPr lang="en-US" dirty="0" err="1"/>
              <a:t>javascript</a:t>
            </a:r>
            <a:r>
              <a:rPr lang="en-US" dirty="0"/>
              <a:t> where a user is authenticated against their network, and then they manage session tables against the Social companies. They also provider user registration.</a:t>
            </a:r>
          </a:p>
          <a:p>
            <a:pPr lvl="1"/>
            <a:r>
              <a:rPr lang="en-US" dirty="0"/>
              <a:t>Their service is brilliant and can show you how people login from all over the world…. Heat maps, consolidated profiles… and per application reporting… for a reasonable price.</a:t>
            </a:r>
          </a:p>
          <a:p>
            <a:pPr lvl="1"/>
            <a:r>
              <a:rPr lang="en-US" dirty="0"/>
              <a:t>We have been customers for 10+ years. MSFT signed a contract while building </a:t>
            </a:r>
            <a:r>
              <a:rPr lang="en-US" dirty="0" err="1"/>
              <a:t>EntraID</a:t>
            </a:r>
            <a:r>
              <a:rPr lang="en-US" dirty="0"/>
              <a:t>.</a:t>
            </a:r>
          </a:p>
        </p:txBody>
      </p:sp>
    </p:spTree>
    <p:extLst>
      <p:ext uri="{BB962C8B-B14F-4D97-AF65-F5344CB8AC3E}">
        <p14:creationId xmlns:p14="http://schemas.microsoft.com/office/powerpoint/2010/main" val="119181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5BB8A-824F-3E1A-6787-A738FD1BBA41}"/>
              </a:ext>
            </a:extLst>
          </p:cNvPr>
          <p:cNvSpPr>
            <a:spLocks noGrp="1"/>
          </p:cNvSpPr>
          <p:nvPr>
            <p:ph type="title"/>
          </p:nvPr>
        </p:nvSpPr>
        <p:spPr/>
        <p:txBody>
          <a:bodyPr/>
          <a:lstStyle/>
          <a:p>
            <a:r>
              <a:rPr lang="en-US" dirty="0"/>
              <a:t>CASE5: BUILD YOUR OWN API</a:t>
            </a:r>
          </a:p>
        </p:txBody>
      </p:sp>
      <p:sp>
        <p:nvSpPr>
          <p:cNvPr id="3" name="Content Placeholder 2">
            <a:extLst>
              <a:ext uri="{FF2B5EF4-FFF2-40B4-BE49-F238E27FC236}">
                <a16:creationId xmlns:a16="http://schemas.microsoft.com/office/drawing/2014/main" id="{70FE0B4B-A545-A176-535D-7A4DC0F9A3B0}"/>
              </a:ext>
            </a:extLst>
          </p:cNvPr>
          <p:cNvSpPr>
            <a:spLocks noGrp="1"/>
          </p:cNvSpPr>
          <p:nvPr>
            <p:ph idx="1"/>
          </p:nvPr>
        </p:nvSpPr>
        <p:spPr/>
        <p:txBody>
          <a:bodyPr>
            <a:normAutofit lnSpcReduction="10000"/>
          </a:bodyPr>
          <a:lstStyle/>
          <a:p>
            <a:r>
              <a:rPr lang="en-US" dirty="0"/>
              <a:t>This is a complex process in itself…</a:t>
            </a:r>
          </a:p>
          <a:p>
            <a:r>
              <a:rPr lang="en-US" dirty="0"/>
              <a:t>You tie a REST API to a database with a user table.</a:t>
            </a:r>
          </a:p>
          <a:p>
            <a:r>
              <a:rPr lang="en-US" dirty="0"/>
              <a:t>You build a Session table.</a:t>
            </a:r>
          </a:p>
          <a:p>
            <a:r>
              <a:rPr lang="en-US" dirty="0"/>
              <a:t>When a user logs in… you create a session on the </a:t>
            </a:r>
            <a:r>
              <a:rPr lang="en-US" dirty="0" err="1"/>
              <a:t>backoffice</a:t>
            </a:r>
            <a:r>
              <a:rPr lang="en-US" dirty="0"/>
              <a:t>.</a:t>
            </a:r>
          </a:p>
          <a:p>
            <a:r>
              <a:rPr lang="en-US" dirty="0"/>
              <a:t>You return your own token, and you have TO TELL THE APP what to do with it…or let them decide.</a:t>
            </a:r>
          </a:p>
          <a:p>
            <a:r>
              <a:rPr lang="en-US" dirty="0"/>
              <a:t>You have to make the APP reregister the token every so often(4 hours or so or log them out). You have to deny access to tokens to access your API which are not valid.</a:t>
            </a:r>
          </a:p>
        </p:txBody>
      </p:sp>
    </p:spTree>
    <p:extLst>
      <p:ext uri="{BB962C8B-B14F-4D97-AF65-F5344CB8AC3E}">
        <p14:creationId xmlns:p14="http://schemas.microsoft.com/office/powerpoint/2010/main" val="3735864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B228-7B0C-A601-5B2F-25A5BB336D72}"/>
              </a:ext>
            </a:extLst>
          </p:cNvPr>
          <p:cNvSpPr>
            <a:spLocks noGrp="1"/>
          </p:cNvSpPr>
          <p:nvPr>
            <p:ph type="title"/>
          </p:nvPr>
        </p:nvSpPr>
        <p:spPr/>
        <p:txBody>
          <a:bodyPr/>
          <a:lstStyle/>
          <a:p>
            <a:r>
              <a:rPr lang="en-US" dirty="0"/>
              <a:t>CASE6: USE A CRM TOOL</a:t>
            </a:r>
          </a:p>
        </p:txBody>
      </p:sp>
      <p:sp>
        <p:nvSpPr>
          <p:cNvPr id="3" name="Content Placeholder 2">
            <a:extLst>
              <a:ext uri="{FF2B5EF4-FFF2-40B4-BE49-F238E27FC236}">
                <a16:creationId xmlns:a16="http://schemas.microsoft.com/office/drawing/2014/main" id="{F2EBE582-8448-288A-893E-17FA8FC70A95}"/>
              </a:ext>
            </a:extLst>
          </p:cNvPr>
          <p:cNvSpPr>
            <a:spLocks noGrp="1"/>
          </p:cNvSpPr>
          <p:nvPr>
            <p:ph idx="1"/>
          </p:nvPr>
        </p:nvSpPr>
        <p:spPr/>
        <p:txBody>
          <a:bodyPr/>
          <a:lstStyle/>
          <a:p>
            <a:r>
              <a:rPr lang="en-US" dirty="0"/>
              <a:t>Joomla, Drupal, and </a:t>
            </a:r>
            <a:r>
              <a:rPr lang="en-US" dirty="0" err="1"/>
              <a:t>Wordpress</a:t>
            </a:r>
            <a:r>
              <a:rPr lang="en-US" dirty="0"/>
              <a:t> all set cookies in a common format… you can use their logins, and accept their cookies… </a:t>
            </a:r>
          </a:p>
          <a:p>
            <a:r>
              <a:rPr lang="en-US" dirty="0"/>
              <a:t>Since these CRM tools are opensource you can customize their cookies, and session management.</a:t>
            </a:r>
          </a:p>
          <a:p>
            <a:r>
              <a:rPr lang="en-US" dirty="0"/>
              <a:t>Joomla is our choice, and has a 2</a:t>
            </a:r>
            <a:r>
              <a:rPr lang="en-US" baseline="30000" dirty="0"/>
              <a:t>nd</a:t>
            </a:r>
            <a:r>
              <a:rPr lang="en-US" dirty="0"/>
              <a:t> level validation to </a:t>
            </a:r>
            <a:r>
              <a:rPr lang="en-US" dirty="0" err="1"/>
              <a:t>OneALL</a:t>
            </a:r>
            <a:r>
              <a:rPr lang="en-US" dirty="0"/>
              <a:t>. A Joomla login therefore can be seamlessly integrated in with 50+ social sites using a Joomla Cookie (Our Very Good Pick).</a:t>
            </a:r>
          </a:p>
          <a:p>
            <a:r>
              <a:rPr lang="en-US" dirty="0" err="1"/>
              <a:t>Wordpress</a:t>
            </a:r>
            <a:r>
              <a:rPr lang="en-US" dirty="0"/>
              <a:t> runs 80% of sites on the Internet… They also have social media plugins which tie to your site… (We use this too)…</a:t>
            </a:r>
          </a:p>
        </p:txBody>
      </p:sp>
    </p:spTree>
    <p:extLst>
      <p:ext uri="{BB962C8B-B14F-4D97-AF65-F5344CB8AC3E}">
        <p14:creationId xmlns:p14="http://schemas.microsoft.com/office/powerpoint/2010/main" val="853139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3AE97-7A49-3BA9-D000-2A581A637F0C}"/>
              </a:ext>
            </a:extLst>
          </p:cNvPr>
          <p:cNvSpPr>
            <a:spLocks noGrp="1"/>
          </p:cNvSpPr>
          <p:nvPr>
            <p:ph type="title"/>
          </p:nvPr>
        </p:nvSpPr>
        <p:spPr/>
        <p:txBody>
          <a:bodyPr/>
          <a:lstStyle/>
          <a:p>
            <a:r>
              <a:rPr lang="en-US" dirty="0"/>
              <a:t>Case7: OLD TRUSTY….THE UNIX MODEL</a:t>
            </a:r>
          </a:p>
        </p:txBody>
      </p:sp>
      <p:sp>
        <p:nvSpPr>
          <p:cNvPr id="3" name="Content Placeholder 2">
            <a:extLst>
              <a:ext uri="{FF2B5EF4-FFF2-40B4-BE49-F238E27FC236}">
                <a16:creationId xmlns:a16="http://schemas.microsoft.com/office/drawing/2014/main" id="{570FFE47-B70D-AA35-E1C6-558AD773B81D}"/>
              </a:ext>
            </a:extLst>
          </p:cNvPr>
          <p:cNvSpPr>
            <a:spLocks noGrp="1"/>
          </p:cNvSpPr>
          <p:nvPr>
            <p:ph idx="1"/>
          </p:nvPr>
        </p:nvSpPr>
        <p:spPr/>
        <p:txBody>
          <a:bodyPr>
            <a:normAutofit fontScale="77500" lnSpcReduction="20000"/>
          </a:bodyPr>
          <a:lstStyle/>
          <a:p>
            <a:r>
              <a:rPr lang="en-US" dirty="0"/>
              <a:t>Complex </a:t>
            </a:r>
            <a:r>
              <a:rPr lang="en-US" dirty="0" err="1"/>
              <a:t>unix</a:t>
            </a:r>
            <a:r>
              <a:rPr lang="en-US" dirty="0"/>
              <a:t> systems have an encrypted password file which is a flat file. Its salted… and well 10’s of billions of people have tried to break it an failed…</a:t>
            </a:r>
          </a:p>
          <a:p>
            <a:r>
              <a:rPr lang="en-US" dirty="0"/>
              <a:t>Unix Pam was adopted by Linux…..</a:t>
            </a:r>
          </a:p>
          <a:p>
            <a:r>
              <a:rPr lang="en-US" dirty="0"/>
              <a:t>AND well they synch to things like </a:t>
            </a:r>
            <a:r>
              <a:rPr lang="en-US" dirty="0" err="1"/>
              <a:t>OpenLDAP</a:t>
            </a:r>
            <a:r>
              <a:rPr lang="en-US" dirty="0"/>
              <a:t>…. If you create a PAM user, they synch to NIS+ and other network services.</a:t>
            </a:r>
          </a:p>
          <a:p>
            <a:r>
              <a:rPr lang="en-US" dirty="0"/>
              <a:t>PAM logins can be extended to CRM tools like Joomla/Drupal/WP CRM via plugins… making Case6 </a:t>
            </a:r>
            <a:r>
              <a:rPr lang="en-US" dirty="0" err="1"/>
              <a:t>kinda</a:t>
            </a:r>
            <a:r>
              <a:rPr lang="en-US" dirty="0"/>
              <a:t> cool…</a:t>
            </a:r>
          </a:p>
          <a:p>
            <a:r>
              <a:rPr lang="en-US" dirty="0"/>
              <a:t>Or just use Unix Logins….</a:t>
            </a:r>
          </a:p>
          <a:p>
            <a:r>
              <a:rPr lang="en-US" dirty="0"/>
              <a:t>NOW Novell… is the US Government standard… and they use PAM to </a:t>
            </a:r>
            <a:r>
              <a:rPr lang="en-US" dirty="0" err="1"/>
              <a:t>eDirectory</a:t>
            </a:r>
            <a:r>
              <a:rPr lang="en-US" dirty="0"/>
              <a:t> synching which also supports APP registration and permissions. Thus </a:t>
            </a:r>
            <a:r>
              <a:rPr lang="en-US" dirty="0" err="1"/>
              <a:t>eDirectory</a:t>
            </a:r>
            <a:r>
              <a:rPr lang="en-US" dirty="0"/>
              <a:t> tokens can validate to application permissions in complex ways.</a:t>
            </a:r>
          </a:p>
        </p:txBody>
      </p:sp>
    </p:spTree>
    <p:extLst>
      <p:ext uri="{BB962C8B-B14F-4D97-AF65-F5344CB8AC3E}">
        <p14:creationId xmlns:p14="http://schemas.microsoft.com/office/powerpoint/2010/main" val="1650415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68AC1-D3C9-6A4B-33A5-EB54277925AB}"/>
              </a:ext>
            </a:extLst>
          </p:cNvPr>
          <p:cNvSpPr>
            <a:spLocks noGrp="1"/>
          </p:cNvSpPr>
          <p:nvPr>
            <p:ph type="title"/>
          </p:nvPr>
        </p:nvSpPr>
        <p:spPr/>
        <p:txBody>
          <a:bodyPr/>
          <a:lstStyle/>
          <a:p>
            <a:r>
              <a:rPr lang="en-US" dirty="0"/>
              <a:t>CASE 8 -&gt; JUNK IT ALL… AND BUILT YOUR OWN ONE ALL?</a:t>
            </a:r>
          </a:p>
        </p:txBody>
      </p:sp>
      <p:sp>
        <p:nvSpPr>
          <p:cNvPr id="3" name="Content Placeholder 2">
            <a:extLst>
              <a:ext uri="{FF2B5EF4-FFF2-40B4-BE49-F238E27FC236}">
                <a16:creationId xmlns:a16="http://schemas.microsoft.com/office/drawing/2014/main" id="{0A4127D1-1BCF-BF85-5218-B4B77EC40687}"/>
              </a:ext>
            </a:extLst>
          </p:cNvPr>
          <p:cNvSpPr>
            <a:spLocks noGrp="1"/>
          </p:cNvSpPr>
          <p:nvPr>
            <p:ph idx="1"/>
          </p:nvPr>
        </p:nvSpPr>
        <p:spPr/>
        <p:txBody>
          <a:bodyPr>
            <a:normAutofit lnSpcReduction="10000"/>
          </a:bodyPr>
          <a:lstStyle/>
          <a:p>
            <a:r>
              <a:rPr lang="en-US" dirty="0"/>
              <a:t>Well with an API… you can validate a login and generate a token… and extend that token to social media OATH providers as a second stage process.</a:t>
            </a:r>
          </a:p>
          <a:p>
            <a:r>
              <a:rPr lang="en-US" dirty="0"/>
              <a:t>In this case your apps communicate to the API only… and the API handles everything else automagically….</a:t>
            </a:r>
          </a:p>
          <a:p>
            <a:r>
              <a:rPr lang="en-US" dirty="0"/>
              <a:t>We are going to try to build that in this class as a unique architecture.</a:t>
            </a:r>
          </a:p>
          <a:p>
            <a:r>
              <a:rPr lang="en-US" dirty="0"/>
              <a:t>Since Joomla cookies are standardized, we can even create a Joomla account on the back-end, that even has a salted password with it by API. Then everything works…</a:t>
            </a:r>
          </a:p>
        </p:txBody>
      </p:sp>
    </p:spTree>
    <p:extLst>
      <p:ext uri="{BB962C8B-B14F-4D97-AF65-F5344CB8AC3E}">
        <p14:creationId xmlns:p14="http://schemas.microsoft.com/office/powerpoint/2010/main" val="3580395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C8E5A-5BE7-ACCA-C47E-6DE5CFF8D050}"/>
              </a:ext>
            </a:extLst>
          </p:cNvPr>
          <p:cNvSpPr>
            <a:spLocks noGrp="1"/>
          </p:cNvSpPr>
          <p:nvPr>
            <p:ph type="title"/>
          </p:nvPr>
        </p:nvSpPr>
        <p:spPr/>
        <p:txBody>
          <a:bodyPr/>
          <a:lstStyle/>
          <a:p>
            <a:r>
              <a:rPr lang="en-US" dirty="0"/>
              <a:t>THE TRUTH… SUPPORTING ALL 8 PROCESSES….</a:t>
            </a:r>
          </a:p>
        </p:txBody>
      </p:sp>
      <p:sp>
        <p:nvSpPr>
          <p:cNvPr id="3" name="Content Placeholder 2">
            <a:extLst>
              <a:ext uri="{FF2B5EF4-FFF2-40B4-BE49-F238E27FC236}">
                <a16:creationId xmlns:a16="http://schemas.microsoft.com/office/drawing/2014/main" id="{CC167AB3-EAEF-942C-2007-78FCD98E875A}"/>
              </a:ext>
            </a:extLst>
          </p:cNvPr>
          <p:cNvSpPr>
            <a:spLocks noGrp="1"/>
          </p:cNvSpPr>
          <p:nvPr>
            <p:ph idx="1"/>
          </p:nvPr>
        </p:nvSpPr>
        <p:spPr/>
        <p:txBody>
          <a:bodyPr>
            <a:normAutofit fontScale="92500" lnSpcReduction="10000"/>
          </a:bodyPr>
          <a:lstStyle/>
          <a:p>
            <a:r>
              <a:rPr lang="en-US" dirty="0"/>
              <a:t>Has literally taken 14 years of education and training…</a:t>
            </a:r>
          </a:p>
          <a:p>
            <a:r>
              <a:rPr lang="en-US" dirty="0"/>
              <a:t>And STILL that doesn’t cover Enterprise SSO which is tied with Access Management</a:t>
            </a:r>
          </a:p>
          <a:p>
            <a:pPr lvl="1"/>
            <a:r>
              <a:rPr lang="en-US" dirty="0"/>
              <a:t>For Example old employers tie Domain logins to badge access readers in complex ways.</a:t>
            </a:r>
          </a:p>
          <a:p>
            <a:pPr lvl="1"/>
            <a:r>
              <a:rPr lang="en-US" dirty="0"/>
              <a:t>If you go to a US Government Contractor of any size… they all have proprietary SSO which you have to deal with…. And that’s STILL a per site Engineering Exercise….</a:t>
            </a:r>
          </a:p>
          <a:p>
            <a:pPr lvl="1"/>
            <a:r>
              <a:rPr lang="en-US" dirty="0"/>
              <a:t>And for Verizon/ATT and the other baby bells they have to deal with Government SSO, Military SSO, and more…</a:t>
            </a:r>
          </a:p>
          <a:p>
            <a:pPr lvl="1"/>
            <a:r>
              <a:rPr lang="en-US" dirty="0"/>
              <a:t>So Digital Identity is a whole lifetime sport which is never going away and gets more complicated every year.</a:t>
            </a:r>
          </a:p>
        </p:txBody>
      </p:sp>
    </p:spTree>
    <p:extLst>
      <p:ext uri="{BB962C8B-B14F-4D97-AF65-F5344CB8AC3E}">
        <p14:creationId xmlns:p14="http://schemas.microsoft.com/office/powerpoint/2010/main" val="4061686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5EC4F-10EB-4D89-CCE8-D4CC0B19E6FA}"/>
              </a:ext>
            </a:extLst>
          </p:cNvPr>
          <p:cNvSpPr>
            <a:spLocks noGrp="1"/>
          </p:cNvSpPr>
          <p:nvPr>
            <p:ph type="title"/>
          </p:nvPr>
        </p:nvSpPr>
        <p:spPr/>
        <p:txBody>
          <a:bodyPr/>
          <a:lstStyle/>
          <a:p>
            <a:r>
              <a:rPr lang="en-US" dirty="0"/>
              <a:t>To put this in perspective….</a:t>
            </a:r>
          </a:p>
        </p:txBody>
      </p:sp>
      <p:sp>
        <p:nvSpPr>
          <p:cNvPr id="3" name="Content Placeholder 2">
            <a:extLst>
              <a:ext uri="{FF2B5EF4-FFF2-40B4-BE49-F238E27FC236}">
                <a16:creationId xmlns:a16="http://schemas.microsoft.com/office/drawing/2014/main" id="{F4841226-B26E-2F0D-636A-B6D0A9BE3D6C}"/>
              </a:ext>
            </a:extLst>
          </p:cNvPr>
          <p:cNvSpPr>
            <a:spLocks noGrp="1"/>
          </p:cNvSpPr>
          <p:nvPr>
            <p:ph idx="1"/>
          </p:nvPr>
        </p:nvSpPr>
        <p:spPr/>
        <p:txBody>
          <a:bodyPr>
            <a:normAutofit fontScale="92500" lnSpcReduction="20000"/>
          </a:bodyPr>
          <a:lstStyle/>
          <a:p>
            <a:r>
              <a:rPr lang="en-US" dirty="0"/>
              <a:t>This is a 10 year project with 10 engineers in size and scope…</a:t>
            </a:r>
          </a:p>
          <a:p>
            <a:r>
              <a:rPr lang="en-US" dirty="0"/>
              <a:t>It requires significant research to all 50+ social engines and their IAM process… so even if you know your own… each foreign domain is unique and needs an adapter layer….</a:t>
            </a:r>
          </a:p>
          <a:p>
            <a:r>
              <a:rPr lang="en-US" dirty="0"/>
              <a:t>AI makes this achievable mainly because the AI engines can read all the standardized docs and code samples, and give them back to you summarized…..</a:t>
            </a:r>
          </a:p>
          <a:p>
            <a:r>
              <a:rPr lang="en-US" dirty="0"/>
              <a:t>AI reduces this cost by 50FTEs approximately. It lowers the cost to fulfillment.</a:t>
            </a:r>
          </a:p>
          <a:p>
            <a:r>
              <a:rPr lang="en-US" dirty="0"/>
              <a:t>It’s a 798 Project in itself. (3CH-&gt;12CHs). It’s a massive PHD level project.</a:t>
            </a:r>
          </a:p>
        </p:txBody>
      </p:sp>
    </p:spTree>
    <p:extLst>
      <p:ext uri="{BB962C8B-B14F-4D97-AF65-F5344CB8AC3E}">
        <p14:creationId xmlns:p14="http://schemas.microsoft.com/office/powerpoint/2010/main" val="2576147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4FC6-FE3D-7B45-84BE-3C726AB1D86B}"/>
              </a:ext>
            </a:extLst>
          </p:cNvPr>
          <p:cNvSpPr>
            <a:spLocks noGrp="1"/>
          </p:cNvSpPr>
          <p:nvPr>
            <p:ph type="title"/>
          </p:nvPr>
        </p:nvSpPr>
        <p:spPr/>
        <p:txBody>
          <a:bodyPr/>
          <a:lstStyle/>
          <a:p>
            <a:r>
              <a:rPr lang="en-US" dirty="0"/>
              <a:t>Thanks!</a:t>
            </a:r>
          </a:p>
        </p:txBody>
      </p:sp>
      <p:sp>
        <p:nvSpPr>
          <p:cNvPr id="3" name="Text Placeholder 2">
            <a:extLst>
              <a:ext uri="{FF2B5EF4-FFF2-40B4-BE49-F238E27FC236}">
                <a16:creationId xmlns:a16="http://schemas.microsoft.com/office/drawing/2014/main" id="{83A473F4-C73D-8C4A-8929-A707A37594D9}"/>
              </a:ext>
            </a:extLst>
          </p:cNvPr>
          <p:cNvSpPr>
            <a:spLocks noGrp="1"/>
          </p:cNvSpPr>
          <p:nvPr>
            <p:ph type="body" idx="1"/>
          </p:nvPr>
        </p:nvSpPr>
        <p:spPr/>
        <p:txBody>
          <a:bodyPr/>
          <a:lstStyle/>
          <a:p>
            <a:r>
              <a:rPr lang="en-US" dirty="0"/>
              <a:t>Name</a:t>
            </a:r>
          </a:p>
          <a:p>
            <a:r>
              <a:rPr lang="en-US" dirty="0"/>
              <a:t>Title</a:t>
            </a:r>
          </a:p>
          <a:p>
            <a:r>
              <a:rPr lang="en-US" dirty="0"/>
              <a:t>Email</a:t>
            </a:r>
          </a:p>
          <a:p>
            <a:r>
              <a:rPr lang="en-US" dirty="0"/>
              <a:t>Social</a:t>
            </a:r>
          </a:p>
        </p:txBody>
      </p:sp>
    </p:spTree>
    <p:extLst>
      <p:ext uri="{BB962C8B-B14F-4D97-AF65-F5344CB8AC3E}">
        <p14:creationId xmlns:p14="http://schemas.microsoft.com/office/powerpoint/2010/main" val="3387642774"/>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58CAB0-DDDD-8E42-8715-79BD1402BECB}" vid="{EC9F5A20-6D19-7048-A333-7BEF17D9B2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usc_ppt_substitute_fonts_wide</Template>
  <TotalTime>57</TotalTime>
  <Words>2099</Words>
  <Application>Microsoft Office PowerPoint</Application>
  <PresentationFormat>Widescreen</PresentationFormat>
  <Paragraphs>113</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Impact</vt:lpstr>
      <vt:lpstr>UofSC Simple Theme</vt:lpstr>
      <vt:lpstr>SOCIAL MEDIA EXTENSIONS Arch REQ6</vt:lpstr>
      <vt:lpstr>Headline </vt:lpstr>
      <vt:lpstr>ARCH OVERVIEW – SEE CASE #8</vt:lpstr>
      <vt:lpstr>To deliver sso: MINIMUM</vt:lpstr>
      <vt:lpstr>SSO ARCHITECTURES USING COMPLEX MODELS</vt:lpstr>
      <vt:lpstr>CASE1 – PARTNER WITH A BIG COMPANY</vt:lpstr>
      <vt:lpstr>CASE2 PT1 -&gt; Accept a validate social token.</vt:lpstr>
      <vt:lpstr>CASE2 - SOCIAL PT2 – WHAT TO DO NOW?</vt:lpstr>
      <vt:lpstr>CASE 3 -&gt;Microsoft ENTRA ID</vt:lpstr>
      <vt:lpstr>CASE4: COMPLEX SSO FROM INTERNET PROVIDER</vt:lpstr>
      <vt:lpstr>CASE5: BUILD YOUR OWN API</vt:lpstr>
      <vt:lpstr>CASE6: USE A CRM TOOL</vt:lpstr>
      <vt:lpstr>Case7: OLD TRUSTY….THE UNIX MODEL</vt:lpstr>
      <vt:lpstr>CASE 8 -&gt; JUNK IT ALL… AND BUILT YOUR OWN ONE ALL?</vt:lpstr>
      <vt:lpstr>THE TRUTH… SUPPORTING ALL 8 PROCESSES….</vt:lpstr>
      <vt:lpstr>To put this in perspective….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Stritzinger, John</dc:creator>
  <cp:lastModifiedBy>Stritzinger, John</cp:lastModifiedBy>
  <cp:revision>4</cp:revision>
  <dcterms:created xsi:type="dcterms:W3CDTF">2026-09-28T15:13:16Z</dcterms:created>
  <dcterms:modified xsi:type="dcterms:W3CDTF">2026-09-28T16:10:25Z</dcterms:modified>
</cp:coreProperties>
</file>