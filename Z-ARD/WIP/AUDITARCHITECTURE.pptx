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94"/>
  </p:normalViewPr>
  <p:slideViewPr>
    <p:cSldViewPr snapToGrid="0" snapToObjects="1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/>
          <a:lstStyle>
            <a:lvl1pPr algn="ctr">
              <a:defRPr sz="6000"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University of South Carolina logo.">
            <a:extLst>
              <a:ext uri="{FF2B5EF4-FFF2-40B4-BE49-F238E27FC236}">
                <a16:creationId xmlns:a16="http://schemas.microsoft.com/office/drawing/2014/main" id="{C81DC1BB-A980-8448-BB01-0788DE434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09370" y="4429919"/>
            <a:ext cx="3173260" cy="211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2017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DC64B-5CD5-7341-B6E0-9B4F677F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8467-A91D-B840-9781-A402C93E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6502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1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E802-B46A-204D-94D4-E50D913A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7812B-2A55-D049-A1C2-A4C973AC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8766B-6B24-3B45-B55F-3D85F881F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7F728-2418-1540-9191-5FDFA36D8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48585-BFC1-9148-A0B5-07C83C2F2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9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371BF-1A9F-5641-95DB-6C0FE67B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21846-D4EB-5949-B8F3-E4009916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283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3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C8BA86-4F41-AF40-BBD9-45DCB3C3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3883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991BC-E157-B340-860E-81A4EBD0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05CF-1707-5749-8109-20FA449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2"/>
            <a:ext cx="2605644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4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54A1-6207-5141-AAB1-9A7630DA9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F95B-0887-9F4F-BA1C-0B9CBE5AE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515B1-8A32-AB43-82F2-51A60BC2E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D973-68F9-5B46-A3D8-B7AF20B0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68CE-A588-FE4D-9C1E-5BE4A1A8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5185-7056-B946-8F27-7890BB2A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AF3B6-3151-9346-B00D-EBED7ED75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EF208-3C62-3840-A816-A69F27E0B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C1DD0-6624-6048-953E-41055A0D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C492C-9027-2B43-9637-56046A06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76896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0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656521"/>
            <a:ext cx="10515600" cy="2187986"/>
          </a:xfrm>
        </p:spPr>
        <p:txBody>
          <a:bodyPr anchor="t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Email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EDFD73-0710-2244-860D-4BA6234A0E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26555" y="5790260"/>
            <a:ext cx="2892287" cy="57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0032F1-0121-BE4C-B781-236291AD797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4530" b="4530"/>
          <a:stretch/>
        </p:blipFill>
        <p:spPr>
          <a:xfrm>
            <a:off x="9022846" y="5946775"/>
            <a:ext cx="2695388" cy="48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ARCHITECTURE EXTENSIONS</a:t>
            </a:r>
            <a:br>
              <a:rPr lang="en-US" dirty="0"/>
            </a:br>
            <a:r>
              <a:rPr lang="en-US" dirty="0"/>
              <a:t>Arch REQ5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A461-863C-424F-BAE7-45F2ACA74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09/28</a:t>
            </a:r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5408C-C014-D236-4C80-DEBBC81BC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C65AF-BC2A-9AB4-BE47-9D3CD9C7D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Auto-Discover all the Endpoints in an API</a:t>
            </a:r>
          </a:p>
          <a:p>
            <a:r>
              <a:rPr lang="en-US" dirty="0"/>
              <a:t>Check the Endpoints for HTTPS/HTTP</a:t>
            </a:r>
          </a:p>
          <a:p>
            <a:r>
              <a:rPr lang="en-US" dirty="0"/>
              <a:t>Check the Endpoints for Authentication Requirements</a:t>
            </a:r>
          </a:p>
          <a:p>
            <a:r>
              <a:rPr lang="en-US" dirty="0"/>
              <a:t>Check the Endpoints for External Reachability</a:t>
            </a:r>
          </a:p>
          <a:p>
            <a:r>
              <a:rPr lang="en-US" dirty="0"/>
              <a:t>Auto Discover the Proxy Web Servers Driving APIs</a:t>
            </a:r>
          </a:p>
          <a:p>
            <a:r>
              <a:rPr lang="en-US" dirty="0"/>
              <a:t>Auto Discover the Proxy API Slave Servers Delivering Services</a:t>
            </a:r>
          </a:p>
          <a:p>
            <a:r>
              <a:rPr lang="en-US" dirty="0"/>
              <a:t>Add an MVC Backside </a:t>
            </a:r>
            <a:r>
              <a:rPr lang="en-US" dirty="0" err="1"/>
              <a:t>Poller</a:t>
            </a:r>
            <a:r>
              <a:rPr lang="en-US" dirty="0"/>
              <a:t> &amp; Discovery Agent for Interfaces</a:t>
            </a:r>
          </a:p>
        </p:txBody>
      </p:sp>
    </p:spTree>
    <p:extLst>
      <p:ext uri="{BB962C8B-B14F-4D97-AF65-F5344CB8AC3E}">
        <p14:creationId xmlns:p14="http://schemas.microsoft.com/office/powerpoint/2010/main" val="4092836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64E3-4F6D-788C-E895-28F11200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3725" cy="1325563"/>
          </a:xfrm>
        </p:spPr>
        <p:txBody>
          <a:bodyPr/>
          <a:lstStyle/>
          <a:p>
            <a:r>
              <a:rPr lang="en-US" dirty="0"/>
              <a:t>CLIENT SERVICE ARCHITECTURE – W/O PROXY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A13E02-AABD-FFB4-CD1D-883F35905847}"/>
              </a:ext>
            </a:extLst>
          </p:cNvPr>
          <p:cNvSpPr/>
          <p:nvPr/>
        </p:nvSpPr>
        <p:spPr>
          <a:xfrm>
            <a:off x="707366" y="2432649"/>
            <a:ext cx="1388853" cy="11645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04231-D4D1-485D-9169-A1A93923C7E6}"/>
              </a:ext>
            </a:extLst>
          </p:cNvPr>
          <p:cNvCxnSpPr>
            <a:cxnSpLocks/>
          </p:cNvCxnSpPr>
          <p:nvPr/>
        </p:nvCxnSpPr>
        <p:spPr>
          <a:xfrm flipV="1">
            <a:off x="2182483" y="2366828"/>
            <a:ext cx="4020354" cy="678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08FA8D-751D-92C4-6E28-A7D56A7A0B16}"/>
              </a:ext>
            </a:extLst>
          </p:cNvPr>
          <p:cNvSpPr/>
          <p:nvPr/>
        </p:nvSpPr>
        <p:spPr>
          <a:xfrm>
            <a:off x="6340414" y="1962465"/>
            <a:ext cx="1820174" cy="8108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Web1-URL1</a:t>
            </a:r>
          </a:p>
          <a:p>
            <a:pPr algn="ctr"/>
            <a:r>
              <a:rPr lang="en-US" sz="1200" dirty="0"/>
              <a:t>Pages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912B4A-F753-4363-9D8B-EFEB77878EC3}"/>
              </a:ext>
            </a:extLst>
          </p:cNvPr>
          <p:cNvCxnSpPr>
            <a:cxnSpLocks/>
          </p:cNvCxnSpPr>
          <p:nvPr/>
        </p:nvCxnSpPr>
        <p:spPr>
          <a:xfrm>
            <a:off x="2182483" y="3312544"/>
            <a:ext cx="4149305" cy="375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743BF4-BFB7-F716-27D7-DE77B2A14E0D}"/>
              </a:ext>
            </a:extLst>
          </p:cNvPr>
          <p:cNvSpPr/>
          <p:nvPr/>
        </p:nvSpPr>
        <p:spPr>
          <a:xfrm>
            <a:off x="6418054" y="3312544"/>
            <a:ext cx="1820174" cy="2596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Web2-URL2</a:t>
            </a:r>
          </a:p>
          <a:p>
            <a:pPr algn="ctr"/>
            <a:r>
              <a:rPr lang="en-US" sz="1200" dirty="0"/>
              <a:t>API MVC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Swagger/</a:t>
            </a:r>
            <a:r>
              <a:rPr lang="en-US" sz="1200" dirty="0" err="1"/>
              <a:t>OpenAPI</a:t>
            </a:r>
            <a:endParaRPr lang="en-US" sz="1200" dirty="0"/>
          </a:p>
          <a:p>
            <a:pPr algn="ctr"/>
            <a:r>
              <a:rPr lang="en-US" sz="1200" dirty="0" err="1"/>
              <a:t>Swagger.json</a:t>
            </a:r>
            <a:r>
              <a:rPr lang="en-US" sz="1200" dirty="0"/>
              <a:t>(</a:t>
            </a:r>
            <a:r>
              <a:rPr lang="en-US" sz="1200" dirty="0" err="1"/>
              <a:t>SvcX</a:t>
            </a:r>
            <a:r>
              <a:rPr lang="en-US" sz="1200" dirty="0"/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3F17A4-E027-6BAD-011B-45A485E43F4C}"/>
              </a:ext>
            </a:extLst>
          </p:cNvPr>
          <p:cNvSpPr/>
          <p:nvPr/>
        </p:nvSpPr>
        <p:spPr>
          <a:xfrm>
            <a:off x="8393502" y="3312545"/>
            <a:ext cx="1069675" cy="923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EF</a:t>
            </a:r>
          </a:p>
          <a:p>
            <a:pPr algn="ctr"/>
            <a:r>
              <a:rPr lang="en-US" sz="1200" dirty="0"/>
              <a:t>DB</a:t>
            </a:r>
          </a:p>
          <a:p>
            <a:pPr algn="ctr"/>
            <a:r>
              <a:rPr lang="en-US" sz="1200" dirty="0"/>
              <a:t>LAYER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B62A50-3B1C-2C37-7F24-110C136980C6}"/>
              </a:ext>
            </a:extLst>
          </p:cNvPr>
          <p:cNvSpPr/>
          <p:nvPr/>
        </p:nvSpPr>
        <p:spPr>
          <a:xfrm>
            <a:off x="9627078" y="3312545"/>
            <a:ext cx="1181819" cy="923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DB</a:t>
            </a:r>
          </a:p>
          <a:p>
            <a:pPr algn="ctr"/>
            <a:r>
              <a:rPr lang="en-US" sz="1200" dirty="0"/>
              <a:t>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965D42-3DAD-AE02-5B4E-3716CC7AF548}"/>
              </a:ext>
            </a:extLst>
          </p:cNvPr>
          <p:cNvSpPr/>
          <p:nvPr/>
        </p:nvSpPr>
        <p:spPr>
          <a:xfrm>
            <a:off x="8393502" y="1962465"/>
            <a:ext cx="1069675" cy="808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Server</a:t>
            </a:r>
          </a:p>
          <a:p>
            <a:pPr algn="ctr"/>
            <a:r>
              <a:rPr lang="en-US" sz="1200" dirty="0"/>
              <a:t>Side</a:t>
            </a:r>
          </a:p>
          <a:p>
            <a:pPr algn="ctr"/>
            <a:r>
              <a:rPr lang="en-US" sz="1200" dirty="0"/>
              <a:t>Code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0006FE-E089-219E-BF15-9E25D5018A09}"/>
              </a:ext>
            </a:extLst>
          </p:cNvPr>
          <p:cNvCxnSpPr>
            <a:stCxn id="17" idx="3"/>
          </p:cNvCxnSpPr>
          <p:nvPr/>
        </p:nvCxnSpPr>
        <p:spPr>
          <a:xfrm>
            <a:off x="9463177" y="2366828"/>
            <a:ext cx="759125" cy="86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05177A-72F2-D944-0815-2834862B53B5}"/>
              </a:ext>
            </a:extLst>
          </p:cNvPr>
          <p:cNvSpPr/>
          <p:nvPr/>
        </p:nvSpPr>
        <p:spPr>
          <a:xfrm>
            <a:off x="8393502" y="4339088"/>
            <a:ext cx="1069675" cy="437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Svc1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3D53B2-3779-4F44-3CFF-014B4D8185E8}"/>
              </a:ext>
            </a:extLst>
          </p:cNvPr>
          <p:cNvSpPr/>
          <p:nvPr/>
        </p:nvSpPr>
        <p:spPr>
          <a:xfrm>
            <a:off x="8462513" y="5400136"/>
            <a:ext cx="1000664" cy="437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SvcX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14B187-8FF7-058A-57BB-05F040433658}"/>
              </a:ext>
            </a:extLst>
          </p:cNvPr>
          <p:cNvSpPr/>
          <p:nvPr/>
        </p:nvSpPr>
        <p:spPr>
          <a:xfrm>
            <a:off x="8842075" y="4839419"/>
            <a:ext cx="181155" cy="1984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73A4E4-89A9-D249-F0A2-9EA2C6A14CCF}"/>
              </a:ext>
            </a:extLst>
          </p:cNvPr>
          <p:cNvSpPr/>
          <p:nvPr/>
        </p:nvSpPr>
        <p:spPr>
          <a:xfrm>
            <a:off x="8842075" y="5149970"/>
            <a:ext cx="181155" cy="1984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E8534B-680B-F9A3-03BB-DF1763BB7BA8}"/>
              </a:ext>
            </a:extLst>
          </p:cNvPr>
          <p:cNvSpPr txBox="1"/>
          <p:nvPr/>
        </p:nvSpPr>
        <p:spPr>
          <a:xfrm>
            <a:off x="517584" y="4839419"/>
            <a:ext cx="5296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Azure Cloud – MSFT Provisions Public IP Addresses For All Services And HTTPS URLS To Microsoft Owned Domains. Microsoft allows </a:t>
            </a:r>
            <a:r>
              <a:rPr lang="en-US" dirty="0" err="1"/>
              <a:t>cnames</a:t>
            </a:r>
            <a:r>
              <a:rPr lang="en-US" dirty="0"/>
              <a:t> to SSL supporting custom domain URLS. Default Cipher is AES-256 For Azure.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15019D5-CEA8-C6AE-57E6-CA27256AE27A}"/>
              </a:ext>
            </a:extLst>
          </p:cNvPr>
          <p:cNvSpPr/>
          <p:nvPr/>
        </p:nvSpPr>
        <p:spPr>
          <a:xfrm>
            <a:off x="3329796" y="3985404"/>
            <a:ext cx="1406106" cy="76342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Cocky</a:t>
            </a:r>
          </a:p>
          <a:p>
            <a:pPr algn="ctr"/>
            <a:r>
              <a:rPr lang="en-US" dirty="0"/>
              <a:t>Auditor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30874D-985A-25A0-625A-210A3AA3B5D1}"/>
              </a:ext>
            </a:extLst>
          </p:cNvPr>
          <p:cNvCxnSpPr/>
          <p:nvPr/>
        </p:nvCxnSpPr>
        <p:spPr>
          <a:xfrm>
            <a:off x="4735902" y="4339088"/>
            <a:ext cx="1682152" cy="409742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F9F968-81CD-1E06-FDE9-D46FD1D105F8}"/>
              </a:ext>
            </a:extLst>
          </p:cNvPr>
          <p:cNvCxnSpPr/>
          <p:nvPr/>
        </p:nvCxnSpPr>
        <p:spPr>
          <a:xfrm flipV="1">
            <a:off x="4735902" y="2773347"/>
            <a:ext cx="1682152" cy="1462226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5537C1A-2E02-AC2D-7BD2-EAE09F86E1A9}"/>
              </a:ext>
            </a:extLst>
          </p:cNvPr>
          <p:cNvSpPr/>
          <p:nvPr/>
        </p:nvSpPr>
        <p:spPr>
          <a:xfrm>
            <a:off x="7051249" y="3519578"/>
            <a:ext cx="669304" cy="46582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CA Agent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5979A1-CA87-93B6-1DC6-5F8E8AD187ED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7622536" y="3917185"/>
            <a:ext cx="908722" cy="1535577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83FBFC88-5C53-D123-11C2-673C131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283" y="3798379"/>
            <a:ext cx="1106299" cy="726221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CB0629-C28E-147E-C306-78C0B8FC6D1F}"/>
              </a:ext>
            </a:extLst>
          </p:cNvPr>
          <p:cNvCxnSpPr>
            <a:stCxn id="25" idx="3"/>
            <a:endCxn id="32" idx="3"/>
          </p:cNvCxnSpPr>
          <p:nvPr/>
        </p:nvCxnSpPr>
        <p:spPr>
          <a:xfrm flipV="1">
            <a:off x="4735902" y="3917185"/>
            <a:ext cx="2413364" cy="449932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31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64E3-4F6D-788C-E895-28F11200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3725" cy="1325563"/>
          </a:xfrm>
        </p:spPr>
        <p:txBody>
          <a:bodyPr/>
          <a:lstStyle/>
          <a:p>
            <a:r>
              <a:rPr lang="en-US" dirty="0"/>
              <a:t>CLIENT SERVICE ARCHITECTURE – OPTION1 - RENDER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A13E02-AABD-FFB4-CD1D-883F35905847}"/>
              </a:ext>
            </a:extLst>
          </p:cNvPr>
          <p:cNvSpPr/>
          <p:nvPr/>
        </p:nvSpPr>
        <p:spPr>
          <a:xfrm>
            <a:off x="707366" y="2432649"/>
            <a:ext cx="1388853" cy="11645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04231-D4D1-485D-9169-A1A93923C7E6}"/>
              </a:ext>
            </a:extLst>
          </p:cNvPr>
          <p:cNvCxnSpPr>
            <a:cxnSpLocks/>
          </p:cNvCxnSpPr>
          <p:nvPr/>
        </p:nvCxnSpPr>
        <p:spPr>
          <a:xfrm>
            <a:off x="2182483" y="3045125"/>
            <a:ext cx="1337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E21837-DF0F-8FAA-F6B8-BB214524A799}"/>
              </a:ext>
            </a:extLst>
          </p:cNvPr>
          <p:cNvSpPr/>
          <p:nvPr/>
        </p:nvSpPr>
        <p:spPr>
          <a:xfrm>
            <a:off x="3605841" y="2639683"/>
            <a:ext cx="1785668" cy="9575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Proxy</a:t>
            </a:r>
          </a:p>
          <a:p>
            <a:pPr algn="ctr"/>
            <a:r>
              <a:rPr lang="en-US" sz="1200" dirty="0"/>
              <a:t>Web Server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55A58A-0721-6C87-F7B0-45C2157A5B65}"/>
              </a:ext>
            </a:extLst>
          </p:cNvPr>
          <p:cNvCxnSpPr/>
          <p:nvPr/>
        </p:nvCxnSpPr>
        <p:spPr>
          <a:xfrm flipV="1">
            <a:off x="5391509" y="2348497"/>
            <a:ext cx="862641" cy="42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08FA8D-751D-92C4-6E28-A7D56A7A0B16}"/>
              </a:ext>
            </a:extLst>
          </p:cNvPr>
          <p:cNvSpPr/>
          <p:nvPr/>
        </p:nvSpPr>
        <p:spPr>
          <a:xfrm>
            <a:off x="6340414" y="1962465"/>
            <a:ext cx="1820174" cy="8108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Web1-URL1</a:t>
            </a:r>
          </a:p>
          <a:p>
            <a:pPr algn="ctr"/>
            <a:r>
              <a:rPr lang="en-US" sz="1200" dirty="0"/>
              <a:t>Pages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912B4A-F753-4363-9D8B-EFEB77878EC3}"/>
              </a:ext>
            </a:extLst>
          </p:cNvPr>
          <p:cNvCxnSpPr/>
          <p:nvPr/>
        </p:nvCxnSpPr>
        <p:spPr>
          <a:xfrm>
            <a:off x="5391509" y="3519578"/>
            <a:ext cx="940279" cy="16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743BF4-BFB7-F716-27D7-DE77B2A14E0D}"/>
              </a:ext>
            </a:extLst>
          </p:cNvPr>
          <p:cNvSpPr/>
          <p:nvPr/>
        </p:nvSpPr>
        <p:spPr>
          <a:xfrm>
            <a:off x="6418054" y="3312544"/>
            <a:ext cx="1820174" cy="2596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Web2-URL2</a:t>
            </a:r>
          </a:p>
          <a:p>
            <a:pPr algn="ctr"/>
            <a:r>
              <a:rPr lang="en-US" sz="1200" dirty="0"/>
              <a:t>API MVC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Swagger/</a:t>
            </a:r>
            <a:r>
              <a:rPr lang="en-US" sz="1200" dirty="0" err="1"/>
              <a:t>OpenAPI</a:t>
            </a:r>
            <a:endParaRPr lang="en-US" sz="1200" dirty="0"/>
          </a:p>
          <a:p>
            <a:pPr algn="ctr"/>
            <a:r>
              <a:rPr lang="en-US" sz="1200" dirty="0" err="1"/>
              <a:t>Swagger.json</a:t>
            </a:r>
            <a:r>
              <a:rPr lang="en-US" sz="1200" dirty="0"/>
              <a:t>(</a:t>
            </a:r>
            <a:r>
              <a:rPr lang="en-US" sz="1200" dirty="0" err="1"/>
              <a:t>SvcX</a:t>
            </a:r>
            <a:r>
              <a:rPr lang="en-US" sz="1200" dirty="0"/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3F17A4-E027-6BAD-011B-45A485E43F4C}"/>
              </a:ext>
            </a:extLst>
          </p:cNvPr>
          <p:cNvSpPr/>
          <p:nvPr/>
        </p:nvSpPr>
        <p:spPr>
          <a:xfrm>
            <a:off x="8353748" y="3312545"/>
            <a:ext cx="1342238" cy="726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MONGOOSE DB LAYER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B62A50-3B1C-2C37-7F24-110C136980C6}"/>
              </a:ext>
            </a:extLst>
          </p:cNvPr>
          <p:cNvSpPr/>
          <p:nvPr/>
        </p:nvSpPr>
        <p:spPr>
          <a:xfrm>
            <a:off x="9912064" y="3312545"/>
            <a:ext cx="1181819" cy="7262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Mongo DB</a:t>
            </a:r>
          </a:p>
          <a:p>
            <a:pPr algn="ctr"/>
            <a:r>
              <a:rPr lang="en-US" sz="1200" dirty="0"/>
              <a:t>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965D42-3DAD-AE02-5B4E-3716CC7AF548}"/>
              </a:ext>
            </a:extLst>
          </p:cNvPr>
          <p:cNvSpPr/>
          <p:nvPr/>
        </p:nvSpPr>
        <p:spPr>
          <a:xfrm>
            <a:off x="8393502" y="1962465"/>
            <a:ext cx="1069675" cy="808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Server</a:t>
            </a:r>
          </a:p>
          <a:p>
            <a:pPr algn="ctr"/>
            <a:r>
              <a:rPr lang="en-US" sz="1200" dirty="0"/>
              <a:t>Side</a:t>
            </a:r>
          </a:p>
          <a:p>
            <a:pPr algn="ctr"/>
            <a:r>
              <a:rPr lang="en-US" sz="1200" dirty="0"/>
              <a:t>Code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0006FE-E089-219E-BF15-9E25D5018A09}"/>
              </a:ext>
            </a:extLst>
          </p:cNvPr>
          <p:cNvCxnSpPr>
            <a:stCxn id="17" idx="3"/>
          </p:cNvCxnSpPr>
          <p:nvPr/>
        </p:nvCxnSpPr>
        <p:spPr>
          <a:xfrm>
            <a:off x="9463177" y="2366828"/>
            <a:ext cx="759125" cy="86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05177A-72F2-D944-0815-2834862B53B5}"/>
              </a:ext>
            </a:extLst>
          </p:cNvPr>
          <p:cNvSpPr/>
          <p:nvPr/>
        </p:nvSpPr>
        <p:spPr>
          <a:xfrm>
            <a:off x="8393502" y="4339088"/>
            <a:ext cx="1069675" cy="437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Svc1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3D53B2-3779-4F44-3CFF-014B4D8185E8}"/>
              </a:ext>
            </a:extLst>
          </p:cNvPr>
          <p:cNvSpPr/>
          <p:nvPr/>
        </p:nvSpPr>
        <p:spPr>
          <a:xfrm>
            <a:off x="8462513" y="5400136"/>
            <a:ext cx="1000664" cy="437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SvcX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14B187-8FF7-058A-57BB-05F040433658}"/>
              </a:ext>
            </a:extLst>
          </p:cNvPr>
          <p:cNvSpPr/>
          <p:nvPr/>
        </p:nvSpPr>
        <p:spPr>
          <a:xfrm>
            <a:off x="8842075" y="4839419"/>
            <a:ext cx="181155" cy="1984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73A4E4-89A9-D249-F0A2-9EA2C6A14CCF}"/>
              </a:ext>
            </a:extLst>
          </p:cNvPr>
          <p:cNvSpPr/>
          <p:nvPr/>
        </p:nvSpPr>
        <p:spPr>
          <a:xfrm>
            <a:off x="8842075" y="5149970"/>
            <a:ext cx="181155" cy="1984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E8534B-680B-F9A3-03BB-DF1763BB7BA8}"/>
              </a:ext>
            </a:extLst>
          </p:cNvPr>
          <p:cNvSpPr txBox="1"/>
          <p:nvPr/>
        </p:nvSpPr>
        <p:spPr>
          <a:xfrm>
            <a:off x="517584" y="4839419"/>
            <a:ext cx="5296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Azure Cloud – MSFT Provisions Public IP Addresses For All Services And HTTPS URLS To Microsoft Owned Domains. Microsoft allows </a:t>
            </a:r>
            <a:r>
              <a:rPr lang="en-US" dirty="0" err="1"/>
              <a:t>cnames</a:t>
            </a:r>
            <a:r>
              <a:rPr lang="en-US" dirty="0"/>
              <a:t> to SSL supporting custom domain URLS. Default Cipher is AES-256 For Azure.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15019D5-CEA8-C6AE-57E6-CA27256AE27A}"/>
              </a:ext>
            </a:extLst>
          </p:cNvPr>
          <p:cNvSpPr/>
          <p:nvPr/>
        </p:nvSpPr>
        <p:spPr>
          <a:xfrm>
            <a:off x="3329796" y="3985404"/>
            <a:ext cx="1406106" cy="76342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Cocky</a:t>
            </a:r>
          </a:p>
          <a:p>
            <a:pPr algn="ctr"/>
            <a:r>
              <a:rPr lang="en-US" dirty="0"/>
              <a:t>Auditor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30874D-985A-25A0-625A-210A3AA3B5D1}"/>
              </a:ext>
            </a:extLst>
          </p:cNvPr>
          <p:cNvCxnSpPr/>
          <p:nvPr/>
        </p:nvCxnSpPr>
        <p:spPr>
          <a:xfrm>
            <a:off x="4735902" y="4339088"/>
            <a:ext cx="1682152" cy="409742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B30BD9-81DD-8364-53AD-8E37D944939D}"/>
              </a:ext>
            </a:extLst>
          </p:cNvPr>
          <p:cNvCxnSpPr>
            <a:cxnSpLocks/>
          </p:cNvCxnSpPr>
          <p:nvPr/>
        </p:nvCxnSpPr>
        <p:spPr>
          <a:xfrm flipV="1">
            <a:off x="4700685" y="3563105"/>
            <a:ext cx="347938" cy="5694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F9F968-81CD-1E06-FDE9-D46FD1D105F8}"/>
              </a:ext>
            </a:extLst>
          </p:cNvPr>
          <p:cNvCxnSpPr/>
          <p:nvPr/>
        </p:nvCxnSpPr>
        <p:spPr>
          <a:xfrm flipV="1">
            <a:off x="4735902" y="2773347"/>
            <a:ext cx="1682152" cy="1462226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5537C1A-2E02-AC2D-7BD2-EAE09F86E1A9}"/>
              </a:ext>
            </a:extLst>
          </p:cNvPr>
          <p:cNvSpPr/>
          <p:nvPr/>
        </p:nvSpPr>
        <p:spPr>
          <a:xfrm>
            <a:off x="7051249" y="3519578"/>
            <a:ext cx="669304" cy="46582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CA Agent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5979A1-CA87-93B6-1DC6-5F8E8AD187ED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7622536" y="3917185"/>
            <a:ext cx="908722" cy="1535577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83FBFC88-5C53-D123-11C2-673C131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283" y="3798379"/>
            <a:ext cx="1106299" cy="726221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CB0629-C28E-147E-C306-78C0B8FC6D1F}"/>
              </a:ext>
            </a:extLst>
          </p:cNvPr>
          <p:cNvCxnSpPr>
            <a:stCxn id="25" idx="3"/>
            <a:endCxn id="32" idx="3"/>
          </p:cNvCxnSpPr>
          <p:nvPr/>
        </p:nvCxnSpPr>
        <p:spPr>
          <a:xfrm flipV="1">
            <a:off x="4735902" y="3917185"/>
            <a:ext cx="2413364" cy="449932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03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64E3-4F6D-788C-E895-28F11200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3725" cy="1325563"/>
          </a:xfrm>
        </p:spPr>
        <p:txBody>
          <a:bodyPr/>
          <a:lstStyle/>
          <a:p>
            <a:r>
              <a:rPr lang="en-US" dirty="0"/>
              <a:t>CLIENT SERVICE ARCHITECTURE – OPTION2 - MSFT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A13E02-AABD-FFB4-CD1D-883F35905847}"/>
              </a:ext>
            </a:extLst>
          </p:cNvPr>
          <p:cNvSpPr/>
          <p:nvPr/>
        </p:nvSpPr>
        <p:spPr>
          <a:xfrm>
            <a:off x="707366" y="2432649"/>
            <a:ext cx="1388853" cy="11645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E04231-D4D1-485D-9169-A1A93923C7E6}"/>
              </a:ext>
            </a:extLst>
          </p:cNvPr>
          <p:cNvCxnSpPr>
            <a:cxnSpLocks/>
          </p:cNvCxnSpPr>
          <p:nvPr/>
        </p:nvCxnSpPr>
        <p:spPr>
          <a:xfrm>
            <a:off x="2182483" y="3045125"/>
            <a:ext cx="1337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E21837-DF0F-8FAA-F6B8-BB214524A799}"/>
              </a:ext>
            </a:extLst>
          </p:cNvPr>
          <p:cNvSpPr/>
          <p:nvPr/>
        </p:nvSpPr>
        <p:spPr>
          <a:xfrm>
            <a:off x="3605841" y="2639683"/>
            <a:ext cx="1785668" cy="9575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Proxy</a:t>
            </a:r>
          </a:p>
          <a:p>
            <a:pPr algn="ctr"/>
            <a:r>
              <a:rPr lang="en-US" sz="1200" dirty="0"/>
              <a:t>Web Server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55A58A-0721-6C87-F7B0-45C2157A5B65}"/>
              </a:ext>
            </a:extLst>
          </p:cNvPr>
          <p:cNvCxnSpPr/>
          <p:nvPr/>
        </p:nvCxnSpPr>
        <p:spPr>
          <a:xfrm flipV="1">
            <a:off x="5391509" y="2348497"/>
            <a:ext cx="862641" cy="42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08FA8D-751D-92C4-6E28-A7D56A7A0B16}"/>
              </a:ext>
            </a:extLst>
          </p:cNvPr>
          <p:cNvSpPr/>
          <p:nvPr/>
        </p:nvSpPr>
        <p:spPr>
          <a:xfrm>
            <a:off x="6340414" y="1962465"/>
            <a:ext cx="1820174" cy="8108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Web1-URL1</a:t>
            </a:r>
          </a:p>
          <a:p>
            <a:pPr algn="ctr"/>
            <a:r>
              <a:rPr lang="en-US" sz="1200" dirty="0"/>
              <a:t>Pages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912B4A-F753-4363-9D8B-EFEB77878EC3}"/>
              </a:ext>
            </a:extLst>
          </p:cNvPr>
          <p:cNvCxnSpPr/>
          <p:nvPr/>
        </p:nvCxnSpPr>
        <p:spPr>
          <a:xfrm>
            <a:off x="5391509" y="3519578"/>
            <a:ext cx="940279" cy="16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743BF4-BFB7-F716-27D7-DE77B2A14E0D}"/>
              </a:ext>
            </a:extLst>
          </p:cNvPr>
          <p:cNvSpPr/>
          <p:nvPr/>
        </p:nvSpPr>
        <p:spPr>
          <a:xfrm>
            <a:off x="6418054" y="3312544"/>
            <a:ext cx="1820174" cy="2596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Web2-URL2</a:t>
            </a:r>
          </a:p>
          <a:p>
            <a:pPr algn="ctr"/>
            <a:r>
              <a:rPr lang="en-US" sz="1200" dirty="0"/>
              <a:t>API MVC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Swagger/</a:t>
            </a:r>
            <a:r>
              <a:rPr lang="en-US" sz="1200" dirty="0" err="1"/>
              <a:t>OpenAPI</a:t>
            </a:r>
            <a:endParaRPr lang="en-US" sz="1200" dirty="0"/>
          </a:p>
          <a:p>
            <a:pPr algn="ctr"/>
            <a:r>
              <a:rPr lang="en-US" sz="1200" dirty="0" err="1"/>
              <a:t>Swagger.json</a:t>
            </a:r>
            <a:r>
              <a:rPr lang="en-US" sz="1200" dirty="0"/>
              <a:t>(</a:t>
            </a:r>
            <a:r>
              <a:rPr lang="en-US" sz="1200" dirty="0" err="1"/>
              <a:t>SvcX</a:t>
            </a:r>
            <a:r>
              <a:rPr lang="en-US" sz="1200" dirty="0"/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3F17A4-E027-6BAD-011B-45A485E43F4C}"/>
              </a:ext>
            </a:extLst>
          </p:cNvPr>
          <p:cNvSpPr/>
          <p:nvPr/>
        </p:nvSpPr>
        <p:spPr>
          <a:xfrm>
            <a:off x="8393502" y="3312545"/>
            <a:ext cx="1069675" cy="923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EF</a:t>
            </a:r>
          </a:p>
          <a:p>
            <a:pPr algn="ctr"/>
            <a:r>
              <a:rPr lang="en-US" sz="1200" dirty="0"/>
              <a:t>DB</a:t>
            </a:r>
          </a:p>
          <a:p>
            <a:pPr algn="ctr"/>
            <a:r>
              <a:rPr lang="en-US" sz="1200" dirty="0"/>
              <a:t>LAYER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B62A50-3B1C-2C37-7F24-110C136980C6}"/>
              </a:ext>
            </a:extLst>
          </p:cNvPr>
          <p:cNvSpPr/>
          <p:nvPr/>
        </p:nvSpPr>
        <p:spPr>
          <a:xfrm>
            <a:off x="9627078" y="3312545"/>
            <a:ext cx="1181819" cy="923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DB</a:t>
            </a:r>
          </a:p>
          <a:p>
            <a:pPr algn="ctr"/>
            <a:r>
              <a:rPr lang="en-US" sz="1200" dirty="0"/>
              <a:t>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965D42-3DAD-AE02-5B4E-3716CC7AF548}"/>
              </a:ext>
            </a:extLst>
          </p:cNvPr>
          <p:cNvSpPr/>
          <p:nvPr/>
        </p:nvSpPr>
        <p:spPr>
          <a:xfrm>
            <a:off x="8393502" y="1962465"/>
            <a:ext cx="1069675" cy="808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Server</a:t>
            </a:r>
          </a:p>
          <a:p>
            <a:pPr algn="ctr"/>
            <a:r>
              <a:rPr lang="en-US" sz="1200" dirty="0"/>
              <a:t>Side</a:t>
            </a:r>
          </a:p>
          <a:p>
            <a:pPr algn="ctr"/>
            <a:r>
              <a:rPr lang="en-US" sz="1200" dirty="0"/>
              <a:t>Code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0006FE-E089-219E-BF15-9E25D5018A09}"/>
              </a:ext>
            </a:extLst>
          </p:cNvPr>
          <p:cNvCxnSpPr>
            <a:stCxn id="17" idx="3"/>
          </p:cNvCxnSpPr>
          <p:nvPr/>
        </p:nvCxnSpPr>
        <p:spPr>
          <a:xfrm>
            <a:off x="9463177" y="2366828"/>
            <a:ext cx="759125" cy="86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05177A-72F2-D944-0815-2834862B53B5}"/>
              </a:ext>
            </a:extLst>
          </p:cNvPr>
          <p:cNvSpPr/>
          <p:nvPr/>
        </p:nvSpPr>
        <p:spPr>
          <a:xfrm>
            <a:off x="8393502" y="4339088"/>
            <a:ext cx="1069675" cy="437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Svc1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3D53B2-3779-4F44-3CFF-014B4D8185E8}"/>
              </a:ext>
            </a:extLst>
          </p:cNvPr>
          <p:cNvSpPr/>
          <p:nvPr/>
        </p:nvSpPr>
        <p:spPr>
          <a:xfrm>
            <a:off x="8462513" y="5400136"/>
            <a:ext cx="1000664" cy="437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SvcX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14B187-8FF7-058A-57BB-05F040433658}"/>
              </a:ext>
            </a:extLst>
          </p:cNvPr>
          <p:cNvSpPr/>
          <p:nvPr/>
        </p:nvSpPr>
        <p:spPr>
          <a:xfrm>
            <a:off x="8842075" y="4839419"/>
            <a:ext cx="181155" cy="1984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A73A4E4-89A9-D249-F0A2-9EA2C6A14CCF}"/>
              </a:ext>
            </a:extLst>
          </p:cNvPr>
          <p:cNvSpPr/>
          <p:nvPr/>
        </p:nvSpPr>
        <p:spPr>
          <a:xfrm>
            <a:off x="8842075" y="5149970"/>
            <a:ext cx="181155" cy="1984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E8534B-680B-F9A3-03BB-DF1763BB7BA8}"/>
              </a:ext>
            </a:extLst>
          </p:cNvPr>
          <p:cNvSpPr txBox="1"/>
          <p:nvPr/>
        </p:nvSpPr>
        <p:spPr>
          <a:xfrm>
            <a:off x="517584" y="4839419"/>
            <a:ext cx="5296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Azure Cloud – MSFT Provisions Public IP Addresses For All Services And HTTPS URLS To Microsoft Owned Domains. Microsoft allows </a:t>
            </a:r>
            <a:r>
              <a:rPr lang="en-US" dirty="0" err="1"/>
              <a:t>cnames</a:t>
            </a:r>
            <a:r>
              <a:rPr lang="en-US" dirty="0"/>
              <a:t> to SSL supporting custom domain URLS. Default Cipher is AES-256 For Azure.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15019D5-CEA8-C6AE-57E6-CA27256AE27A}"/>
              </a:ext>
            </a:extLst>
          </p:cNvPr>
          <p:cNvSpPr/>
          <p:nvPr/>
        </p:nvSpPr>
        <p:spPr>
          <a:xfrm>
            <a:off x="3329796" y="3985404"/>
            <a:ext cx="1406106" cy="76342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Cocky</a:t>
            </a:r>
          </a:p>
          <a:p>
            <a:pPr algn="ctr"/>
            <a:r>
              <a:rPr lang="en-US" dirty="0"/>
              <a:t>Auditor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30874D-985A-25A0-625A-210A3AA3B5D1}"/>
              </a:ext>
            </a:extLst>
          </p:cNvPr>
          <p:cNvCxnSpPr/>
          <p:nvPr/>
        </p:nvCxnSpPr>
        <p:spPr>
          <a:xfrm>
            <a:off x="4735902" y="4339088"/>
            <a:ext cx="1682152" cy="409742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B30BD9-81DD-8364-53AD-8E37D944939D}"/>
              </a:ext>
            </a:extLst>
          </p:cNvPr>
          <p:cNvCxnSpPr>
            <a:cxnSpLocks/>
          </p:cNvCxnSpPr>
          <p:nvPr/>
        </p:nvCxnSpPr>
        <p:spPr>
          <a:xfrm flipV="1">
            <a:off x="4700685" y="3563105"/>
            <a:ext cx="347938" cy="5694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F9F968-81CD-1E06-FDE9-D46FD1D105F8}"/>
              </a:ext>
            </a:extLst>
          </p:cNvPr>
          <p:cNvCxnSpPr/>
          <p:nvPr/>
        </p:nvCxnSpPr>
        <p:spPr>
          <a:xfrm flipV="1">
            <a:off x="4735902" y="2773347"/>
            <a:ext cx="1682152" cy="1462226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D5537C1A-2E02-AC2D-7BD2-EAE09F86E1A9}"/>
              </a:ext>
            </a:extLst>
          </p:cNvPr>
          <p:cNvSpPr/>
          <p:nvPr/>
        </p:nvSpPr>
        <p:spPr>
          <a:xfrm>
            <a:off x="7051249" y="3519578"/>
            <a:ext cx="669304" cy="46582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CA Agent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75979A1-CA87-93B6-1DC6-5F8E8AD187ED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7622536" y="3917185"/>
            <a:ext cx="908722" cy="1535577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83FBFC88-5C53-D123-11C2-673C131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283" y="3798379"/>
            <a:ext cx="1106299" cy="726221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CB0629-C28E-147E-C306-78C0B8FC6D1F}"/>
              </a:ext>
            </a:extLst>
          </p:cNvPr>
          <p:cNvCxnSpPr>
            <a:stCxn id="25" idx="3"/>
            <a:endCxn id="32" idx="3"/>
          </p:cNvCxnSpPr>
          <p:nvPr/>
        </p:nvCxnSpPr>
        <p:spPr>
          <a:xfrm flipV="1">
            <a:off x="4735902" y="3917185"/>
            <a:ext cx="2413364" cy="449932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33149"/>
      </p:ext>
    </p:extLst>
  </p:cSld>
  <p:clrMapOvr>
    <a:masterClrMapping/>
  </p:clrMapOvr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58CAB0-DDDD-8E42-8715-79BD1402BECB}" vid="{EC9F5A20-6D19-7048-A333-7BEF17D9B2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usc_ppt_substitute_fonts_wide</Template>
  <TotalTime>73</TotalTime>
  <Words>287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Impact</vt:lpstr>
      <vt:lpstr>UofSC Simple Theme</vt:lpstr>
      <vt:lpstr>ARCHITECTURE EXTENSIONS Arch REQ5</vt:lpstr>
      <vt:lpstr>Goals</vt:lpstr>
      <vt:lpstr>CLIENT SERVICE ARCHITECTURE – W/O PROXY</vt:lpstr>
      <vt:lpstr>CLIENT SERVICE ARCHITECTURE – OPTION1 - RENDER</vt:lpstr>
      <vt:lpstr>CLIENT SERVICE ARCHITECTURE – OPTION2 - MSFT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Stritzinger, John</dc:creator>
  <cp:lastModifiedBy>Stritzinger, John</cp:lastModifiedBy>
  <cp:revision>6</cp:revision>
  <dcterms:created xsi:type="dcterms:W3CDTF">2026-09-28T15:13:16Z</dcterms:created>
  <dcterms:modified xsi:type="dcterms:W3CDTF">2026-09-29T14:00:00Z</dcterms:modified>
</cp:coreProperties>
</file>